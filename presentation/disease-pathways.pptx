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autoCompressPictures="0" embedTrueType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embeddedFontLst>
    <p:embeddedFont>
      <p:font typeface="Roboto"/>
      <p:regular r:id="rId26"/>
      <p:bold r:id="rId27"/>
    </p:embeddedFont>
    <p:embeddedFont>
      <p:font typeface="Roboto Medium"/>
      <p:regular r:id="rId2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font" Target="fonts/font1.fntdata"/><Relationship Id="rId27" Type="http://schemas.openxmlformats.org/officeDocument/2006/relationships/font" Target="fonts/font2.fntdata"/><Relationship Id="rId28" Type="http://schemas.openxmlformats.org/officeDocument/2006/relationships/font" Target="fonts/font3.fntdata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Pairs</c:v>
                </c:pt>
              </c:strCache>
            </c:strRef>
          </c:tx>
          <c:spPr>
            <a:solidFill>
              <a:srgbClr val="3489C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5A5F5F"/>
                    </a:solidFill>
                    <a:latin typeface="Robot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Matcher output</c:v>
                  </c:pt>
                  <c:pt idx="1">
                    <c:v>Kept by the judge</c:v>
                  </c:pt>
                  <c:pt idx="2">
                    <c:v>New links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351</c:v>
                </c:pt>
                <c:pt idx="1">
                  <c:v>345</c:v>
                </c:pt>
                <c:pt idx="2">
                  <c:v>258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5A5F5F"/>
                  </a:solidFill>
                  <a:latin typeface="Robot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5F5F"/>
                </a:solidFill>
                <a:latin typeface="Robot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2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Kept links</c:v>
                </c:pt>
              </c:strCache>
            </c:strRef>
          </c:tx>
          <c:spPr>
            <a:solidFill>
              <a:srgbClr val="3489C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5A5F5F"/>
                    </a:solidFill>
                    <a:latin typeface="Robot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Elsevier</c:v>
                  </c:pt>
                  <c:pt idx="1">
                    <c:v>WikiPathways</c:v>
                  </c:pt>
                  <c:pt idx="2">
                    <c:v>BioPlanet</c:v>
                  </c:pt>
                  <c:pt idx="3">
                    <c:v>KEGG</c:v>
                  </c:pt>
                  <c:pt idx="4">
                    <c:v>BioCarta</c:v>
                  </c:pt>
                  <c:pt idx="5">
                    <c:v>Panther</c:v>
                  </c:pt>
                  <c:pt idx="6">
                    <c:v>NCI-Nature</c:v>
                  </c:pt>
                  <c:pt idx="7">
                    <c:v>MSigDB Hallmark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737</c:v>
                </c:pt>
                <c:pt idx="1">
                  <c:v>179</c:v>
                </c:pt>
                <c:pt idx="2">
                  <c:v>91</c:v>
                </c:pt>
                <c:pt idx="3">
                  <c:v>88</c:v>
                </c:pt>
                <c:pt idx="4">
                  <c:v>13</c:v>
                </c:pt>
                <c:pt idx="5">
                  <c:v>5</c:v>
                </c:pt>
                <c:pt idx="6">
                  <c:v>3</c:v>
                </c:pt>
                <c:pt idx="7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5A5F5F"/>
                  </a:solidFill>
                  <a:latin typeface="Robot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5F5F"/>
                </a:solidFill>
                <a:latin typeface="Robot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1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lina/disPathCuration/presentation/assets/ot-title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/Users/polina/disPathCuration/presentation/assets/ot-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828800" cy="551855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77240" y="2194560"/>
            <a:ext cx="60350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1A456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Automatic curation of disease pathways</a:t>
            </a:r>
            <a:endParaRPr lang="en-US" sz="3600" dirty="0"/>
          </a:p>
        </p:txBody>
      </p:sp>
      <p:sp>
        <p:nvSpPr>
          <p:cNvPr id="5" name="Text 1"/>
          <p:cNvSpPr/>
          <p:nvPr/>
        </p:nvSpPr>
        <p:spPr>
          <a:xfrm>
            <a:off x="777240" y="4480560"/>
            <a:ext cx="5486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456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disPathCuration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456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Open Targets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456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August 2026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456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Polina Rusina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custGeom>
            <a:avLst/>
            <a:gdLst/>
            <a:ahLst/>
            <a:cxnLst/>
            <a:rect l="l" t="t" r="r" b="b"/>
            <a:pathLst>
              <a:path w="12188952" h="6858000">
                <a:moveTo>
                  <a:pt x="12188952" y="822960"/>
                </a:moveTo>
                <a:lnTo>
                  <a:pt x="12188952" y="6858000"/>
                </a:lnTo>
                <a:lnTo>
                  <a:pt x="5119360" y="6858000"/>
                </a:lnTo>
                <a:close/>
              </a:path>
            </a:pathLst>
          </a:custGeom>
          <a:solidFill>
            <a:srgbClr val="1A4565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2432304"/>
            <a:ext cx="256032" cy="256032"/>
          </a:xfrm>
          <a:prstGeom prst="rect">
            <a:avLst/>
          </a:prstGeom>
          <a:solidFill>
            <a:srgbClr val="3489CA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37744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3489CA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PART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30352" y="2880360"/>
            <a:ext cx="62179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1A456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gap, and how we close it</a:t>
            </a:r>
            <a:endParaRPr lang="en-US" sz="4400" dirty="0"/>
          </a:p>
        </p:txBody>
      </p:sp>
      <p:pic>
        <p:nvPicPr>
          <p:cNvPr id="6" name="Image 0" descr="/Users/polina/disPathCuration/presentation/assets/ot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2" y="6234279"/>
            <a:ext cx="1097280" cy="33111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310896" cy="82296"/>
          </a:xfrm>
          <a:prstGeom prst="rect">
            <a:avLst/>
          </a:prstGeom>
          <a:solidFill>
            <a:srgbClr val="3489CA"/>
          </a:solidFill>
          <a:ln/>
        </p:spPr>
      </p:sp>
      <p:sp>
        <p:nvSpPr>
          <p:cNvPr id="3" name="Text 1"/>
          <p:cNvSpPr/>
          <p:nvPr/>
        </p:nvSpPr>
        <p:spPr>
          <a:xfrm>
            <a:off x="950976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489CA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A456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Disease pathways are undercurated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4937760" cy="914400"/>
          </a:xfrm>
          <a:prstGeom prst="roundRect">
            <a:avLst>
              <a:gd name="adj" fmla="val 8000"/>
            </a:avLst>
          </a:prstGeom>
          <a:solidFill>
            <a:srgbClr val="3489CA"/>
          </a:solidFill>
          <a:ln/>
          <a:effectLst>
            <a:outerShdw sx="100000" sy="100000" kx="0" ky="0" algn="bl" rotWithShape="0" blurRad="508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965960"/>
            <a:ext cx="49377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Reactome:  "Defective ABCC6 causes PXE"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23560" y="2423160"/>
            <a:ext cx="822960" cy="0"/>
          </a:xfrm>
          <a:prstGeom prst="line">
            <a:avLst/>
          </a:prstGeom>
          <a:noFill/>
          <a:ln w="25400">
            <a:solidFill>
              <a:srgbClr val="1A4565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583680" y="1965960"/>
            <a:ext cx="4663440" cy="914400"/>
          </a:xfrm>
          <a:prstGeom prst="roundRect">
            <a:avLst>
              <a:gd name="adj" fmla="val 8000"/>
            </a:avLst>
          </a:prstGeom>
          <a:solidFill>
            <a:srgbClr val="FF6350"/>
          </a:solidFill>
          <a:ln/>
          <a:effectLst>
            <a:outerShdw sx="100000" sy="100000" kx="0" ky="0" algn="bl" rotWithShape="0" blurRad="508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1965960"/>
            <a:ext cx="46634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no target-disease evidence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9260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F5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pseudoxanthoma elasticum: named in the label, unlinked in the evidence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3566160"/>
            <a:ext cx="110642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ts val="2560"/>
              </a:lnSpc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Gene in a disease-annotated pathway → target-disease evidence</a:t>
            </a:r>
            <a:endParaRPr lang="en-US" sz="1600" dirty="0"/>
          </a:p>
          <a:p>
            <a:pPr indent="0" marL="0">
              <a:lnSpc>
                <a:spcPts val="2560"/>
              </a:lnSpc>
              <a:buNone/>
            </a:pPr>
            <a:r>
              <a:rPr lang="en-US" sz="16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pathway-disease link is decided by manual curation</a:t>
            </a:r>
            <a:endParaRPr lang="en-US" sz="1600" dirty="0"/>
          </a:p>
          <a:p>
            <a:pPr indent="0" marL="0">
              <a:lnSpc>
                <a:spcPts val="2560"/>
              </a:lnSpc>
              <a:buNone/>
            </a:pPr>
            <a:r>
              <a:rPr lang="en-US" sz="16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Many labels name a disease, yet yield no evidence</a:t>
            </a:r>
            <a:endParaRPr lang="en-US" sz="1600" dirty="0"/>
          </a:p>
          <a:p>
            <a:pPr indent="0" marL="0">
              <a:lnSpc>
                <a:spcPts val="2560"/>
              </a:lnSpc>
              <a:buNone/>
            </a:pPr>
            <a:r>
              <a:rPr lang="en-US" sz="16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Recoverable automatically, from data Open Targets already ships</a:t>
            </a:r>
            <a:endParaRPr lang="en-US" sz="1600" dirty="0"/>
          </a:p>
        </p:txBody>
      </p:sp>
      <p:pic>
        <p:nvPicPr>
          <p:cNvPr id="12" name="Image 0" descr="/Users/polina/disPathCuration/presentation/assets/ot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2" y="6234279"/>
            <a:ext cx="1097280" cy="331113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411480" y="64739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CAFA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456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3489C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0"/>
            <a:ext cx="10515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pipeline, four stages, plus an optional judge</a:t>
            </a:r>
            <a:endParaRPr lang="en-US" sz="2800" dirty="0"/>
          </a:p>
        </p:txBody>
      </p:sp>
      <p:pic>
        <p:nvPicPr>
          <p:cNvPr id="5" name="Image 0" descr="/Users/polina/disPathCuration/presentation/assets/ot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2" y="6234279"/>
            <a:ext cx="1097280" cy="33111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2423160"/>
            <a:ext cx="1925726" cy="3520440"/>
          </a:xfrm>
          <a:prstGeom prst="roundRect">
            <a:avLst>
              <a:gd name="adj" fmla="val 2849"/>
            </a:avLst>
          </a:prstGeom>
          <a:solidFill>
            <a:srgbClr val="F4F6F9"/>
          </a:solidFill>
          <a:ln w="12700">
            <a:solidFill>
              <a:srgbClr val="E4E9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417320"/>
            <a:ext cx="1925726" cy="731520"/>
          </a:xfrm>
          <a:prstGeom prst="roundRect">
            <a:avLst>
              <a:gd name="adj" fmla="val 10000"/>
            </a:avLst>
          </a:prstGeom>
          <a:solidFill>
            <a:srgbClr val="1A4565"/>
          </a:solidFill>
          <a:ln/>
          <a:effectLst>
            <a:outerShdw sx="100000" sy="100000" kx="0" ky="0" algn="bl" rotWithShape="0" blurRad="50800" dist="25400" dir="5400000">
              <a:srgbClr val="000000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548640" y="1417320"/>
            <a:ext cx="1925726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Inputs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474366" y="1783080"/>
            <a:ext cx="365760" cy="0"/>
          </a:xfrm>
          <a:prstGeom prst="line">
            <a:avLst/>
          </a:prstGeom>
          <a:noFill/>
          <a:ln w="25400">
            <a:solidFill>
              <a:srgbClr val="1A4565"/>
            </a:solidFill>
            <a:prstDash val="solid"/>
            <a:tailEnd type="triangle"/>
          </a:ln>
        </p:spPr>
      </p:sp>
      <p:sp>
        <p:nvSpPr>
          <p:cNvPr id="10" name="Text 7"/>
          <p:cNvSpPr/>
          <p:nvPr/>
        </p:nvSpPr>
        <p:spPr>
          <a:xfrm>
            <a:off x="777240" y="2743200"/>
            <a:ext cx="1468526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disease (EFO)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(genes)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reactome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evidence_reactome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77240" y="4617720"/>
            <a:ext cx="1468526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5F5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datasets already shipped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840126" y="2423160"/>
            <a:ext cx="1925726" cy="3520440"/>
          </a:xfrm>
          <a:prstGeom prst="roundRect">
            <a:avLst>
              <a:gd name="adj" fmla="val 2849"/>
            </a:avLst>
          </a:prstGeom>
          <a:solidFill>
            <a:srgbClr val="F4F6F9"/>
          </a:solidFill>
          <a:ln w="12700">
            <a:solidFill>
              <a:srgbClr val="E4E9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840126" y="1417320"/>
            <a:ext cx="1925726" cy="731520"/>
          </a:xfrm>
          <a:prstGeom prst="roundRect">
            <a:avLst>
              <a:gd name="adj" fmla="val 10000"/>
            </a:avLst>
          </a:prstGeom>
          <a:solidFill>
            <a:srgbClr val="3489CA"/>
          </a:solidFill>
          <a:ln/>
          <a:effectLst>
            <a:outerShdw sx="100000" sy="100000" kx="0" ky="0" algn="bl" rotWithShape="0" blurRad="50800" dist="25400" dir="5400000">
              <a:srgbClr val="000000">
                <a:alpha val="1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2840126" y="1417320"/>
            <a:ext cx="1925726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Chunk index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765853" y="1783080"/>
            <a:ext cx="365760" cy="0"/>
          </a:xfrm>
          <a:prstGeom prst="line">
            <a:avLst/>
          </a:prstGeom>
          <a:noFill/>
          <a:ln w="25400">
            <a:solidFill>
              <a:srgbClr val="1A4565"/>
            </a:solidFill>
            <a:prstDash val="solid"/>
            <a:tailEnd type="triangle"/>
          </a:ln>
        </p:spPr>
      </p:sp>
      <p:sp>
        <p:nvSpPr>
          <p:cNvPr id="16" name="Text 13"/>
          <p:cNvSpPr/>
          <p:nvPr/>
        </p:nvSpPr>
        <p:spPr>
          <a:xfrm>
            <a:off x="3068726" y="2743200"/>
            <a:ext cx="1468526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normalise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split to sub-spans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score each chunk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068726" y="4617720"/>
            <a:ext cx="1468526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5F5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diseases become searchable text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131613" y="2423160"/>
            <a:ext cx="1925726" cy="3520440"/>
          </a:xfrm>
          <a:prstGeom prst="roundRect">
            <a:avLst>
              <a:gd name="adj" fmla="val 2849"/>
            </a:avLst>
          </a:prstGeom>
          <a:solidFill>
            <a:srgbClr val="F4F6F9"/>
          </a:solidFill>
          <a:ln w="12700">
            <a:solidFill>
              <a:srgbClr val="E4E9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131613" y="1417320"/>
            <a:ext cx="1925726" cy="731520"/>
          </a:xfrm>
          <a:prstGeom prst="roundRect">
            <a:avLst>
              <a:gd name="adj" fmla="val 10000"/>
            </a:avLst>
          </a:prstGeom>
          <a:solidFill>
            <a:srgbClr val="3489CA"/>
          </a:solidFill>
          <a:ln/>
          <a:effectLst>
            <a:outerShdw sx="100000" sy="100000" kx="0" ky="0" algn="bl" rotWithShape="0" blurRad="50800" dist="25400" dir="5400000">
              <a:srgbClr val="000000">
                <a:alpha val="1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131613" y="1417320"/>
            <a:ext cx="1925726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Matcher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7057339" y="1783080"/>
            <a:ext cx="365760" cy="0"/>
          </a:xfrm>
          <a:prstGeom prst="line">
            <a:avLst/>
          </a:prstGeom>
          <a:noFill/>
          <a:ln w="25400">
            <a:solidFill>
              <a:srgbClr val="1A4565"/>
            </a:solidFill>
            <a:prstDash val="solid"/>
            <a:tailEnd type="triangle"/>
          </a:ln>
        </p:spPr>
      </p:sp>
      <p:sp>
        <p:nvSpPr>
          <p:cNvPr id="22" name="Text 19"/>
          <p:cNvSpPr/>
          <p:nvPr/>
        </p:nvSpPr>
        <p:spPr>
          <a:xfrm>
            <a:off x="5360213" y="2743200"/>
            <a:ext cx="1468526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whole_form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alias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360213" y="4617720"/>
            <a:ext cx="1468526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5F5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disease names found in labels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423099" y="2423160"/>
            <a:ext cx="1925726" cy="3520440"/>
          </a:xfrm>
          <a:prstGeom prst="roundRect">
            <a:avLst>
              <a:gd name="adj" fmla="val 2849"/>
            </a:avLst>
          </a:prstGeom>
          <a:solidFill>
            <a:srgbClr val="F4F6F9"/>
          </a:solidFill>
          <a:ln w="12700">
            <a:solidFill>
              <a:srgbClr val="E4E9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423099" y="1417320"/>
            <a:ext cx="1925726" cy="731520"/>
          </a:xfrm>
          <a:prstGeom prst="roundRect">
            <a:avLst>
              <a:gd name="adj" fmla="val 10000"/>
            </a:avLst>
          </a:prstGeom>
          <a:solidFill>
            <a:srgbClr val="FF6350"/>
          </a:solidFill>
          <a:ln/>
          <a:effectLst>
            <a:outerShdw sx="100000" sy="100000" kx="0" ky="0" algn="bl" rotWithShape="0" blurRad="50800" dist="25400" dir="5400000">
              <a:srgbClr val="000000">
                <a:alpha val="18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7423099" y="1417320"/>
            <a:ext cx="1925726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LLM judge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9348826" y="1783080"/>
            <a:ext cx="365760" cy="0"/>
          </a:xfrm>
          <a:prstGeom prst="line">
            <a:avLst/>
          </a:prstGeom>
          <a:noFill/>
          <a:ln w="25400">
            <a:solidFill>
              <a:srgbClr val="1A4565"/>
            </a:solidFill>
            <a:prstDash val="solid"/>
            <a:tailEnd type="triangle"/>
          </a:ln>
        </p:spPr>
      </p:sp>
      <p:sp>
        <p:nvSpPr>
          <p:cNvPr id="28" name="Text 25"/>
          <p:cNvSpPr/>
          <p:nvPr/>
        </p:nvSpPr>
        <p:spPr>
          <a:xfrm>
            <a:off x="7651699" y="2743200"/>
            <a:ext cx="1468526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low-confidence tier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keep or reject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7651699" y="4617720"/>
            <a:ext cx="1468526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5F5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annotates, deletes nothing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714586" y="2423160"/>
            <a:ext cx="1925726" cy="3520440"/>
          </a:xfrm>
          <a:prstGeom prst="roundRect">
            <a:avLst>
              <a:gd name="adj" fmla="val 2849"/>
            </a:avLst>
          </a:prstGeom>
          <a:solidFill>
            <a:srgbClr val="F4F6F9"/>
          </a:solidFill>
          <a:ln w="12700">
            <a:solidFill>
              <a:srgbClr val="E4E9F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714586" y="1417320"/>
            <a:ext cx="1925726" cy="731520"/>
          </a:xfrm>
          <a:prstGeom prst="roundRect">
            <a:avLst>
              <a:gd name="adj" fmla="val 10000"/>
            </a:avLst>
          </a:prstGeom>
          <a:solidFill>
            <a:srgbClr val="1A4565"/>
          </a:solidFill>
          <a:ln/>
          <a:effectLst>
            <a:outerShdw sx="100000" sy="100000" kx="0" ky="0" algn="bl" rotWithShape="0" blurRad="50800" dist="25400" dir="5400000">
              <a:srgbClr val="000000">
                <a:alpha val="18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9714586" y="1417320"/>
            <a:ext cx="1925726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Evaluation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9943186" y="2743200"/>
            <a:ext cx="1468526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new candidates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specificity fixes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9943186" y="4617720"/>
            <a:ext cx="1468526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5F5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against the curated baseline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457200" y="640080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5F5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Reactome-specific: template extractor, evidence comparison. Everything else is universal.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411480" y="64739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CAFA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310896" cy="82296"/>
          </a:xfrm>
          <a:prstGeom prst="rect">
            <a:avLst/>
          </a:prstGeom>
          <a:solidFill>
            <a:srgbClr val="3489CA"/>
          </a:solidFill>
          <a:ln/>
        </p:spPr>
      </p:sp>
      <p:sp>
        <p:nvSpPr>
          <p:cNvPr id="3" name="Text 1"/>
          <p:cNvSpPr/>
          <p:nvPr/>
        </p:nvSpPr>
        <p:spPr>
          <a:xfrm>
            <a:off x="950976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489CA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DISEASE CHUNKS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A456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Disease names rarely appear whole in a label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1627632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A5F5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47,080 EFO/MONDO terms → 21,296 diseases (drop 25,049 measurement, 735 process) → 79,582 surface forms → 249,260 scored chunks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A5F5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specificity: rare tokens score high.    coverage: share of the full name.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11064240" cy="475488"/>
          </a:xfrm>
          <a:prstGeom prst="rect">
            <a:avLst/>
          </a:prstGeom>
          <a:solidFill>
            <a:srgbClr val="1A4565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715768"/>
            <a:ext cx="11064240" cy="45720"/>
          </a:xfrm>
          <a:prstGeom prst="rect">
            <a:avLst/>
          </a:prstGeom>
          <a:solidFill>
            <a:srgbClr val="3489CA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2240280"/>
            <a:ext cx="22128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Disease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145536" y="2240280"/>
            <a:ext cx="37673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Chunk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68896" y="2240280"/>
            <a:ext cx="10241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Specificity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449056" y="2240280"/>
            <a:ext cx="9326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Coverage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637776" y="2240280"/>
            <a:ext cx="9326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Shared by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826496" y="2240280"/>
            <a:ext cx="6583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Kept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2761488"/>
            <a:ext cx="110642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" y="2761488"/>
            <a:ext cx="22128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type 2 diabetes mellitus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145536" y="2761488"/>
            <a:ext cx="3767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diabetes mellitus noninsulin dependent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168896" y="2761488"/>
            <a:ext cx="10241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38.6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449056" y="2761488"/>
            <a:ext cx="93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1.00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637776" y="2761488"/>
            <a:ext cx="93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826496" y="2761488"/>
            <a:ext cx="6583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keep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218688"/>
            <a:ext cx="11064240" cy="457200"/>
          </a:xfrm>
          <a:prstGeom prst="rect">
            <a:avLst/>
          </a:prstGeom>
          <a:solidFill>
            <a:srgbClr val="EAF2FB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3218688"/>
            <a:ext cx="22128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type 2 diabetes mellitus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145536" y="3218688"/>
            <a:ext cx="3767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type 2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168896" y="3218688"/>
            <a:ext cx="10241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5.0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449056" y="3218688"/>
            <a:ext cx="93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637776" y="3218688"/>
            <a:ext cx="93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492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826496" y="3218688"/>
            <a:ext cx="6583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drop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3675888"/>
            <a:ext cx="110642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" y="3675888"/>
            <a:ext cx="22128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type 2 diabetes mellitus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145536" y="3675888"/>
            <a:ext cx="3767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168896" y="3675888"/>
            <a:ext cx="10241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3.3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449056" y="3675888"/>
            <a:ext cx="93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0.20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637776" y="3675888"/>
            <a:ext cx="93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809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0826496" y="3675888"/>
            <a:ext cx="6583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drop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48640" y="4133088"/>
            <a:ext cx="11064240" cy="457200"/>
          </a:xfrm>
          <a:prstGeom prst="rect">
            <a:avLst/>
          </a:prstGeom>
          <a:solidFill>
            <a:srgbClr val="EAF2FB"/>
          </a:solidFill>
          <a:ln/>
        </p:spPr>
      </p:sp>
      <p:sp>
        <p:nvSpPr>
          <p:cNvPr id="36" name="Text 34"/>
          <p:cNvSpPr/>
          <p:nvPr/>
        </p:nvSpPr>
        <p:spPr>
          <a:xfrm>
            <a:off x="676656" y="4133088"/>
            <a:ext cx="22128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Pendred syndrome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3145536" y="4133088"/>
            <a:ext cx="3767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genetic defect in thyroid hormonogenesis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168896" y="4133088"/>
            <a:ext cx="10241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32.8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449056" y="4133088"/>
            <a:ext cx="93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1.00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637776" y="4133088"/>
            <a:ext cx="93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0826496" y="4133088"/>
            <a:ext cx="6583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keep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48640" y="4590288"/>
            <a:ext cx="110642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676656" y="4590288"/>
            <a:ext cx="22128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Pendred syndrome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3145536" y="4590288"/>
            <a:ext cx="3767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deafness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168896" y="4590288"/>
            <a:ext cx="10241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4.4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8449056" y="4590288"/>
            <a:ext cx="93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0.30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9637776" y="4590288"/>
            <a:ext cx="93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253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826496" y="4590288"/>
            <a:ext cx="6583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drop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548640" y="5047488"/>
            <a:ext cx="11064240" cy="457200"/>
          </a:xfrm>
          <a:prstGeom prst="rect">
            <a:avLst/>
          </a:prstGeom>
          <a:solidFill>
            <a:srgbClr val="EAF2FB"/>
          </a:solidFill>
          <a:ln/>
        </p:spPr>
      </p:sp>
      <p:sp>
        <p:nvSpPr>
          <p:cNvPr id="50" name="Text 48"/>
          <p:cNvSpPr/>
          <p:nvPr/>
        </p:nvSpPr>
        <p:spPr>
          <a:xfrm>
            <a:off x="676656" y="5047488"/>
            <a:ext cx="22128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cystic fibrosis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3145536" y="5047488"/>
            <a:ext cx="3767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pseudomonas aeruginosa susceptibility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7168896" y="5047488"/>
            <a:ext cx="10241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50.8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449056" y="5047488"/>
            <a:ext cx="93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1.00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9637776" y="5047488"/>
            <a:ext cx="93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0826496" y="5047488"/>
            <a:ext cx="6583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keep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548640" y="5504688"/>
            <a:ext cx="110642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5"/>
          <p:cNvSpPr/>
          <p:nvPr/>
        </p:nvSpPr>
        <p:spPr>
          <a:xfrm>
            <a:off x="676656" y="5504688"/>
            <a:ext cx="22128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cystic fibrosis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3145536" y="5504688"/>
            <a:ext cx="3767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infection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7168896" y="5504688"/>
            <a:ext cx="10241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4.5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8449056" y="5504688"/>
            <a:ext cx="93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0.09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9637776" y="5504688"/>
            <a:ext cx="93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247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10826496" y="5504688"/>
            <a:ext cx="6583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drop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548640" y="2240280"/>
            <a:ext cx="11064240" cy="3721608"/>
          </a:xfrm>
          <a:prstGeom prst="rect">
            <a:avLst/>
          </a:prstGeom>
          <a:ln w="9525">
            <a:solidFill>
              <a:srgbClr val="D9DEE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48640" y="5989320"/>
            <a:ext cx="9875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3489CA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Unscored, matching drowns in generic fragments: "type 2" is shared by 492 diseases.</a:t>
            </a:r>
            <a:endParaRPr lang="en-US" sz="1400" dirty="0"/>
          </a:p>
        </p:txBody>
      </p:sp>
      <p:pic>
        <p:nvPicPr>
          <p:cNvPr id="65" name="Image 0" descr="/Users/polina/disPathCuration/presentation/assets/ot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2" y="6234279"/>
            <a:ext cx="1097280" cy="331113"/>
          </a:xfrm>
          <a:prstGeom prst="rect">
            <a:avLst/>
          </a:prstGeom>
        </p:spPr>
      </p:pic>
      <p:sp>
        <p:nvSpPr>
          <p:cNvPr id="66" name="Text 63"/>
          <p:cNvSpPr/>
          <p:nvPr/>
        </p:nvSpPr>
        <p:spPr>
          <a:xfrm>
            <a:off x="411480" y="64739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CAFA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310896" cy="82296"/>
          </a:xfrm>
          <a:prstGeom prst="rect">
            <a:avLst/>
          </a:prstGeom>
          <a:solidFill>
            <a:srgbClr val="3489CA"/>
          </a:solidFill>
          <a:ln/>
        </p:spPr>
      </p:sp>
      <p:sp>
        <p:nvSpPr>
          <p:cNvPr id="3" name="Text 1"/>
          <p:cNvSpPr/>
          <p:nvPr/>
        </p:nvSpPr>
        <p:spPr>
          <a:xfrm>
            <a:off x="950976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489CA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MATCHING REACTOME LABELS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A456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 extractors, in order of precedence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392424" cy="3840480"/>
          </a:xfrm>
          <a:prstGeom prst="roundRect">
            <a:avLst>
              <a:gd name="adj" fmla="val 1617"/>
            </a:avLst>
          </a:prstGeom>
          <a:solidFill>
            <a:srgbClr val="F4F6F9"/>
          </a:solidFill>
          <a:ln w="12700">
            <a:solidFill>
              <a:srgbClr val="E4E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194560"/>
            <a:ext cx="548640" cy="548640"/>
          </a:xfrm>
          <a:prstGeom prst="ellipse">
            <a:avLst/>
          </a:prstGeom>
          <a:solidFill>
            <a:srgbClr val="3489CA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41248" y="2926080"/>
            <a:ext cx="28072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template (85)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41248" y="3383280"/>
            <a:ext cx="2807208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2000"/>
              </a:lnSpc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Fixed label pattern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Disease slot is a disease by construction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Licenses the acronym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41248" y="4572000"/>
            <a:ext cx="2807208" cy="0"/>
          </a:xfrm>
          <a:prstGeom prst="line">
            <a:avLst/>
          </a:prstGeom>
          <a:noFill/>
          <a:ln w="12700">
            <a:solidFill>
              <a:srgbClr val="D9DE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4663440"/>
            <a:ext cx="280720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5F5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Defective SLC26A4 causes Pendred syndrome (PDS) → Pendred syndrome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98264" y="1874520"/>
            <a:ext cx="3392424" cy="3840480"/>
          </a:xfrm>
          <a:prstGeom prst="roundRect">
            <a:avLst>
              <a:gd name="adj" fmla="val 1617"/>
            </a:avLst>
          </a:prstGeom>
          <a:solidFill>
            <a:srgbClr val="F4F6F9"/>
          </a:solidFill>
          <a:ln w="12700">
            <a:solidFill>
              <a:srgbClr val="E4E9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90872" y="2194560"/>
            <a:ext cx="548640" cy="548640"/>
          </a:xfrm>
          <a:prstGeom prst="ellipse">
            <a:avLst/>
          </a:prstGeom>
          <a:solidFill>
            <a:srgbClr val="3489CA"/>
          </a:solidFill>
          <a:ln/>
        </p:spPr>
      </p:sp>
      <p:sp>
        <p:nvSpPr>
          <p:cNvPr id="14" name="Text 12"/>
          <p:cNvSpPr/>
          <p:nvPr/>
        </p:nvSpPr>
        <p:spPr>
          <a:xfrm>
            <a:off x="4690872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690872" y="2926080"/>
            <a:ext cx="28072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whole_form (171)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690872" y="3383280"/>
            <a:ext cx="2807208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2000"/>
              </a:lnSpc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Full name or exact synonym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Contiguous span only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Fragments never match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690872" y="4572000"/>
            <a:ext cx="2807208" cy="0"/>
          </a:xfrm>
          <a:prstGeom prst="line">
            <a:avLst/>
          </a:prstGeom>
          <a:noFill/>
          <a:ln w="12700">
            <a:solidFill>
              <a:srgbClr val="D9DE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90872" y="4663440"/>
            <a:ext cx="280720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5F5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Defective SLC2A10 causes arterial tortuosity syndrome → arterial tortuosity syndrome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47888" y="1874520"/>
            <a:ext cx="3392424" cy="3840480"/>
          </a:xfrm>
          <a:prstGeom prst="roundRect">
            <a:avLst>
              <a:gd name="adj" fmla="val 1617"/>
            </a:avLst>
          </a:prstGeom>
          <a:solidFill>
            <a:srgbClr val="F4F6F9"/>
          </a:solidFill>
          <a:ln w="12700">
            <a:solidFill>
              <a:srgbClr val="E4E9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0496" y="2194560"/>
            <a:ext cx="548640" cy="548640"/>
          </a:xfrm>
          <a:prstGeom prst="ellipse">
            <a:avLst/>
          </a:prstGeom>
          <a:solidFill>
            <a:srgbClr val="3489CA"/>
          </a:solidFill>
          <a:ln/>
        </p:spPr>
      </p:sp>
      <p:sp>
        <p:nvSpPr>
          <p:cNvPr id="21" name="Text 19"/>
          <p:cNvSpPr/>
          <p:nvPr/>
        </p:nvSpPr>
        <p:spPr>
          <a:xfrm>
            <a:off x="8540496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540496" y="2926080"/>
            <a:ext cx="28072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alias (95)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0496" y="3383280"/>
            <a:ext cx="2807208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2000"/>
              </a:lnSpc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distinctive token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Filtered on gene symbols and corpus sharing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Reviewed allow-list for acronyms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540496" y="4572000"/>
            <a:ext cx="2807208" cy="0"/>
          </a:xfrm>
          <a:prstGeom prst="line">
            <a:avLst/>
          </a:prstGeom>
          <a:noFill/>
          <a:ln w="12700">
            <a:solidFill>
              <a:srgbClr val="D9DE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40496" y="4663440"/>
            <a:ext cx="280720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5F5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Defective SERPING1 causes hereditary angioedema → angioedema</a:t>
            </a:r>
            <a:endParaRPr lang="en-US" sz="1200" dirty="0"/>
          </a:p>
        </p:txBody>
      </p:sp>
      <p:pic>
        <p:nvPicPr>
          <p:cNvPr id="26" name="Image 0" descr="/Users/polina/disPathCuration/presentation/assets/ot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2" y="6234279"/>
            <a:ext cx="1097280" cy="331113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548640" y="150876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A5F5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Matcher output: 351 pathway-disease pairs.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548640" y="5989320"/>
            <a:ext cx="9875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3489CA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Global abbreviation matching excluded: 10 curated links recovered, 61 collisions added.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411480" y="64739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CAFA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310896" cy="82296"/>
          </a:xfrm>
          <a:prstGeom prst="rect">
            <a:avLst/>
          </a:prstGeom>
          <a:solidFill>
            <a:srgbClr val="3489CA"/>
          </a:solidFill>
          <a:ln/>
        </p:spPr>
      </p:sp>
      <p:sp>
        <p:nvSpPr>
          <p:cNvPr id="3" name="Text 1"/>
          <p:cNvSpPr/>
          <p:nvPr/>
        </p:nvSpPr>
        <p:spPr>
          <a:xfrm>
            <a:off x="950976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489CA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OPTIONAL LAST STEP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A456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 LLM judge removes context false positives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642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ts val="2400"/>
              </a:lnSpc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Low-confidence tier only: 151 of 351 (alias, low-specificity whole_form)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Annotates keep or reject with a reason, never deletes a row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Judges word sense only: broad but correct is kept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Runs through the Claude Code CLI, batched and cached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703320"/>
            <a:ext cx="11064240" cy="475488"/>
          </a:xfrm>
          <a:prstGeom prst="rect">
            <a:avLst/>
          </a:prstGeom>
          <a:solidFill>
            <a:srgbClr val="1A4565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4178808"/>
            <a:ext cx="11064240" cy="45720"/>
          </a:xfrm>
          <a:prstGeom prst="rect">
            <a:avLst/>
          </a:prstGeom>
          <a:solidFill>
            <a:srgbClr val="3489CA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3703320"/>
            <a:ext cx="395020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Pathway label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882896" y="3703320"/>
            <a:ext cx="18470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Matched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86016" y="3703320"/>
            <a:ext cx="44988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Why rejected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224528"/>
            <a:ext cx="110642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" y="4224528"/>
            <a:ext cx="39502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Caspase activation via Dependence Receptors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82896" y="4224528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dependence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86016" y="4224528"/>
            <a:ext cx="44988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receptor family, not substance dependence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681728"/>
            <a:ext cx="11064240" cy="457200"/>
          </a:xfrm>
          <a:prstGeom prst="rect">
            <a:avLst/>
          </a:prstGeom>
          <a:solidFill>
            <a:srgbClr val="EAF2FB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4681728"/>
            <a:ext cx="39502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Defective POMGNT1 causes MDDGA3, MDDGB3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82896" y="4681728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mddgc3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986016" y="4681728"/>
            <a:ext cx="44988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acronym for a different subtype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5138928"/>
            <a:ext cx="110642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5138928"/>
            <a:ext cx="39502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Defective SLC1A3 causes episodic ataxia 6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82896" y="5138928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episodic ataxia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986016" y="5138928"/>
            <a:ext cx="44988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mapped to a different ataxia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5596128"/>
            <a:ext cx="11064240" cy="457200"/>
          </a:xfrm>
          <a:prstGeom prst="rect">
            <a:avLst/>
          </a:prstGeom>
          <a:solidFill>
            <a:srgbClr val="EAF2FB"/>
          </a:solidFill>
          <a:ln/>
        </p:spPr>
      </p:sp>
      <p:sp>
        <p:nvSpPr>
          <p:cNvPr id="24" name="Text 22"/>
          <p:cNvSpPr/>
          <p:nvPr/>
        </p:nvSpPr>
        <p:spPr>
          <a:xfrm>
            <a:off x="676656" y="5596128"/>
            <a:ext cx="39502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SARS-CoV-2 activates innate immunity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882896" y="5596128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sars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986016" y="5596128"/>
            <a:ext cx="44988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SARS-CoV-2 causes COVID-19, not SARS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3703320"/>
            <a:ext cx="11064240" cy="2350008"/>
          </a:xfrm>
          <a:prstGeom prst="rect">
            <a:avLst/>
          </a:prstGeom>
          <a:ln w="9525">
            <a:solidFill>
              <a:srgbClr val="D9DE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640080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5F5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of 151 rejected. Broad but valid kept, for example "Viral Infection Pathways".</a:t>
            </a:r>
            <a:endParaRPr lang="en-US" sz="1200" dirty="0"/>
          </a:p>
        </p:txBody>
      </p:sp>
      <p:pic>
        <p:nvPicPr>
          <p:cNvPr id="29" name="Image 0" descr="/Users/polina/disPathCuration/presentation/assets/ot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2" y="6234279"/>
            <a:ext cx="1097280" cy="331113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411480" y="64739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CAFA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custGeom>
            <a:avLst/>
            <a:gdLst/>
            <a:ahLst/>
            <a:cxnLst/>
            <a:rect l="l" t="t" r="r" b="b"/>
            <a:pathLst>
              <a:path w="12188952" h="6858000">
                <a:moveTo>
                  <a:pt x="12188952" y="822960"/>
                </a:moveTo>
                <a:lnTo>
                  <a:pt x="12188952" y="6858000"/>
                </a:lnTo>
                <a:lnTo>
                  <a:pt x="5119360" y="6858000"/>
                </a:lnTo>
                <a:close/>
              </a:path>
            </a:pathLst>
          </a:custGeom>
          <a:solidFill>
            <a:srgbClr val="1A4565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2432304"/>
            <a:ext cx="256032" cy="256032"/>
          </a:xfrm>
          <a:prstGeom prst="rect">
            <a:avLst/>
          </a:prstGeom>
          <a:solidFill>
            <a:srgbClr val="3489CA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37744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3489CA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PART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30352" y="2880360"/>
            <a:ext cx="62179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1A456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it finds in Reactome</a:t>
            </a:r>
            <a:endParaRPr lang="en-US" sz="4400" dirty="0"/>
          </a:p>
        </p:txBody>
      </p:sp>
      <p:pic>
        <p:nvPicPr>
          <p:cNvPr id="6" name="Image 0" descr="/Users/polina/disPathCuration/presentation/assets/ot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2" y="6234279"/>
            <a:ext cx="1097280" cy="33111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310896" cy="82296"/>
          </a:xfrm>
          <a:prstGeom prst="rect">
            <a:avLst/>
          </a:prstGeom>
          <a:solidFill>
            <a:srgbClr val="3489CA"/>
          </a:solidFill>
          <a:ln/>
        </p:spPr>
      </p:sp>
      <p:sp>
        <p:nvSpPr>
          <p:cNvPr id="3" name="Text 1"/>
          <p:cNvSpPr/>
          <p:nvPr/>
        </p:nvSpPr>
        <p:spPr>
          <a:xfrm>
            <a:off x="950976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489CA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RESULTS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400" b="1" dirty="0">
                <a:solidFill>
                  <a:srgbClr val="1A456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258 new links, absent from current curation</a:t>
            </a:r>
            <a:endParaRPr lang="en-US" sz="3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920240"/>
          <a:ext cx="63093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7132320" y="2103120"/>
            <a:ext cx="45720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ts val="2400"/>
              </a:lnSpc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190 pathways, 175 diseases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Roughly 600 to 900 new target-disease pairs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Median new pathway: 1 gene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Tail: SARS therapeutics 154 genes, MLL4/MLL3 134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930 raw, about 580 excluding pathways over 50 genes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640080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5F5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Open Targets Platform release 26.06.</a:t>
            </a:r>
            <a:endParaRPr lang="en-US" sz="1200" dirty="0"/>
          </a:p>
        </p:txBody>
      </p:sp>
      <p:pic>
        <p:nvPicPr>
          <p:cNvPr id="8" name="Image 0" descr="/Users/polina/disPathCuration/presentation/assets/ot-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0192" y="6234279"/>
            <a:ext cx="1097280" cy="33111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11480" y="64739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CAFA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custGeom>
            <a:avLst/>
            <a:gdLst/>
            <a:ahLst/>
            <a:cxnLst/>
            <a:rect l="l" t="t" r="r" b="b"/>
            <a:pathLst>
              <a:path w="12188952" h="6858000">
                <a:moveTo>
                  <a:pt x="12188952" y="3086100"/>
                </a:moveTo>
                <a:lnTo>
                  <a:pt x="12188952" y="6858000"/>
                </a:lnTo>
                <a:lnTo>
                  <a:pt x="8288487" y="6858000"/>
                </a:lnTo>
                <a:close/>
              </a:path>
            </a:pathLst>
          </a:custGeom>
          <a:solidFill>
            <a:srgbClr val="F1F4F8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2148840"/>
            <a:ext cx="128016" cy="2148840"/>
          </a:xfrm>
          <a:prstGeom prst="rect">
            <a:avLst/>
          </a:prstGeom>
          <a:solidFill>
            <a:srgbClr val="3489CA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965960"/>
            <a:ext cx="10424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800" b="1" dirty="0">
                <a:solidFill>
                  <a:srgbClr val="1A456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18.7%</a:t>
            </a:r>
            <a:endParaRPr lang="en-US" sz="12800" dirty="0"/>
          </a:p>
        </p:txBody>
      </p:sp>
      <p:sp>
        <p:nvSpPr>
          <p:cNvPr id="5" name="Text 3"/>
          <p:cNvSpPr/>
          <p:nvPr/>
        </p:nvSpPr>
        <p:spPr>
          <a:xfrm>
            <a:off x="914400" y="397764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5A5F5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of the 653 curated pathway-disease pairs recovered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5F5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📜  531 not recovered. Open Targets Platform release 26.06.</a:t>
            </a:r>
            <a:endParaRPr lang="en-US" sz="1200" dirty="0"/>
          </a:p>
        </p:txBody>
      </p:sp>
      <p:pic>
        <p:nvPicPr>
          <p:cNvPr id="7" name="Image 0" descr="/Users/polina/disPathCuration/presentation/assets/ot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2" y="6234279"/>
            <a:ext cx="1097280" cy="33111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709160"/>
            <a:ext cx="96926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ts val="2240"/>
              </a:lnSpc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88 exact, 28 more specific, 6 more general</a:t>
            </a:r>
            <a:endParaRPr lang="en-US" sz="1400" dirty="0"/>
          </a:p>
          <a:p>
            <a:pPr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Curators assign disease from biology, not from label text</a:t>
            </a:r>
            <a:endParaRPr lang="en-US" sz="1400" dirty="0"/>
          </a:p>
          <a:p>
            <a:pPr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Complementary, not nested: the denominator is the label-nameable subset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11480" y="64739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CAFA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310896" cy="82296"/>
          </a:xfrm>
          <a:prstGeom prst="rect">
            <a:avLst/>
          </a:prstGeom>
          <a:solidFill>
            <a:srgbClr val="3489CA"/>
          </a:solidFill>
          <a:ln/>
        </p:spPr>
      </p:sp>
      <p:sp>
        <p:nvSpPr>
          <p:cNvPr id="3" name="Text 1"/>
          <p:cNvSpPr/>
          <p:nvPr/>
        </p:nvSpPr>
        <p:spPr>
          <a:xfrm>
            <a:off x="950976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489CA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ONE EXAMPLE PER REASON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A456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Why the other 531 are not recovered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392424" cy="3931920"/>
          </a:xfrm>
          <a:prstGeom prst="roundRect">
            <a:avLst>
              <a:gd name="adj" fmla="val 1617"/>
            </a:avLst>
          </a:prstGeom>
          <a:solidFill>
            <a:srgbClr val="F4F6F9"/>
          </a:solidFill>
          <a:ln w="12700">
            <a:solidFill>
              <a:srgbClr val="E4E9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2148840"/>
            <a:ext cx="28072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A. No disease in label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41248" y="2606040"/>
            <a:ext cx="2807208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2000"/>
              </a:lnSpc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large majority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Label is pure biology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Curated disease comes from gene knowledge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Unreachable by any label method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41248" y="4617720"/>
            <a:ext cx="2807208" cy="0"/>
          </a:xfrm>
          <a:prstGeom prst="line">
            <a:avLst/>
          </a:prstGeom>
          <a:noFill/>
          <a:ln w="12700">
            <a:solidFill>
              <a:srgbClr val="D9DE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4709160"/>
            <a:ext cx="280720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5F5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"Signaling by plasma membrane FGFR1 fusions" → cancer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98264" y="1828800"/>
            <a:ext cx="3392424" cy="3931920"/>
          </a:xfrm>
          <a:prstGeom prst="roundRect">
            <a:avLst>
              <a:gd name="adj" fmla="val 1617"/>
            </a:avLst>
          </a:prstGeom>
          <a:solidFill>
            <a:srgbClr val="F4F6F9"/>
          </a:solidFill>
          <a:ln w="12700">
            <a:solidFill>
              <a:srgbClr val="E4E9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90872" y="2148840"/>
            <a:ext cx="28072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B. Colliding acronym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90872" y="2606040"/>
            <a:ext cx="2807208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2000"/>
              </a:lnSpc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Correctly refused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Free acronym matching costs 6:1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90872" y="4617720"/>
            <a:ext cx="2807208" cy="0"/>
          </a:xfrm>
          <a:prstGeom prst="line">
            <a:avLst/>
          </a:prstGeom>
          <a:noFill/>
          <a:ln w="12700">
            <a:solidFill>
              <a:srgbClr val="D9DE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90872" y="4709160"/>
            <a:ext cx="280720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5F5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"NOTCH1 HD Domain Mutants": HD is the HD domain, not Huntington disease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47888" y="1828800"/>
            <a:ext cx="3392424" cy="3931920"/>
          </a:xfrm>
          <a:prstGeom prst="roundRect">
            <a:avLst>
              <a:gd name="adj" fmla="val 1617"/>
            </a:avLst>
          </a:prstGeom>
          <a:solidFill>
            <a:srgbClr val="F4F6F9"/>
          </a:solidFill>
          <a:ln w="12700">
            <a:solidFill>
              <a:srgbClr val="E4E9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40496" y="2148840"/>
            <a:ext cx="28072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C. A different disease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40496" y="2606040"/>
            <a:ext cx="2807208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2000"/>
              </a:lnSpc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 a miss, a disagreement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Matcher term is often more precise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Ontology graph does not link it to the parent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40496" y="4617720"/>
            <a:ext cx="2807208" cy="0"/>
          </a:xfrm>
          <a:prstGeom prst="line">
            <a:avLst/>
          </a:prstGeom>
          <a:noFill/>
          <a:ln w="12700">
            <a:solidFill>
              <a:srgbClr val="D9DE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40496" y="4709160"/>
            <a:ext cx="280720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5F5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"MyD88 deficiency (TLR5)" → pyogenic bacterial infection, curated: inborn error of immunity</a:t>
            </a:r>
            <a:endParaRPr lang="en-US" sz="1200" dirty="0"/>
          </a:p>
        </p:txBody>
      </p:sp>
      <p:pic>
        <p:nvPicPr>
          <p:cNvPr id="20" name="Image 0" descr="/Users/polina/disPathCuration/presentation/assets/ot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2" y="6234279"/>
            <a:ext cx="1097280" cy="331113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48640" y="5989320"/>
            <a:ext cx="9875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3489CA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Strip out A and B, unreachable and correctly refused, and the true missed set is small.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411480" y="64739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CAFA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310896" cy="82296"/>
          </a:xfrm>
          <a:prstGeom prst="rect">
            <a:avLst/>
          </a:prstGeom>
          <a:solidFill>
            <a:srgbClr val="3489CA"/>
          </a:solidFill>
          <a:ln/>
        </p:spPr>
      </p:sp>
      <p:sp>
        <p:nvSpPr>
          <p:cNvPr id="3" name="Text 1"/>
          <p:cNvSpPr/>
          <p:nvPr/>
        </p:nvSpPr>
        <p:spPr>
          <a:xfrm>
            <a:off x="950976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489CA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BONUS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A456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It also tightens existing curation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162763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A5F5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44 specificity improvements: the label names the subtype, the curation recorded the parent.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11064240" cy="475488"/>
          </a:xfrm>
          <a:prstGeom prst="rect">
            <a:avLst/>
          </a:prstGeom>
          <a:solidFill>
            <a:srgbClr val="1A4565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624328"/>
            <a:ext cx="11064240" cy="45720"/>
          </a:xfrm>
          <a:prstGeom prst="rect">
            <a:avLst/>
          </a:prstGeom>
          <a:solidFill>
            <a:srgbClr val="3489CA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2148840"/>
            <a:ext cx="3858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Pathway label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91456" y="2148840"/>
            <a:ext cx="34015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Matcher (specific)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449056" y="2148840"/>
            <a:ext cx="303580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Curated (broad)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670048"/>
            <a:ext cx="110642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" y="2670048"/>
            <a:ext cx="3858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Defective B4GALT1 causes B4GALT1-CDG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91456" y="2670048"/>
            <a:ext cx="34015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B4GALT1-congenital disorder of glycosylation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49056" y="2670048"/>
            <a:ext cx="30358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congenital disorder of glycosylation type II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127248"/>
            <a:ext cx="11064240" cy="457200"/>
          </a:xfrm>
          <a:prstGeom prst="rect">
            <a:avLst/>
          </a:prstGeom>
          <a:solidFill>
            <a:srgbClr val="EAF2FB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127248"/>
            <a:ext cx="3858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Defective SLC24A5 causes oculocutaneous albinism 6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91456" y="3127248"/>
            <a:ext cx="34015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oculocutaneous albinism type 6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449056" y="3127248"/>
            <a:ext cx="30358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oculocutaneous albinism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584448"/>
            <a:ext cx="110642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3584448"/>
            <a:ext cx="3858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Defective PMM2 causes PMM2-CDG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91456" y="3584448"/>
            <a:ext cx="34015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PMM2-congenital disorder of glycosylation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449056" y="3584448"/>
            <a:ext cx="30358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congenital disorder of glycosylation type I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041648"/>
            <a:ext cx="11064240" cy="457200"/>
          </a:xfrm>
          <a:prstGeom prst="rect">
            <a:avLst/>
          </a:prstGeom>
          <a:solidFill>
            <a:srgbClr val="EAF2FB"/>
          </a:solidFill>
          <a:ln/>
        </p:spPr>
      </p:sp>
      <p:sp>
        <p:nvSpPr>
          <p:cNvPr id="24" name="Text 22"/>
          <p:cNvSpPr/>
          <p:nvPr/>
        </p:nvSpPr>
        <p:spPr>
          <a:xfrm>
            <a:off x="676656" y="4041648"/>
            <a:ext cx="3858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Defective CHST14 causes EDS, musculocontractural type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91456" y="4041648"/>
            <a:ext cx="34015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Ehlers-Danlos syndrome, musculocontractural type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449056" y="4041648"/>
            <a:ext cx="30358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Ehlers-Danlos syndrome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2148840"/>
            <a:ext cx="11064240" cy="2350008"/>
          </a:xfrm>
          <a:prstGeom prst="rect">
            <a:avLst/>
          </a:prstGeom>
          <a:ln w="9525">
            <a:solidFill>
              <a:srgbClr val="D9DE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4754880"/>
            <a:ext cx="9875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3489CA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A second output type: tighten annotations, not only add them.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57200" y="640080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5F5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Open Targets Platform release 26.06.</a:t>
            </a:r>
            <a:endParaRPr lang="en-US" sz="1200" dirty="0"/>
          </a:p>
        </p:txBody>
      </p:sp>
      <p:pic>
        <p:nvPicPr>
          <p:cNvPr id="30" name="Image 0" descr="/Users/polina/disPathCuration/presentation/assets/ot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2" y="6234279"/>
            <a:ext cx="1097280" cy="331113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411480" y="64739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CAFA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custGeom>
            <a:avLst/>
            <a:gdLst/>
            <a:ahLst/>
            <a:cxnLst/>
            <a:rect l="l" t="t" r="r" b="b"/>
            <a:pathLst>
              <a:path w="12188952" h="6858000">
                <a:moveTo>
                  <a:pt x="12188952" y="822960"/>
                </a:moveTo>
                <a:lnTo>
                  <a:pt x="12188952" y="6858000"/>
                </a:lnTo>
                <a:lnTo>
                  <a:pt x="5119360" y="6858000"/>
                </a:lnTo>
                <a:close/>
              </a:path>
            </a:pathLst>
          </a:custGeom>
          <a:solidFill>
            <a:srgbClr val="1A4565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2432304"/>
            <a:ext cx="256032" cy="256032"/>
          </a:xfrm>
          <a:prstGeom prst="rect">
            <a:avLst/>
          </a:prstGeom>
          <a:solidFill>
            <a:srgbClr val="3489CA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37744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3489CA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PART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30352" y="2880360"/>
            <a:ext cx="62179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1A456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Does it generalise?</a:t>
            </a:r>
            <a:endParaRPr lang="en-US" sz="4400" dirty="0"/>
          </a:p>
        </p:txBody>
      </p:sp>
      <p:pic>
        <p:nvPicPr>
          <p:cNvPr id="6" name="Image 0" descr="/Users/polina/disPathCuration/presentation/assets/ot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2" y="6234279"/>
            <a:ext cx="1097280" cy="33111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310896" cy="82296"/>
          </a:xfrm>
          <a:prstGeom prst="rect">
            <a:avLst/>
          </a:prstGeom>
          <a:solidFill>
            <a:srgbClr val="3489CA"/>
          </a:solidFill>
          <a:ln/>
        </p:spPr>
      </p:sp>
      <p:sp>
        <p:nvSpPr>
          <p:cNvPr id="3" name="Text 1"/>
          <p:cNvSpPr/>
          <p:nvPr/>
        </p:nvSpPr>
        <p:spPr>
          <a:xfrm>
            <a:off x="950976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489CA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EXTENDING TO GO BIOLOGICAL PROCESSES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A456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 runs through the same code, two layers off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392424" cy="3931920"/>
          </a:xfrm>
          <a:prstGeom prst="roundRect">
            <a:avLst>
              <a:gd name="adj" fmla="val 1617"/>
            </a:avLst>
          </a:prstGeom>
          <a:solidFill>
            <a:srgbClr val="F4F6F9"/>
          </a:solidFill>
          <a:ln w="12700">
            <a:solidFill>
              <a:srgbClr val="E4E9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2148840"/>
            <a:ext cx="28072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What it yields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41248" y="2606040"/>
            <a:ext cx="2807208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2000"/>
              </a:lnSpc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24,136 non-obsolete labels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165 pairs, 15 diseases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138 whole_form, 27 alias, 0 template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Judge: 141 kept, 24 rejected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98264" y="1828800"/>
            <a:ext cx="3392424" cy="3931920"/>
          </a:xfrm>
          <a:prstGeom prst="roundRect">
            <a:avLst>
              <a:gd name="adj" fmla="val 1617"/>
            </a:avLst>
          </a:prstGeom>
          <a:solidFill>
            <a:srgbClr val="F4F6F9"/>
          </a:solidFill>
          <a:ln w="12700">
            <a:solidFill>
              <a:srgbClr val="E4E9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90872" y="2148840"/>
            <a:ext cx="28072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What does not apply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690872" y="2606040"/>
            <a:ext cx="2807208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2000"/>
              </a:lnSpc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template: GO has no such labels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GO-disease evidence, so no baseline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match is a candidate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Genes from target.go, aspect P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47888" y="1828800"/>
            <a:ext cx="3392424" cy="3931920"/>
          </a:xfrm>
          <a:prstGeom prst="roundRect">
            <a:avLst>
              <a:gd name="adj" fmla="val 1617"/>
            </a:avLst>
          </a:prstGeom>
          <a:solidFill>
            <a:srgbClr val="F4F6F9"/>
          </a:solidFill>
          <a:ln w="12700">
            <a:solidFill>
              <a:srgbClr val="E4E9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40496" y="2148840"/>
            <a:ext cx="28072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What it taught us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540496" y="2606040"/>
            <a:ext cx="2807208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2000"/>
              </a:lnSpc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 describes processes, not disease pathways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0.3% of labels carry a disease cue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Judge rejects 31%, against 7% on Reactome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540496" y="4617720"/>
            <a:ext cx="2807208" cy="0"/>
          </a:xfrm>
          <a:prstGeom prst="line">
            <a:avLst/>
          </a:prstGeom>
          <a:noFill/>
          <a:ln w="12700">
            <a:solidFill>
              <a:srgbClr val="D9DE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40496" y="4709160"/>
            <a:ext cx="280720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5F5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"type III hypersensitivity" → IgE responsiveness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5F5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"reactive gliosis" → Gliosis</a:t>
            </a:r>
            <a:endParaRPr lang="en-US" sz="1200" dirty="0"/>
          </a:p>
        </p:txBody>
      </p:sp>
      <p:pic>
        <p:nvPicPr>
          <p:cNvPr id="16" name="Image 0" descr="/Users/polina/disPathCuration/presentation/assets/ot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2" y="6234279"/>
            <a:ext cx="1097280" cy="331113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548640" y="5989320"/>
            <a:ext cx="9875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3489CA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On GO the judge is essential, not optional. Output is review-first, not curation-ready.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411480" y="64739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CAFA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310896" cy="82296"/>
          </a:xfrm>
          <a:prstGeom prst="rect">
            <a:avLst/>
          </a:prstGeom>
          <a:solidFill>
            <a:srgbClr val="3489CA"/>
          </a:solidFill>
          <a:ln/>
        </p:spPr>
      </p:sp>
      <p:sp>
        <p:nvSpPr>
          <p:cNvPr id="3" name="Text 1"/>
          <p:cNvSpPr/>
          <p:nvPr/>
        </p:nvSpPr>
        <p:spPr>
          <a:xfrm>
            <a:off x="950976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489CA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HAIKU, SONNET, OPUS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A456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judge is the one non-deterministic layer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64240" cy="475488"/>
          </a:xfrm>
          <a:prstGeom prst="rect">
            <a:avLst/>
          </a:prstGeom>
          <a:solidFill>
            <a:srgbClr val="1A4565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258568"/>
            <a:ext cx="11064240" cy="45720"/>
          </a:xfrm>
          <a:prstGeom prst="rect">
            <a:avLst/>
          </a:prstGeom>
          <a:solidFill>
            <a:srgbClr val="3489CA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783080"/>
            <a:ext cx="257860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Model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511296" y="1783080"/>
            <a:ext cx="17556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Reactome rejects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522976" y="1783080"/>
            <a:ext cx="14813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False rejects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260336" y="1783080"/>
            <a:ext cx="14813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GO rejects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997696" y="1783080"/>
            <a:ext cx="11155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$ / 1M in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369296" y="1783080"/>
            <a:ext cx="11155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$ / 1M out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2304288"/>
            <a:ext cx="110642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304288"/>
            <a:ext cx="2578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Claude Haiku 4.5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511296" y="2304288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522976" y="2304288"/>
            <a:ext cx="1481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260336" y="2304288"/>
            <a:ext cx="1481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37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997696" y="2304288"/>
            <a:ext cx="11155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1.00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369296" y="2304288"/>
            <a:ext cx="11155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5.00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2761488"/>
            <a:ext cx="11064240" cy="457200"/>
          </a:xfrm>
          <a:prstGeom prst="rect">
            <a:avLst/>
          </a:prstGeom>
          <a:solidFill>
            <a:srgbClr val="EAF2FB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" y="2761488"/>
            <a:ext cx="2578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Claude Sonnet 5 (default)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511296" y="2761488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11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522976" y="2761488"/>
            <a:ext cx="1481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260336" y="2761488"/>
            <a:ext cx="1481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997696" y="2761488"/>
            <a:ext cx="11155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3.00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369296" y="2761488"/>
            <a:ext cx="11155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15.00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3218688"/>
            <a:ext cx="110642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76656" y="3218688"/>
            <a:ext cx="2578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Claude Opus 4.8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511296" y="3218688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522976" y="3218688"/>
            <a:ext cx="1481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260336" y="3218688"/>
            <a:ext cx="1481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21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997696" y="3218688"/>
            <a:ext cx="11155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5.00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0369296" y="3218688"/>
            <a:ext cx="11155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25.00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1783080"/>
            <a:ext cx="11064240" cy="1892808"/>
          </a:xfrm>
          <a:prstGeom prst="rect">
            <a:avLst/>
          </a:prstGeom>
          <a:ln w="9525">
            <a:solidFill>
              <a:srgbClr val="D9DEE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3794760"/>
            <a:ext cx="1106424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ts val="2400"/>
              </a:lnSpc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Agreement: 137 of 151 on Reactome (91%), 60 of 77 on GO (78%)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Reactome splits: the "sars" alias, and hypoxia as process or disease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 flips: Haiku strictest, rejects on tissue (cardiac vs skeletal hypertrophy)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Safeguard: false-reject check against curated evidence, plus human review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457200" y="640080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5F5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Anthropic list prices, USD per 1M tokens. Sonnet 5 has an introductory rate to 2026-08-31.</a:t>
            </a:r>
            <a:endParaRPr lang="en-US" sz="1200" dirty="0"/>
          </a:p>
        </p:txBody>
      </p:sp>
      <p:pic>
        <p:nvPicPr>
          <p:cNvPr id="37" name="Image 0" descr="/Users/polina/disPathCuration/presentation/assets/ot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2" y="6234279"/>
            <a:ext cx="1097280" cy="331113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411480" y="64739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CAFA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310896" cy="82296"/>
          </a:xfrm>
          <a:prstGeom prst="rect">
            <a:avLst/>
          </a:prstGeom>
          <a:solidFill>
            <a:srgbClr val="3489CA"/>
          </a:solidFill>
          <a:ln/>
        </p:spPr>
      </p:sp>
      <p:sp>
        <p:nvSpPr>
          <p:cNvPr id="3" name="Text 1"/>
          <p:cNvSpPr/>
          <p:nvPr/>
        </p:nvSpPr>
        <p:spPr>
          <a:xfrm>
            <a:off x="950976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489CA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A CASE WORTH SHOWING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A456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judge caught an error in the ontology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4846320" cy="868680"/>
          </a:xfrm>
          <a:prstGeom prst="roundRect">
            <a:avLst>
              <a:gd name="adj" fmla="val 8421"/>
            </a:avLst>
          </a:prstGeom>
          <a:solidFill>
            <a:srgbClr val="3489CA"/>
          </a:solidFill>
          <a:ln/>
          <a:effectLst>
            <a:outerShdw sx="100000" sy="100000" kx="0" ky="0" algn="bl" rotWithShape="0" blurRad="508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874520"/>
            <a:ext cx="484632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Defective SLC1A3 causes episodic ataxia 6 (EA6)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532120" y="2304288"/>
            <a:ext cx="731520" cy="0"/>
          </a:xfrm>
          <a:prstGeom prst="line">
            <a:avLst/>
          </a:prstGeom>
          <a:noFill/>
          <a:ln w="25400">
            <a:solidFill>
              <a:srgbClr val="1A4565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400800" y="1874520"/>
            <a:ext cx="4846320" cy="868680"/>
          </a:xfrm>
          <a:prstGeom prst="roundRect">
            <a:avLst>
              <a:gd name="adj" fmla="val 8421"/>
            </a:avLst>
          </a:prstGeom>
          <a:solidFill>
            <a:srgbClr val="FF6350"/>
          </a:solidFill>
          <a:ln/>
          <a:effectLst>
            <a:outerShdw sx="100000" sy="100000" kx="0" ky="0" algn="bl" rotWithShape="0" blurRad="508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0" y="1874520"/>
            <a:ext cx="484632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Isaacs syndrome  (EFO_1000638)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7889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F5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three models rejected this pair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3429000"/>
            <a:ext cx="110642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ts val="2400"/>
              </a:lnSpc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Looks like a false reject: Open Targets evidence holds the same pair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evidence made the same error: diseaseFromSource "episodic ataxia"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EFO_1000638 (Isaacs syndrome, a neuromyotonia) carries "episodic ataxia" as an exact synonym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Correct term kept for the same pathway: hereditary episodic ataxia (MONDO_0016227)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5852160"/>
            <a:ext cx="9875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3489CA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The reject list is a candidate list of ontology synonym errors, actionable in EFO.</a:t>
            </a:r>
            <a:endParaRPr lang="en-US" sz="1400" dirty="0"/>
          </a:p>
        </p:txBody>
      </p:sp>
      <p:pic>
        <p:nvPicPr>
          <p:cNvPr id="13" name="Image 0" descr="/Users/polina/disPathCuration/presentation/assets/ot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2" y="6234279"/>
            <a:ext cx="1097280" cy="331113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411480" y="64739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CAFA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310896" cy="82296"/>
          </a:xfrm>
          <a:prstGeom prst="rect">
            <a:avLst/>
          </a:prstGeom>
          <a:solidFill>
            <a:srgbClr val="3489CA"/>
          </a:solidFill>
          <a:ln/>
        </p:spPr>
      </p:sp>
      <p:sp>
        <p:nvSpPr>
          <p:cNvPr id="3" name="Text 1"/>
          <p:cNvSpPr/>
          <p:nvPr/>
        </p:nvSpPr>
        <p:spPr>
          <a:xfrm>
            <a:off x="950976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489CA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ENRICHR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A456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Scaling out to all public pathway libraries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1627632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A5F5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228 Enrichr libraries → curated Pathways category, latest version, excluding Reactome, GO and mouse → 12 libraries. Labels and gene sets ship in one GMT file, so gene membership needs no join.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11064240" cy="475488"/>
          </a:xfrm>
          <a:prstGeom prst="rect">
            <a:avLst/>
          </a:prstGeom>
          <a:solidFill>
            <a:srgbClr val="1A4565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715768"/>
            <a:ext cx="11064240" cy="45720"/>
          </a:xfrm>
          <a:prstGeom prst="rect">
            <a:avLst/>
          </a:prstGeom>
          <a:solidFill>
            <a:srgbClr val="3489CA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2240280"/>
            <a:ext cx="36758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Library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608576" y="2240280"/>
            <a:ext cx="68762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What it is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761488"/>
            <a:ext cx="110642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676656" y="2761488"/>
            <a:ext cx="3675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KEGG_2026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08576" y="2761488"/>
            <a:ext cx="6876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metabolic, signalling and human-disease pathways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218688"/>
            <a:ext cx="11064240" cy="457200"/>
          </a:xfrm>
          <a:prstGeom prst="rect">
            <a:avLst/>
          </a:prstGeom>
          <a:solidFill>
            <a:srgbClr val="EAF2FB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3218688"/>
            <a:ext cx="3675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WikiPathways_2024_Human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08576" y="3218688"/>
            <a:ext cx="6876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community-curated biological pathways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675888"/>
            <a:ext cx="110642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" y="3675888"/>
            <a:ext cx="3675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Elsevier_Pathway_Collection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08576" y="3675888"/>
            <a:ext cx="6876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commercially curated disease-mechanism pathways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133088"/>
            <a:ext cx="11064240" cy="457200"/>
          </a:xfrm>
          <a:prstGeom prst="rect">
            <a:avLst/>
          </a:prstGeom>
          <a:solidFill>
            <a:srgbClr val="EAF2FB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4133088"/>
            <a:ext cx="3675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BioPlanet_2019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608576" y="4133088"/>
            <a:ext cx="6876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NCATS, integrated and deduplicated human pathways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590288"/>
            <a:ext cx="110642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676656" y="4590288"/>
            <a:ext cx="3675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BioCarta / NCI-Nature / Panther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608576" y="4590288"/>
            <a:ext cx="6876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legacy maps, PID signalling, PANTHER classification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5047488"/>
            <a:ext cx="11064240" cy="457200"/>
          </a:xfrm>
          <a:prstGeom prst="rect">
            <a:avLst/>
          </a:prstGeom>
          <a:solidFill>
            <a:srgbClr val="EAF2FB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5047488"/>
            <a:ext cx="3675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HumanCyc / PFOCR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608576" y="5047488"/>
            <a:ext cx="6876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human metabolic pathways, gene sets mined from figures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504688"/>
            <a:ext cx="110642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" y="5504688"/>
            <a:ext cx="3675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MSigDB (3 collections)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608576" y="5504688"/>
            <a:ext cx="6876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hallmark states, computational modules, oncogenic signatures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2240280"/>
            <a:ext cx="11064240" cy="3721608"/>
          </a:xfrm>
          <a:prstGeom prst="rect">
            <a:avLst/>
          </a:prstGeom>
          <a:ln w="9525">
            <a:solidFill>
              <a:srgbClr val="D9DEE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640080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5F5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maayanlab.cloud/Enrichr</a:t>
            </a:r>
            <a:endParaRPr lang="en-US" sz="1200" dirty="0"/>
          </a:p>
        </p:txBody>
      </p:sp>
      <p:pic>
        <p:nvPicPr>
          <p:cNvPr id="33" name="Image 0" descr="/Users/polina/disPathCuration/presentation/assets/ot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2" y="6234279"/>
            <a:ext cx="1097280" cy="331113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411480" y="64739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CAFA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310896" cy="82296"/>
          </a:xfrm>
          <a:prstGeom prst="rect">
            <a:avLst/>
          </a:prstGeom>
          <a:solidFill>
            <a:srgbClr val="3489CA"/>
          </a:solidFill>
          <a:ln/>
        </p:spPr>
      </p:sp>
      <p:sp>
        <p:nvSpPr>
          <p:cNvPr id="3" name="Text 1"/>
          <p:cNvSpPr/>
          <p:nvPr/>
        </p:nvSpPr>
        <p:spPr>
          <a:xfrm>
            <a:off x="950976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489CA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ENRICHR RESULTS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A456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1,118 links across 12 pathway libraries</a:t>
            </a:r>
            <a:endParaRPr lang="en-US" sz="3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828800"/>
          <a:ext cx="64008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7132320" y="201168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ts val="2240"/>
              </a:lnSpc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1,144 matches, 1,118 kept (2.3% rejected)</a:t>
            </a:r>
            <a:endParaRPr lang="en-US" sz="1400" dirty="0"/>
          </a:p>
          <a:p>
            <a:pPr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349 diseases, about 36,700 target-disease pairs</a:t>
            </a:r>
            <a:endParaRPr lang="en-US" sz="1400" dirty="0"/>
          </a:p>
          <a:p>
            <a:pPr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Elsevier: 737 of 1,118, naming convention "X in Disease Y"</a:t>
            </a:r>
            <a:endParaRPr lang="en-US" sz="1400" dirty="0"/>
          </a:p>
          <a:p>
            <a:pPr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PFOCR (21,845 terms): zero, its terms are figure IDs</a:t>
            </a:r>
            <a:endParaRPr lang="en-US" sz="1400" dirty="0"/>
          </a:p>
          <a:p>
            <a:pPr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HumanCyc and MSigDB modules: zero, correctly</a:t>
            </a:r>
            <a:endParaRPr lang="en-US" sz="1400" dirty="0"/>
          </a:p>
          <a:p>
            <a:pPr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Reject rate is Reactome-like, not GO-like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40080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5F5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Enrichr pathway libraries, judged with Claude Sonnet 5.</a:t>
            </a:r>
            <a:endParaRPr lang="en-US" sz="1200" dirty="0"/>
          </a:p>
        </p:txBody>
      </p:sp>
      <p:pic>
        <p:nvPicPr>
          <p:cNvPr id="8" name="Image 0" descr="/Users/polina/disPathCuration/presentation/assets/ot-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0192" y="6234279"/>
            <a:ext cx="1097280" cy="33111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11480" y="64739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CAFA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310896" cy="82296"/>
          </a:xfrm>
          <a:prstGeom prst="rect">
            <a:avLst/>
          </a:prstGeom>
          <a:solidFill>
            <a:srgbClr val="3489CA"/>
          </a:solidFill>
          <a:ln/>
        </p:spPr>
      </p:sp>
      <p:sp>
        <p:nvSpPr>
          <p:cNvPr id="3" name="Text 1"/>
          <p:cNvSpPr/>
          <p:nvPr/>
        </p:nvSpPr>
        <p:spPr>
          <a:xfrm>
            <a:off x="950976" y="3840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489CA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A456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Why integrate this pipeline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94360" y="2002536"/>
            <a:ext cx="457200" cy="457200"/>
          </a:xfrm>
          <a:prstGeom prst="ellipse">
            <a:avLst/>
          </a:prstGeom>
          <a:solidFill>
            <a:srgbClr val="3489CA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196596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Scale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114800" y="196596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258 new links, 600 to 900 new target-disease pairs, 44 specificity fixes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234440" y="2569464"/>
            <a:ext cx="10195560" cy="0"/>
          </a:xfrm>
          <a:prstGeom prst="line">
            <a:avLst/>
          </a:prstGeom>
          <a:noFill/>
          <a:ln w="12700">
            <a:solidFill>
              <a:srgbClr val="E4E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" y="2843784"/>
            <a:ext cx="457200" cy="457200"/>
          </a:xfrm>
          <a:prstGeom prst="ellipse">
            <a:avLst/>
          </a:prstGeom>
          <a:solidFill>
            <a:srgbClr val="3489CA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2843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34440" y="2807208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No new data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114800" y="2807208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from datasets Open Targets already ships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234440" y="3410712"/>
            <a:ext cx="10195560" cy="0"/>
          </a:xfrm>
          <a:prstGeom prst="line">
            <a:avLst/>
          </a:prstGeom>
          <a:noFill/>
          <a:ln w="12700">
            <a:solidFill>
              <a:srgbClr val="E4E9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" y="3685032"/>
            <a:ext cx="457200" cy="457200"/>
          </a:xfrm>
          <a:prstGeom prst="ellipse">
            <a:avLst/>
          </a:prstGeom>
          <a:solidFill>
            <a:srgbClr val="3489CA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34440" y="3648456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Already extended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114800" y="3648456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GO: 141 kept.  12 Enrichr libraries: 1,118 kept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1234440" y="4251960"/>
            <a:ext cx="10195560" cy="0"/>
          </a:xfrm>
          <a:prstGeom prst="line">
            <a:avLst/>
          </a:prstGeom>
          <a:noFill/>
          <a:ln w="12700">
            <a:solidFill>
              <a:srgbClr val="E4E9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526280"/>
            <a:ext cx="457200" cy="457200"/>
          </a:xfrm>
          <a:prstGeom prst="ellipse">
            <a:avLst/>
          </a:prstGeom>
          <a:solidFill>
            <a:srgbClr val="3489CA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34440" y="4489704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Universal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114800" y="4489704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New gene-set resources plug in with no method change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234440" y="5093208"/>
            <a:ext cx="10195560" cy="0"/>
          </a:xfrm>
          <a:prstGeom prst="line">
            <a:avLst/>
          </a:prstGeom>
          <a:noFill/>
          <a:ln w="12700">
            <a:solidFill>
              <a:srgbClr val="E4E9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5367528"/>
            <a:ext cx="457200" cy="457200"/>
          </a:xfrm>
          <a:prstGeom prst="ellipse">
            <a:avLst/>
          </a:prstGeom>
          <a:solidFill>
            <a:srgbClr val="3489C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5367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234440" y="5330952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4565"/>
                </a:solidFill>
                <a:latin typeface="Roboto Medium" pitchFamily="34" charset="0"/>
                <a:ea typeface="Roboto Medium" pitchFamily="34" charset="-122"/>
                <a:cs typeface="Roboto Medium" pitchFamily="34" charset="-120"/>
              </a:rPr>
              <a:t>Demonstrated need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114800" y="5330952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Neuroflux and Neuroid, where coverage was limiting</a:t>
            </a:r>
            <a:endParaRPr lang="en-US" sz="1500" dirty="0"/>
          </a:p>
        </p:txBody>
      </p:sp>
      <p:pic>
        <p:nvPicPr>
          <p:cNvPr id="29" name="Image 0" descr="/Users/polina/disPathCuration/presentation/assets/ot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2" y="6234279"/>
            <a:ext cx="1097280" cy="331113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411480" y="64739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CAFA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Automatic curation of disease pathways</dc:title>
  <dc:subject>PptxGenJS Presentation</dc:subject>
  <dc:creator>Polina Rusina</dc:creator>
  <cp:lastModifiedBy>Polina Rusina</cp:lastModifiedBy>
  <cp:revision>1</cp:revision>
  <dcterms:created xsi:type="dcterms:W3CDTF">2026-08-18T11:37:08Z</dcterms:created>
  <dcterms:modified xsi:type="dcterms:W3CDTF">2026-08-18T11:37:08Z</dcterms:modified>
</cp:coreProperties>
</file>