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Roboto"/>
      <p:regular r:id="rId31"/>
      <p:bold r:id="rId32"/>
    </p:embeddedFont>
    <p:embeddedFont>
      <p:font typeface="Roboto Medium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Pathway-disease links kept</c:v>
                </c:pt>
              </c:strCache>
            </c:strRef>
          </c:tx>
          <c:spPr>
            <a:solidFill>
              <a:srgbClr val="3489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5F5F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Elsevier</c:v>
                  </c:pt>
                  <c:pt idx="1">
                    <c:v>WikiPathways</c:v>
                  </c:pt>
                  <c:pt idx="2">
                    <c:v>BioPlanet</c:v>
                  </c:pt>
                  <c:pt idx="3">
                    <c:v>KEGG</c:v>
                  </c:pt>
                  <c:pt idx="4">
                    <c:v>BioCarta</c:v>
                  </c:pt>
                  <c:pt idx="5">
                    <c:v>Panther</c:v>
                  </c:pt>
                  <c:pt idx="6">
                    <c:v>NCI-Nature</c:v>
                  </c:pt>
                  <c:pt idx="7">
                    <c:v>MSigDB Hallmark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737</c:v>
                </c:pt>
                <c:pt idx="1">
                  <c:v>179</c:v>
                </c:pt>
                <c:pt idx="2">
                  <c:v>91</c:v>
                </c:pt>
                <c:pt idx="3">
                  <c:v>88</c:v>
                </c:pt>
                <c:pt idx="4">
                  <c:v>13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5F5F"/>
                  </a:solidFill>
                  <a:latin typeface="Robo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5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ina/disPathCuration/presentation/assets/ot-title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polina/disPathCuration/presentation/assets/ot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828800" cy="5518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1945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of disease pathways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777240" y="4480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Polina Rusina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12188952" y="822960"/>
                </a:moveTo>
                <a:lnTo>
                  <a:pt x="12188952" y="6858000"/>
                </a:lnTo>
                <a:lnTo>
                  <a:pt x="5119360" y="6858000"/>
                </a:lnTo>
                <a:close/>
              </a:path>
            </a:pathLst>
          </a:custGeom>
          <a:solidFill>
            <a:srgbClr val="1A456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432304"/>
            <a:ext cx="256032" cy="256032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2743200"/>
            <a:ext cx="6583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target-disease evidence extraction from Reactome pathways</a:t>
            </a:r>
            <a:endParaRPr lang="en-US" sz="3400" dirty="0"/>
          </a:p>
        </p:txBody>
      </p:sp>
      <p:pic>
        <p:nvPicPr>
          <p:cNvPr id="6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73736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73736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" y="635391"/>
            <a:ext cx="187737" cy="1101969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6" name="Shape 4"/>
          <p:cNvSpPr/>
          <p:nvPr/>
        </p:nvSpPr>
        <p:spPr>
          <a:xfrm>
            <a:off x="302597" y="877425"/>
            <a:ext cx="265274" cy="85993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7" name="Shape 5"/>
          <p:cNvSpPr/>
          <p:nvPr/>
        </p:nvSpPr>
        <p:spPr>
          <a:xfrm>
            <a:off x="594507" y="636395"/>
            <a:ext cx="249383" cy="110096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879637" y="918735"/>
            <a:ext cx="158491" cy="8186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1062422" y="849936"/>
            <a:ext cx="234149" cy="8874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1330202" y="822508"/>
            <a:ext cx="186428" cy="91485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Shape 9"/>
          <p:cNvSpPr/>
          <p:nvPr/>
        </p:nvSpPr>
        <p:spPr>
          <a:xfrm>
            <a:off x="1544247" y="811223"/>
            <a:ext cx="264856" cy="92613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9582" y="508162"/>
            <a:ext cx="222255" cy="122919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78685" y="418341"/>
            <a:ext cx="228426" cy="131901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6927" y="647201"/>
            <a:ext cx="143939" cy="1090159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3457" y="772681"/>
            <a:ext cx="182266" cy="96467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15054" y="651287"/>
            <a:ext cx="262064" cy="108607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8692" y="731968"/>
            <a:ext cx="186302" cy="100539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27659" y="876832"/>
            <a:ext cx="213178" cy="86052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2396" y="514465"/>
            <a:ext cx="246458" cy="122289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" name="Shape 18"/>
          <p:cNvSpPr/>
          <p:nvPr/>
        </p:nvSpPr>
        <p:spPr>
          <a:xfrm>
            <a:off x="3747436" y="542207"/>
            <a:ext cx="159135" cy="11951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946838" y="448851"/>
            <a:ext cx="232407" cy="128850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5717" y="428400"/>
            <a:ext cx="177649" cy="1308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09917" y="539062"/>
            <a:ext cx="181097" cy="119829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118" y="725352"/>
            <a:ext cx="175761" cy="10120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7924" y="844085"/>
            <a:ext cx="163070" cy="89327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6" name="Shape 24"/>
          <p:cNvSpPr/>
          <p:nvPr/>
        </p:nvSpPr>
        <p:spPr>
          <a:xfrm>
            <a:off x="5015260" y="827110"/>
            <a:ext cx="189074" cy="9102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7" name="Shape 25"/>
          <p:cNvSpPr/>
          <p:nvPr/>
        </p:nvSpPr>
        <p:spPr>
          <a:xfrm>
            <a:off x="5237673" y="405005"/>
            <a:ext cx="260229" cy="133235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525846" y="508868"/>
            <a:ext cx="243790" cy="12284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9" name="Shape 27"/>
          <p:cNvSpPr/>
          <p:nvPr/>
        </p:nvSpPr>
        <p:spPr>
          <a:xfrm>
            <a:off x="5794827" y="955504"/>
            <a:ext cx="243564" cy="78185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0" name="Shape 28"/>
          <p:cNvSpPr/>
          <p:nvPr/>
        </p:nvSpPr>
        <p:spPr>
          <a:xfrm>
            <a:off x="6062782" y="785113"/>
            <a:ext cx="193029" cy="9522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4101" y="675685"/>
            <a:ext cx="185283" cy="10616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04559" y="480368"/>
            <a:ext cx="213231" cy="125699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744093" y="666349"/>
            <a:ext cx="222266" cy="107101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4" name="Shape 32"/>
          <p:cNvSpPr/>
          <p:nvPr/>
        </p:nvSpPr>
        <p:spPr>
          <a:xfrm>
            <a:off x="7001153" y="418044"/>
            <a:ext cx="177556" cy="131931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11080" y="899667"/>
            <a:ext cx="156636" cy="83769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3322" y="487246"/>
            <a:ext cx="238014" cy="12501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7685914" y="953304"/>
            <a:ext cx="265062" cy="78405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7988271" y="926117"/>
            <a:ext cx="147435" cy="81124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9" name="Shape 37"/>
          <p:cNvSpPr/>
          <p:nvPr/>
        </p:nvSpPr>
        <p:spPr>
          <a:xfrm>
            <a:off x="8166282" y="425654"/>
            <a:ext cx="162092" cy="13117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Shape 38"/>
          <p:cNvSpPr/>
          <p:nvPr/>
        </p:nvSpPr>
        <p:spPr>
          <a:xfrm>
            <a:off x="8361310" y="451637"/>
            <a:ext cx="201635" cy="128572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1" name="Shape 39"/>
          <p:cNvSpPr/>
          <p:nvPr/>
        </p:nvSpPr>
        <p:spPr>
          <a:xfrm>
            <a:off x="8586601" y="732954"/>
            <a:ext cx="243825" cy="100440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2" name="Shape 40"/>
          <p:cNvSpPr/>
          <p:nvPr/>
        </p:nvSpPr>
        <p:spPr>
          <a:xfrm>
            <a:off x="8874607" y="873664"/>
            <a:ext cx="235635" cy="86369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3" name="Shape 41"/>
          <p:cNvSpPr/>
          <p:nvPr/>
        </p:nvSpPr>
        <p:spPr>
          <a:xfrm>
            <a:off x="9138739" y="918227"/>
            <a:ext cx="225488" cy="81913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4" name="Shape 42"/>
          <p:cNvSpPr/>
          <p:nvPr/>
        </p:nvSpPr>
        <p:spPr>
          <a:xfrm>
            <a:off x="9385256" y="618449"/>
            <a:ext cx="240074" cy="111891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5" name="Shape 43"/>
          <p:cNvSpPr/>
          <p:nvPr/>
        </p:nvSpPr>
        <p:spPr>
          <a:xfrm>
            <a:off x="9663699" y="511388"/>
            <a:ext cx="259345" cy="12259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8085" y="405662"/>
            <a:ext cx="266111" cy="133169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60807" y="936597"/>
            <a:ext cx="243812" cy="8007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45119" y="669539"/>
            <a:ext cx="167444" cy="106782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34686" y="931442"/>
            <a:ext cx="204123" cy="80591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74737" y="928834"/>
            <a:ext cx="139572" cy="80852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51" name="Shape 49"/>
          <p:cNvSpPr/>
          <p:nvPr/>
        </p:nvSpPr>
        <p:spPr>
          <a:xfrm>
            <a:off x="11136297" y="718060"/>
            <a:ext cx="235811" cy="10193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15371" y="538668"/>
            <a:ext cx="273226" cy="11986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53" name="Shape 51"/>
          <p:cNvSpPr/>
          <p:nvPr/>
        </p:nvSpPr>
        <p:spPr>
          <a:xfrm>
            <a:off x="11731544" y="753022"/>
            <a:ext cx="148140" cy="98433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52"/>
          <p:cNvSpPr/>
          <p:nvPr/>
        </p:nvSpPr>
        <p:spPr>
          <a:xfrm>
            <a:off x="11900742" y="824256"/>
            <a:ext cx="219235" cy="91310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31699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56" name="Shape 54"/>
          <p:cNvSpPr/>
          <p:nvPr/>
        </p:nvSpPr>
        <p:spPr>
          <a:xfrm>
            <a:off x="5486400" y="316995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3680" y="316995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58" name="Shape 56"/>
          <p:cNvSpPr/>
          <p:nvPr/>
        </p:nvSpPr>
        <p:spPr>
          <a:xfrm>
            <a:off x="73152" y="21578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668" y="20921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3818" y="1935292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1" name="Shape 59"/>
          <p:cNvSpPr/>
          <p:nvPr/>
        </p:nvSpPr>
        <p:spPr>
          <a:xfrm>
            <a:off x="731764" y="2230332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2" name="Shape 60"/>
          <p:cNvSpPr/>
          <p:nvPr/>
        </p:nvSpPr>
        <p:spPr>
          <a:xfrm>
            <a:off x="980579" y="21928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3" name="Shape 61"/>
          <p:cNvSpPr/>
          <p:nvPr/>
        </p:nvSpPr>
        <p:spPr>
          <a:xfrm>
            <a:off x="1270872" y="19456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64" name="Shape 62"/>
          <p:cNvSpPr/>
          <p:nvPr/>
        </p:nvSpPr>
        <p:spPr>
          <a:xfrm>
            <a:off x="1445973" y="18866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5" name="Shape 63"/>
          <p:cNvSpPr/>
          <p:nvPr/>
        </p:nvSpPr>
        <p:spPr>
          <a:xfrm>
            <a:off x="1711978" y="21588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6" name="Shape 64"/>
          <p:cNvSpPr/>
          <p:nvPr/>
        </p:nvSpPr>
        <p:spPr>
          <a:xfrm>
            <a:off x="1960894" y="22123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7" name="Shape 65"/>
          <p:cNvSpPr/>
          <p:nvPr/>
        </p:nvSpPr>
        <p:spPr>
          <a:xfrm>
            <a:off x="2158227" y="20086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68" name="Shape 66"/>
          <p:cNvSpPr/>
          <p:nvPr/>
        </p:nvSpPr>
        <p:spPr>
          <a:xfrm>
            <a:off x="2350165" y="23082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9" name="Shape 67"/>
          <p:cNvSpPr/>
          <p:nvPr/>
        </p:nvSpPr>
        <p:spPr>
          <a:xfrm>
            <a:off x="2574595" y="19057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0" name="Shape 68"/>
          <p:cNvSpPr/>
          <p:nvPr/>
        </p:nvSpPr>
        <p:spPr>
          <a:xfrm>
            <a:off x="3218688" y="21121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1" name="Shape 69"/>
          <p:cNvSpPr/>
          <p:nvPr/>
        </p:nvSpPr>
        <p:spPr>
          <a:xfrm>
            <a:off x="3406114" y="22250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2" name="Shape 70"/>
          <p:cNvSpPr/>
          <p:nvPr/>
        </p:nvSpPr>
        <p:spPr>
          <a:xfrm>
            <a:off x="3698963" y="19187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3" name="Shape 71"/>
          <p:cNvSpPr/>
          <p:nvPr/>
        </p:nvSpPr>
        <p:spPr>
          <a:xfrm>
            <a:off x="3903492" y="22469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74" name="Shape 72"/>
          <p:cNvSpPr/>
          <p:nvPr/>
        </p:nvSpPr>
        <p:spPr>
          <a:xfrm>
            <a:off x="4590288" y="20679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5" name="Shape 73"/>
          <p:cNvSpPr/>
          <p:nvPr/>
        </p:nvSpPr>
        <p:spPr>
          <a:xfrm>
            <a:off x="5285232" y="21930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6" name="Shape 74"/>
          <p:cNvSpPr/>
          <p:nvPr/>
        </p:nvSpPr>
        <p:spPr>
          <a:xfrm>
            <a:off x="5505540" y="22905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77" name="Shape 75"/>
          <p:cNvSpPr/>
          <p:nvPr/>
        </p:nvSpPr>
        <p:spPr>
          <a:xfrm>
            <a:off x="5697925" y="18813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78" name="Shape 76"/>
          <p:cNvSpPr/>
          <p:nvPr/>
        </p:nvSpPr>
        <p:spPr>
          <a:xfrm>
            <a:off x="5958277" y="19638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9" name="Shape 77"/>
          <p:cNvSpPr/>
          <p:nvPr/>
        </p:nvSpPr>
        <p:spPr>
          <a:xfrm>
            <a:off x="6156310" y="22020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80" name="Shape 78"/>
          <p:cNvSpPr/>
          <p:nvPr/>
        </p:nvSpPr>
        <p:spPr>
          <a:xfrm>
            <a:off x="6454775" y="23733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81" name="Shape 79"/>
          <p:cNvSpPr/>
          <p:nvPr/>
        </p:nvSpPr>
        <p:spPr>
          <a:xfrm>
            <a:off x="6658351" y="22924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2" name="Shape 80"/>
          <p:cNvSpPr/>
          <p:nvPr/>
        </p:nvSpPr>
        <p:spPr>
          <a:xfrm>
            <a:off x="6957140" y="19735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3" name="Shape 81"/>
          <p:cNvSpPr/>
          <p:nvPr/>
        </p:nvSpPr>
        <p:spPr>
          <a:xfrm>
            <a:off x="7137331" y="19521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84" name="Shape 82"/>
          <p:cNvSpPr/>
          <p:nvPr/>
        </p:nvSpPr>
        <p:spPr>
          <a:xfrm>
            <a:off x="7401751" y="18427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5" name="Shape 83"/>
          <p:cNvSpPr/>
          <p:nvPr/>
        </p:nvSpPr>
        <p:spPr>
          <a:xfrm>
            <a:off x="7572815" y="18728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6" name="Shape 84"/>
          <p:cNvSpPr/>
          <p:nvPr/>
        </p:nvSpPr>
        <p:spPr>
          <a:xfrm>
            <a:off x="7740033" y="23520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7" name="Shape 85"/>
          <p:cNvSpPr/>
          <p:nvPr/>
        </p:nvSpPr>
        <p:spPr>
          <a:xfrm>
            <a:off x="7949241" y="21310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8" name="Shape 86"/>
          <p:cNvSpPr/>
          <p:nvPr/>
        </p:nvSpPr>
        <p:spPr>
          <a:xfrm>
            <a:off x="8186917" y="20651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9" name="Shape 87"/>
          <p:cNvSpPr/>
          <p:nvPr/>
        </p:nvSpPr>
        <p:spPr>
          <a:xfrm>
            <a:off x="8480476" y="23465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0" name="Shape 88"/>
          <p:cNvSpPr/>
          <p:nvPr/>
        </p:nvSpPr>
        <p:spPr>
          <a:xfrm>
            <a:off x="8723682" y="22731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1" name="Shape 89"/>
          <p:cNvSpPr/>
          <p:nvPr/>
        </p:nvSpPr>
        <p:spPr>
          <a:xfrm>
            <a:off x="8955039" y="23721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2" name="Shape 90"/>
          <p:cNvSpPr/>
          <p:nvPr/>
        </p:nvSpPr>
        <p:spPr>
          <a:xfrm>
            <a:off x="9206252" y="18553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3" name="Shape 91"/>
          <p:cNvSpPr/>
          <p:nvPr/>
        </p:nvSpPr>
        <p:spPr>
          <a:xfrm>
            <a:off x="9430863" y="23810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4" name="Shape 92"/>
          <p:cNvSpPr/>
          <p:nvPr/>
        </p:nvSpPr>
        <p:spPr>
          <a:xfrm>
            <a:off x="9701726" y="23097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5" name="Shape 93"/>
          <p:cNvSpPr/>
          <p:nvPr/>
        </p:nvSpPr>
        <p:spPr>
          <a:xfrm>
            <a:off x="9954705" y="23522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6" name="Shape 94"/>
          <p:cNvSpPr/>
          <p:nvPr/>
        </p:nvSpPr>
        <p:spPr>
          <a:xfrm>
            <a:off x="10237046" y="19764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7" name="Shape 95"/>
          <p:cNvSpPr/>
          <p:nvPr/>
        </p:nvSpPr>
        <p:spPr>
          <a:xfrm>
            <a:off x="10547529" y="20869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8" name="Shape 96"/>
          <p:cNvSpPr/>
          <p:nvPr/>
        </p:nvSpPr>
        <p:spPr>
          <a:xfrm>
            <a:off x="10762198" y="21307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9" name="Shape 97"/>
          <p:cNvSpPr/>
          <p:nvPr/>
        </p:nvSpPr>
        <p:spPr>
          <a:xfrm>
            <a:off x="11023797" y="23235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197635" y="22696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501910" y="18490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709943" y="21660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994182" y="19442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0" y="46025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486400" y="460254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83680" y="460254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3152" y="36185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47760" y="37233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20439" y="33033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4109" y="33763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78716" y="33168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48857" y="34035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437274" y="33897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641149" y="38190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824298" y="36289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086211" y="33165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342116" y="35245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538728" y="37560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725381" y="34551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903288" y="34269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091242" y="33219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910328" y="34687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122726" y="35452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395433" y="33882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627714" y="35229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892347" y="37295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175865" y="35414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423980" y="32791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596924" y="34840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810631" y="33114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009582" y="34004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195385" y="32912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480298" y="37271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770762" y="36275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038949" y="34878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234696" y="35731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509536" y="32777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710898" y="33402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013174" y="33935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232701" y="36303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449466" y="33445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717448" y="37108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910779" y="33138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163993" y="37078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335487" y="35985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586377" y="37460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888387" y="37321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1074591" y="33365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1264617" y="35550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1468076" y="32800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1722004" y="33996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1992993" y="32828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0" y="60351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486400" y="603513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583680" y="603513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3152" y="48217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57" name="Shape 155"/>
          <p:cNvSpPr/>
          <p:nvPr/>
        </p:nvSpPr>
        <p:spPr>
          <a:xfrm>
            <a:off x="246694" y="52223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06524" y="4984444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55293" y="49612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92730" y="50487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172199" y="49729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385957" y="50533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644089" y="49516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884516" y="50716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2180290" y="49353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2480280" y="51838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3364992" y="50925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581778" y="50005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315968" y="47802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4561103" y="47220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835269" y="48479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5114948" y="51198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395088" y="50225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5635988" y="52103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5948769" y="51806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76" name="Shape 174"/>
          <p:cNvSpPr/>
          <p:nvPr/>
        </p:nvSpPr>
        <p:spPr>
          <a:xfrm>
            <a:off x="6255241" y="49024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441932" y="51459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6698423" y="50881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880623" y="46967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046013" y="50809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303681" y="49562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550563" y="48387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830746" y="49269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039302" y="51661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216712" y="50781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6" name="Shape 184"/>
          <p:cNvSpPr/>
          <p:nvPr/>
        </p:nvSpPr>
        <p:spPr>
          <a:xfrm>
            <a:off x="8445106" y="47635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7" name="Shape 185"/>
          <p:cNvSpPr/>
          <p:nvPr/>
        </p:nvSpPr>
        <p:spPr>
          <a:xfrm>
            <a:off x="8647690" y="49432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8" name="Shape 186"/>
          <p:cNvSpPr/>
          <p:nvPr/>
        </p:nvSpPr>
        <p:spPr>
          <a:xfrm>
            <a:off x="8826759" y="48944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9" name="Shape 187"/>
          <p:cNvSpPr/>
          <p:nvPr/>
        </p:nvSpPr>
        <p:spPr>
          <a:xfrm>
            <a:off x="9097006" y="49354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296838" y="52296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607242" y="50085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836664" y="50422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023854" y="47001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252055" y="52171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0449091" y="51238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0743079" y="48398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969182" y="49729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1201867" y="48353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9" name="Shape 197"/>
          <p:cNvSpPr/>
          <p:nvPr/>
        </p:nvSpPr>
        <p:spPr>
          <a:xfrm>
            <a:off x="11484607" y="47094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1659356" y="50537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1842337" y="47643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2049871" y="50033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3" name="Shape 201"/>
          <p:cNvSpPr/>
          <p:nvPr/>
        </p:nvSpPr>
        <p:spPr>
          <a:xfrm>
            <a:off x="5486400" y="17373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204" name="Shape 202"/>
          <p:cNvSpPr/>
          <p:nvPr/>
        </p:nvSpPr>
        <p:spPr>
          <a:xfrm>
            <a:off x="2788920" y="1844070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05" name="Text 203"/>
          <p:cNvSpPr/>
          <p:nvPr/>
        </p:nvSpPr>
        <p:spPr>
          <a:xfrm rot="16200000">
            <a:off x="2327148" y="230584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Your 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06" name="Shape 204"/>
          <p:cNvSpPr/>
          <p:nvPr/>
        </p:nvSpPr>
        <p:spPr>
          <a:xfrm>
            <a:off x="4160520" y="1844070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07" name="Text 205"/>
          <p:cNvSpPr/>
          <p:nvPr/>
        </p:nvSpPr>
        <p:spPr>
          <a:xfrm rot="16200000">
            <a:off x="3698748" y="230584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Dance with 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3108960" y="3276661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09" name="Text 207"/>
          <p:cNvSpPr/>
          <p:nvPr/>
        </p:nvSpPr>
        <p:spPr>
          <a:xfrm rot="16200000">
            <a:off x="2647188" y="3738433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200" dirty="0"/>
          </a:p>
        </p:txBody>
      </p:sp>
      <p:sp>
        <p:nvSpPr>
          <p:cNvPr id="210" name="Shape 208"/>
          <p:cNvSpPr/>
          <p:nvPr/>
        </p:nvSpPr>
        <p:spPr>
          <a:xfrm>
            <a:off x="4480560" y="3276661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11" name="Text 209"/>
          <p:cNvSpPr/>
          <p:nvPr/>
        </p:nvSpPr>
        <p:spPr>
          <a:xfrm rot="16200000">
            <a:off x="4018788" y="3738433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1200" dirty="0"/>
          </a:p>
        </p:txBody>
      </p:sp>
      <p:sp>
        <p:nvSpPr>
          <p:cNvPr id="212" name="Shape 210"/>
          <p:cNvSpPr/>
          <p:nvPr/>
        </p:nvSpPr>
        <p:spPr>
          <a:xfrm>
            <a:off x="3886200" y="4709251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13" name="Text 211"/>
          <p:cNvSpPr/>
          <p:nvPr/>
        </p:nvSpPr>
        <p:spPr>
          <a:xfrm rot="16200000">
            <a:off x="3424428" y="5171023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14" name="Shape 212"/>
          <p:cNvSpPr/>
          <p:nvPr/>
        </p:nvSpPr>
        <p:spPr>
          <a:xfrm>
            <a:off x="1714500" y="45501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</p:sp>
      <p:sp>
        <p:nvSpPr>
          <p:cNvPr id="215" name="Shape 213"/>
          <p:cNvSpPr/>
          <p:nvPr/>
        </p:nvSpPr>
        <p:spPr>
          <a:xfrm>
            <a:off x="2006194" y="45501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489100" y="3542477"/>
            <a:ext cx="159106" cy="875081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</p:sp>
      <p:sp>
        <p:nvSpPr>
          <p:cNvPr id="217" name="Shape 215"/>
          <p:cNvSpPr/>
          <p:nvPr/>
        </p:nvSpPr>
        <p:spPr>
          <a:xfrm>
            <a:off x="2244852" y="3542477"/>
            <a:ext cx="159106" cy="875081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</p:sp>
      <p:sp>
        <p:nvSpPr>
          <p:cNvPr id="218" name="Shape 216"/>
          <p:cNvSpPr/>
          <p:nvPr/>
        </p:nvSpPr>
        <p:spPr>
          <a:xfrm>
            <a:off x="1648206" y="3436407"/>
            <a:ext cx="583387" cy="1140257"/>
          </a:xfrm>
          <a:prstGeom prst="roundRect">
            <a:avLst>
              <a:gd name="adj" fmla="val 36364"/>
            </a:avLst>
          </a:prstGeom>
          <a:solidFill>
            <a:srgbClr val="1A4565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714500" y="2879537"/>
            <a:ext cx="450799" cy="450799"/>
          </a:xfrm>
          <a:prstGeom prst="ellipse">
            <a:avLst/>
          </a:prstGeom>
          <a:solidFill>
            <a:srgbClr val="1A4565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234440" y="4206240"/>
            <a:ext cx="1417320" cy="292608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1" name="Text 219"/>
          <p:cNvSpPr/>
          <p:nvPr/>
        </p:nvSpPr>
        <p:spPr>
          <a:xfrm>
            <a:off x="1271016" y="4206240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22" name="Shape 220"/>
          <p:cNvSpPr/>
          <p:nvPr/>
        </p:nvSpPr>
        <p:spPr>
          <a:xfrm>
            <a:off x="1234440" y="4535424"/>
            <a:ext cx="1417320" cy="292608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3" name="Text 221"/>
          <p:cNvSpPr/>
          <p:nvPr/>
        </p:nvSpPr>
        <p:spPr>
          <a:xfrm>
            <a:off x="1271016" y="4535424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Rider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1234440" y="4864608"/>
            <a:ext cx="1417320" cy="292608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5" name="Text 223"/>
          <p:cNvSpPr/>
          <p:nvPr/>
        </p:nvSpPr>
        <p:spPr>
          <a:xfrm>
            <a:off x="1271016" y="4864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Last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1197864" y="5184648"/>
            <a:ext cx="1490472" cy="155448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949440" y="2121408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228" name="Text 226"/>
          <p:cNvSpPr/>
          <p:nvPr/>
        </p:nvSpPr>
        <p:spPr>
          <a:xfrm>
            <a:off x="69494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229" name="Text 227"/>
          <p:cNvSpPr/>
          <p:nvPr/>
        </p:nvSpPr>
        <p:spPr>
          <a:xfrm>
            <a:off x="7516368" y="20939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Curation is incomplete</a:t>
            </a:r>
            <a:endParaRPr lang="en-US" sz="1700" dirty="0"/>
          </a:p>
        </p:txBody>
      </p:sp>
      <p:sp>
        <p:nvSpPr>
          <p:cNvPr id="230" name="Text 228"/>
          <p:cNvSpPr/>
          <p:nvPr/>
        </p:nvSpPr>
        <p:spPr>
          <a:xfrm>
            <a:off x="7516368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that name a disease, and nothing follows</a:t>
            </a:r>
            <a:endParaRPr lang="en-US" sz="1300" dirty="0"/>
          </a:p>
        </p:txBody>
      </p:sp>
      <p:sp>
        <p:nvSpPr>
          <p:cNvPr id="231" name="Shape 229"/>
          <p:cNvSpPr/>
          <p:nvPr/>
        </p:nvSpPr>
        <p:spPr>
          <a:xfrm>
            <a:off x="6949440" y="3557016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232" name="Text 230"/>
          <p:cNvSpPr/>
          <p:nvPr/>
        </p:nvSpPr>
        <p:spPr>
          <a:xfrm>
            <a:off x="69494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33" name="Text 231"/>
          <p:cNvSpPr/>
          <p:nvPr/>
        </p:nvSpPr>
        <p:spPr>
          <a:xfrm>
            <a:off x="7516368" y="35295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has stopped</a:t>
            </a:r>
            <a:endParaRPr lang="en-US" sz="1700" dirty="0"/>
          </a:p>
        </p:txBody>
      </p:sp>
      <p:sp>
        <p:nvSpPr>
          <p:cNvPr id="234" name="Text 232"/>
          <p:cNvSpPr/>
          <p:nvPr/>
        </p:nvSpPr>
        <p:spPr>
          <a:xfrm>
            <a:off x="7516368" y="3904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 left EMBL-EBI, so nothing new is added</a:t>
            </a:r>
            <a:endParaRPr lang="en-US" sz="1300" dirty="0"/>
          </a:p>
        </p:txBody>
      </p:sp>
      <p:sp>
        <p:nvSpPr>
          <p:cNvPr id="235" name="Shape 233"/>
          <p:cNvSpPr/>
          <p:nvPr/>
        </p:nvSpPr>
        <p:spPr>
          <a:xfrm>
            <a:off x="6949440" y="499262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236" name="Text 234"/>
          <p:cNvSpPr/>
          <p:nvPr/>
        </p:nvSpPr>
        <p:spPr>
          <a:xfrm>
            <a:off x="6949440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37" name="Text 235"/>
          <p:cNvSpPr/>
          <p:nvPr/>
        </p:nvSpPr>
        <p:spPr>
          <a:xfrm>
            <a:off x="7516368" y="49651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is one library of many</a:t>
            </a:r>
            <a:endParaRPr lang="en-US" sz="1700" dirty="0"/>
          </a:p>
        </p:txBody>
      </p:sp>
      <p:sp>
        <p:nvSpPr>
          <p:cNvPr id="238" name="Text 236"/>
          <p:cNvSpPr/>
          <p:nvPr/>
        </p:nvSpPr>
        <p:spPr>
          <a:xfrm>
            <a:off x="7516368" y="53400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pathway database is untouched</a:t>
            </a:r>
            <a:endParaRPr lang="en-US" sz="1300" dirty="0"/>
          </a:p>
        </p:txBody>
      </p:sp>
      <p:sp>
        <p:nvSpPr>
          <p:cNvPr id="239" name="Text 237"/>
          <p:cNvSpPr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gaps in pathway-derived evidence</a:t>
            </a:r>
            <a:endParaRPr lang="en-US" sz="3600" dirty="0"/>
          </a:p>
        </p:txBody>
      </p:sp>
      <p:pic>
        <p:nvPicPr>
          <p:cNvPr id="240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of disease pathways from Reactome</a:t>
            </a:r>
            <a:endParaRPr lang="en-US" sz="2800" dirty="0"/>
          </a:p>
        </p:txBody>
      </p:sp>
      <p:pic>
        <p:nvPicPr>
          <p:cNvPr id="5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86000"/>
            <a:ext cx="2539746" cy="2834640"/>
          </a:xfrm>
          <a:prstGeom prst="roundRect">
            <a:avLst>
              <a:gd name="adj" fmla="val 2160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371600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371600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names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88386" y="1714500"/>
            <a:ext cx="310896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99282" y="2286000"/>
            <a:ext cx="2539746" cy="2834640"/>
          </a:xfrm>
          <a:prstGeom prst="roundRect">
            <a:avLst>
              <a:gd name="adj" fmla="val 2160"/>
            </a:avLst>
          </a:prstGeom>
          <a:solidFill>
            <a:srgbClr val="F4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3399282" y="1371600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99282" y="1371600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Find in label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39028" y="1714500"/>
            <a:ext cx="310896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49924" y="2286000"/>
            <a:ext cx="2539746" cy="2834640"/>
          </a:xfrm>
          <a:prstGeom prst="roundRect">
            <a:avLst>
              <a:gd name="adj" fmla="val 2160"/>
            </a:avLst>
          </a:prstGeom>
          <a:solidFill>
            <a:srgbClr val="F4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249924" y="1371600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FF6350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49924" y="1371600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Check in context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12430" y="117043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1A4565"/>
          </a:solidFill>
          <a:ln/>
        </p:spPr>
      </p:sp>
      <p:sp>
        <p:nvSpPr>
          <p:cNvPr id="18" name="Text 15"/>
          <p:cNvSpPr/>
          <p:nvPr/>
        </p:nvSpPr>
        <p:spPr>
          <a:xfrm>
            <a:off x="8012430" y="1170432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89670" y="1714500"/>
            <a:ext cx="310896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00566" y="2286000"/>
            <a:ext cx="2539746" cy="2834640"/>
          </a:xfrm>
          <a:prstGeom prst="roundRect">
            <a:avLst>
              <a:gd name="adj" fmla="val 2160"/>
            </a:avLst>
          </a:prstGeom>
          <a:solidFill>
            <a:srgbClr val="F4F6F9"/>
          </a:solidFill>
          <a:ln/>
        </p:spPr>
      </p:sp>
      <p:sp>
        <p:nvSpPr>
          <p:cNvPr id="21" name="Shape 18"/>
          <p:cNvSpPr/>
          <p:nvPr/>
        </p:nvSpPr>
        <p:spPr>
          <a:xfrm>
            <a:off x="9100566" y="1371600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00566" y="1371600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" y="269748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269748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9808" y="320040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C2DCEF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320040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synonym of X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9808" y="370332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DDF0E2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370332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 form of X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" y="4553712"/>
            <a:ext cx="213741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name and synonym, cut and scored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00450" y="2697480"/>
            <a:ext cx="213741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3691890" y="2697480"/>
            <a:ext cx="19545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 X is dysregulated in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 X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600450" y="4553712"/>
            <a:ext cx="213741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strings only, no fuzzy matching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51092" y="269748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DDF0E2"/>
          </a:solidFill>
          <a:ln/>
        </p:spPr>
      </p:sp>
      <p:sp>
        <p:nvSpPr>
          <p:cNvPr id="34" name="Text 31"/>
          <p:cNvSpPr/>
          <p:nvPr/>
        </p:nvSpPr>
        <p:spPr>
          <a:xfrm>
            <a:off x="6451092" y="269748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kept: X is the disease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51092" y="320040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FFD0CA"/>
          </a:solidFill>
          <a:ln/>
        </p:spPr>
      </p:sp>
      <p:sp>
        <p:nvSpPr>
          <p:cNvPr id="36" name="Text 33"/>
          <p:cNvSpPr/>
          <p:nvPr/>
        </p:nvSpPr>
        <p:spPr>
          <a:xfrm>
            <a:off x="6451092" y="320040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rejected: X is a protein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51092" y="4553712"/>
            <a:ext cx="213741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 sense only, nothing is deleted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301734" y="269748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</p:sp>
      <p:sp>
        <p:nvSpPr>
          <p:cNvPr id="39" name="Text 36"/>
          <p:cNvSpPr/>
          <p:nvPr/>
        </p:nvSpPr>
        <p:spPr>
          <a:xfrm>
            <a:off x="9301734" y="269748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 X  -  Disease X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301734" y="320040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C2DCEF"/>
          </a:solidFill>
          <a:ln/>
        </p:spPr>
      </p:sp>
      <p:sp>
        <p:nvSpPr>
          <p:cNvPr id="41" name="Text 38"/>
          <p:cNvSpPr/>
          <p:nvPr/>
        </p:nvSpPr>
        <p:spPr>
          <a:xfrm>
            <a:off x="9301734" y="320040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link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301734" y="3703320"/>
            <a:ext cx="213741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</p:sp>
      <p:sp>
        <p:nvSpPr>
          <p:cNvPr id="43" name="Text 40"/>
          <p:cNvSpPr/>
          <p:nvPr/>
        </p:nvSpPr>
        <p:spPr>
          <a:xfrm>
            <a:off x="9301734" y="3703320"/>
            <a:ext cx="213741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already curated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301734" y="4553712"/>
            <a:ext cx="213741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against curation, then reviewed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disease name becomes target-disease evidence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real case, traced end to end. Open Targets derives no evidence for this disease from this pathway today, so the link is new.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19856" cy="3246120"/>
          </a:xfrm>
          <a:prstGeom prst="roundRect">
            <a:avLst>
              <a:gd name="adj" fmla="val 1690"/>
            </a:avLst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9514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3134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plus exact synonyms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2871216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28712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Central diabetes insipidus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557016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HP_0000863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58568" y="3840480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023360"/>
            <a:ext cx="2871216" cy="384048"/>
          </a:xfrm>
          <a:prstGeom prst="roundRect">
            <a:avLst>
              <a:gd name="adj" fmla="val 19048"/>
            </a:avLst>
          </a:prstGeom>
          <a:solidFill>
            <a:srgbClr val="C2DCE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28712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neurohypophyseal diabetes insipidus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25696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its one exact synonym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9976" y="2057400"/>
            <a:ext cx="3419856" cy="3246120"/>
          </a:xfrm>
          <a:prstGeom prst="roundRect">
            <a:avLst>
              <a:gd name="adj" fmla="val 1690"/>
            </a:avLst>
          </a:prstGeom>
          <a:solidFill>
            <a:srgbClr val="F4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654296" y="229514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20" name="Text 18"/>
          <p:cNvSpPr/>
          <p:nvPr/>
        </p:nvSpPr>
        <p:spPr>
          <a:xfrm>
            <a:off x="4654296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02936" y="23134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Cut and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54296" y="278892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spans, one survives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54296" y="315468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DDF0E2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296" y="3154680"/>
            <a:ext cx="287121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neurohypophyseal diabetes insipidus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22.3   coverage 1.00   shared by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54296" y="3813048"/>
            <a:ext cx="2871216" cy="502920"/>
          </a:xfrm>
          <a:prstGeom prst="roundRect">
            <a:avLst>
              <a:gd name="adj" fmla="val 14545"/>
            </a:avLst>
          </a:prstGeom>
          <a:solidFill>
            <a:srgbClr val="FFD0CA"/>
          </a:solidFill>
          <a:ln/>
        </p:spPr>
      </p:sp>
      <p:sp>
        <p:nvSpPr>
          <p:cNvPr id="26" name="Text 24"/>
          <p:cNvSpPr/>
          <p:nvPr/>
        </p:nvSpPr>
        <p:spPr>
          <a:xfrm>
            <a:off x="4654296" y="3813048"/>
            <a:ext cx="287121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neurohypophyseal diabetes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14.7   coverage 0.66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54296" y="4407408"/>
            <a:ext cx="2871216" cy="502920"/>
          </a:xfrm>
          <a:prstGeom prst="roundRect">
            <a:avLst>
              <a:gd name="adj" fmla="val 14545"/>
            </a:avLst>
          </a:prstGeom>
          <a:solidFill>
            <a:srgbClr val="FFD0CA"/>
          </a:solidFill>
          <a:ln/>
        </p:spPr>
      </p:sp>
      <p:sp>
        <p:nvSpPr>
          <p:cNvPr id="28" name="Text 26"/>
          <p:cNvSpPr/>
          <p:nvPr/>
        </p:nvSpPr>
        <p:spPr>
          <a:xfrm>
            <a:off x="4654296" y="4407408"/>
            <a:ext cx="287121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diabetes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   shared by 97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54296" y="4965192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three more spans dropped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11312" y="2057400"/>
            <a:ext cx="3419856" cy="3246120"/>
          </a:xfrm>
          <a:prstGeom prst="roundRect">
            <a:avLst>
              <a:gd name="adj" fmla="val 1690"/>
            </a:avLst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485632" y="229514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34272" y="231343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Match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85632" y="2788920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every gene in that pathway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85632" y="3154680"/>
            <a:ext cx="287121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3154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AVP does not bind AVPR2 and causes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neurohypophyseal diabetes insipidus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(NDI)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21240" y="3968496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485632" y="4151376"/>
            <a:ext cx="2871216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</p:sp>
      <p:sp>
        <p:nvSpPr>
          <p:cNvPr id="39" name="Text 37"/>
          <p:cNvSpPr/>
          <p:nvPr/>
        </p:nvSpPr>
        <p:spPr>
          <a:xfrm>
            <a:off x="8485632" y="4151376"/>
            <a:ext cx="28712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AVP  -  central diabetes insipidus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85632" y="4590288"/>
            <a:ext cx="2871216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</p:sp>
      <p:sp>
        <p:nvSpPr>
          <p:cNvPr id="41" name="Text 39"/>
          <p:cNvSpPr/>
          <p:nvPr/>
        </p:nvSpPr>
        <p:spPr>
          <a:xfrm>
            <a:off x="8485632" y="4590288"/>
            <a:ext cx="287121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AVPR2  -  central diabetes insipidus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85632" y="4992624"/>
            <a:ext cx="2871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new target-disease links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4406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A4565"/>
          </a:solidFill>
          <a:ln/>
        </p:spPr>
      </p:sp>
      <p:sp>
        <p:nvSpPr>
          <p:cNvPr id="44" name="Shape 42"/>
          <p:cNvSpPr/>
          <p:nvPr/>
        </p:nvSpPr>
        <p:spPr>
          <a:xfrm>
            <a:off x="822960" y="563270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632704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240280" y="5440680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word's rarity is the log of all diseases divided by those that use it, so diabetes scores 5.4 and neurohypophyseal 9.3. A span scores the sum of its words, and is kept only as a whole form scoring 8.0, or 9.0 if it stands alone.</a:t>
            </a:r>
            <a:endParaRPr lang="en-US" sz="1400" dirty="0"/>
          </a:p>
        </p:txBody>
      </p:sp>
      <p:pic>
        <p:nvPicPr>
          <p:cNvPr id="47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12188952" y="3086100"/>
                </a:moveTo>
                <a:lnTo>
                  <a:pt x="12188952" y="6858000"/>
                </a:lnTo>
                <a:lnTo>
                  <a:pt x="8288487" y="6858000"/>
                </a:lnTo>
                <a:close/>
              </a:path>
            </a:pathLst>
          </a:custGeom>
          <a:solidFill>
            <a:srgbClr val="234E7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606040"/>
            <a:ext cx="128016" cy="137160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46888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pathway label, what does HD mean?</a:t>
            </a:r>
            <a:endParaRPr lang="en-US" sz="4400" dirty="0"/>
          </a:p>
        </p:txBody>
      </p:sp>
      <p:pic>
        <p:nvPicPr>
          <p:cNvPr id="5" name="Image 0" descr="/Users/polina/disPathCuration/presentation/assets/ot-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MATCHING REACTOME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disease reaches a label in three 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differ in what has to appear in the label: a known shape, a complete name, or one distinctive word.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Fixed pattern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 pathway-disease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75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075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ABCC6 causes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PXE</a:t>
            </a:r>
            <a:pPr indent="0" marL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304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103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103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pseudoxanthoma elasticum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587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of four fixed shapes. The slot holds a disease by construction, so even a bare acronym is safe to read.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Complete name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171 pathway-disease links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218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218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Fanconi Anemia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Pathway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0" y="3447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3246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3246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Fanconi anemia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730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fixed shape. The complete name or an exact synonym turns up somewhere in the label, in one span.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187952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98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4343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 word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654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 pathway-disease links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4361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4361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Uptake and function of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diphtheria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toxin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590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69680" y="4389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</p:sp>
      <p:sp>
        <p:nvSpPr>
          <p:cNvPr id="36" name="Text 34"/>
          <p:cNvSpPr/>
          <p:nvPr/>
        </p:nvSpPr>
        <p:spPr>
          <a:xfrm>
            <a:off x="8869680" y="4389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diphtheria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4873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fixed shape and no complete name. One distinctive word, six letters or more, never a gene symbol.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55504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55040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Refused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0" y="5513832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5513832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NOTCH1 HD Domain Mutants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DC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 is a protein domain here, not Huntington disease. Read acronyms anywhere and 61 wrong links arrive for every 10 right ones.</a:t>
            </a:r>
            <a:endParaRPr lang="en-US" sz="1200" dirty="0"/>
          </a:p>
        </p:txBody>
      </p:sp>
      <p:pic>
        <p:nvPicPr>
          <p:cNvPr id="44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only reads the doubtful links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Doubtful is a rule, not a feeling: every single-word link, plus complete-name links scoring under 12.0.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351 pathway-disease links, judged by </a:t>
            </a:r>
            <a:pPr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6304410" cy="658368"/>
          </a:xfrm>
          <a:prstGeom prst="roundRect">
            <a:avLst>
              <a:gd name="adj" fmla="val 8333"/>
            </a:avLst>
          </a:prstGeom>
          <a:solidFill>
            <a:srgbClr val="D5DA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76272"/>
            <a:ext cx="63044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200  not sent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63044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 fixed pattern, plus 115 complete name scoring 12.0 or more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3050" y="2176272"/>
            <a:ext cx="4413087" cy="658368"/>
          </a:xfrm>
          <a:prstGeom prst="roundRect">
            <a:avLst>
              <a:gd name="adj" fmla="val 8333"/>
            </a:avLst>
          </a:prstGeom>
          <a:solidFill>
            <a:srgbClr val="DDF0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3050" y="2176272"/>
            <a:ext cx="441308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6B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140  kept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3050" y="2889504"/>
            <a:ext cx="44130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judged and confirmed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66137" y="2176272"/>
            <a:ext cx="346743" cy="658368"/>
          </a:xfrm>
          <a:prstGeom prst="roundRect">
            <a:avLst>
              <a:gd name="adj" fmla="val 15823"/>
            </a:avLst>
          </a:prstGeom>
          <a:solidFill>
            <a:srgbClr val="FFD0CA"/>
          </a:solidFill>
          <a:ln/>
        </p:spPr>
      </p:sp>
      <p:sp>
        <p:nvSpPr>
          <p:cNvPr id="14" name="Text 12"/>
          <p:cNvSpPr/>
          <p:nvPr/>
        </p:nvSpPr>
        <p:spPr>
          <a:xfrm>
            <a:off x="9894537" y="1792224"/>
            <a:ext cx="1718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11 rejected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54457" y="2889504"/>
            <a:ext cx="235842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7% of the judged tier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Every reject is a word sense the string matcher could not see. Three patterns cover 10 of the 11.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different disease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105656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of the 11 rejects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16552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16552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 Infection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99716" y="4910328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" y="5074920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4920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severe acute respiratory syndrome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51383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 causes COVID-19, not SARS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36118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794760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protein, not a condition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4105656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4416552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416552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Regulation of gene expression by Hypoxia-inducible Factor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85916" y="4910328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5074920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5074920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hypoxia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551383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of the protein name, not the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21040" y="36118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3794760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Another sense of the word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95360" y="4105656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95360" y="4416552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4416552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NTRK3 as a dependence receptor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72116" y="4910328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95360" y="5074920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0" y="5074920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substance dependence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95360" y="551383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dependence receptor is a molecular class</a:t>
            </a:r>
            <a:endParaRPr lang="en-US" sz="1200" dirty="0"/>
          </a:p>
        </p:txBody>
      </p:sp>
      <p:pic>
        <p:nvPicPr>
          <p:cNvPr id="44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pipeline adds to Reactome curation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new pathway-disease 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338328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831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306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diseases covered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3831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+947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4306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target-disease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676656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89280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892808"/>
            <a:ext cx="16002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29514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89C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121 of 653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120640" y="29352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links recovered (18.5%)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33756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 exact, 28 more specific than the curated term, 6 more general</a:t>
            </a:r>
            <a:endParaRPr lang="en-US" sz="1300" dirty="0"/>
          </a:p>
          <a:p>
            <a:pPr marL="342900" indent="-3429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benchmark is not a ceiling: most curated links name no disease in the label at all</a:t>
            </a:r>
            <a:endParaRPr lang="en-US" sz="1300" dirty="0"/>
          </a:p>
          <a:p>
            <a:pPr marL="342900" indent="-3429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Curators work from pathway biology, the pipeline works from label 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444 of the 947 come from four large pathways: SARS therapeutics (154 genes), MLL4/MLL3 (134), SARS-CoV-2 immune modulation (125), TPR (64).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5961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9612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5394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Merge, do not replace. The pipeline reaches what labels name, curation reaches what biology implies.</a:t>
            </a:r>
            <a:endParaRPr lang="en-US" sz="1500" dirty="0"/>
          </a:p>
        </p:txBody>
      </p:sp>
      <p:pic>
        <p:nvPicPr>
          <p:cNvPr id="24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MEASURED, NOT GUESSED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532 curated links are not recovered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reasons, both counted against the 653 curated links rather than estimated.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label names no disease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 name a different disease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9421242" cy="713232"/>
          </a:xfrm>
          <a:prstGeom prst="roundRect">
            <a:avLst>
              <a:gd name="adj" fmla="val 7692"/>
            </a:avLst>
          </a:prstGeom>
          <a:solidFill>
            <a:srgbClr val="DDE2E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94212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69882" y="2212848"/>
            <a:ext cx="1642998" cy="713232"/>
          </a:xfrm>
          <a:prstGeom prst="roundRect">
            <a:avLst>
              <a:gd name="adj" fmla="val 7692"/>
            </a:avLst>
          </a:prstGeom>
          <a:solidFill>
            <a:srgbClr val="C2DCEF"/>
          </a:solidFill>
          <a:ln/>
        </p:spPr>
      </p:sp>
      <p:sp>
        <p:nvSpPr>
          <p:cNvPr id="11" name="Text 9"/>
          <p:cNvSpPr/>
          <p:nvPr/>
        </p:nvSpPr>
        <p:spPr>
          <a:xfrm>
            <a:off x="9969882" y="2212848"/>
            <a:ext cx="16429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86400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19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 of scope, not a miss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33375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DDE2E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453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6484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label is pure biology, with no disease in the text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disease comes from gene knowledge, not from 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1239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pathway label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25112"/>
            <a:ext cx="49377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25112"/>
            <a:ext cx="4937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Signaling by plasma membrane FGFR1 fusions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4690872"/>
            <a:ext cx="0" cy="128016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2960" y="483717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disease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38344"/>
            <a:ext cx="4937760" cy="329184"/>
          </a:xfrm>
          <a:prstGeom prst="roundRect">
            <a:avLst>
              <a:gd name="adj" fmla="val 22222"/>
            </a:avLst>
          </a:prstGeom>
          <a:solidFill>
            <a:srgbClr val="DDE2E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38344"/>
            <a:ext cx="4937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cancer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54680"/>
            <a:ext cx="5486400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319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Disagreement, worth reviewing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0" y="33375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C2DCE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36484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Ours sits deeper in the ontology in 82% of them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Unrelated in the ontology, but usually the sharper term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1239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pathway label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325112"/>
            <a:ext cx="49377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325112"/>
            <a:ext cx="4937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HLCS causes multiple carboxylase deficiency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9680" y="4690872"/>
            <a:ext cx="0" cy="128016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400800" y="483717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disease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15400" y="483717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read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5038344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DDE2E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038344"/>
            <a:ext cx="24231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inborn vitamin metabolic disorder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15400" y="5038344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C2DCEF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5038344"/>
            <a:ext cx="24231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carboxylase deficiency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4565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" y="565099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650992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Read first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43200" y="548640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other 14 are not sharper: our term is broader, or an acronym in the slot resolved to the wrong disease. Seven of those 14 are acronym cases.</a:t>
            </a:r>
            <a:endParaRPr lang="en-US" sz="1400" dirty="0"/>
          </a:p>
        </p:txBody>
      </p:sp>
      <p:pic>
        <p:nvPicPr>
          <p:cNvPr id="43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12188952" y="822960"/>
                </a:moveTo>
                <a:lnTo>
                  <a:pt x="12188952" y="6858000"/>
                </a:lnTo>
                <a:lnTo>
                  <a:pt x="5119360" y="6858000"/>
                </a:lnTo>
                <a:close/>
              </a:path>
            </a:pathLst>
          </a:custGeom>
          <a:solidFill>
            <a:srgbClr val="1A456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432304"/>
            <a:ext cx="256032" cy="256032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2743200"/>
            <a:ext cx="6583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pipeline, other sources</a:t>
            </a:r>
            <a:endParaRPr lang="en-US" sz="3400" dirty="0"/>
          </a:p>
        </p:txBody>
      </p:sp>
      <p:pic>
        <p:nvPicPr>
          <p:cNvPr id="6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 ONTOLOGY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library along the street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 is read. The same extractors and the same judge now walk into the next one, with nothing rewritten.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33" name="Text 31"/>
          <p:cNvSpPr/>
          <p:nvPr/>
        </p:nvSpPr>
        <p:spPr>
          <a:xfrm>
            <a:off x="3830422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curates one of these buildings. The pipeline can read any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 ONTOLOGY BIOLOGICAL PROCESSES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runs through the same code, two steps off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extractors, same judge, same thresholds. Only the Reactome-specific layers are switched off.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02152" cy="3108960"/>
          </a:xfrm>
          <a:prstGeom prst="roundRect">
            <a:avLst>
              <a:gd name="adj" fmla="val 1765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165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313432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</p:sp>
      <p:sp>
        <p:nvSpPr>
          <p:cNvPr id="9" name="Text 7"/>
          <p:cNvSpPr/>
          <p:nvPr/>
        </p:nvSpPr>
        <p:spPr>
          <a:xfrm>
            <a:off x="2313432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links matched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Over 16 diseases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06324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24,136 non-obsolete labels scanned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Judge: 141 kept, 24 rejected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III hypersensitivity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99716" y="4443984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608576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DDF0E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08576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IgE responsiveness, atopic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3502152" cy="3108960"/>
          </a:xfrm>
          <a:prstGeom prst="roundRect">
            <a:avLst>
              <a:gd name="adj" fmla="val 1765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199632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E8EBF0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9748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Two Reactome layers off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7448" y="306324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"Defective GENE causes" labels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GO-disease evidence, no benchmark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Genes from target.go, not pathways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4023360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023360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stage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5916" y="4443984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09160" y="4608576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DDE2E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608576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baseline, every link is a candidate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1965960"/>
            <a:ext cx="3502152" cy="3108960"/>
          </a:xfrm>
          <a:prstGeom prst="roundRect">
            <a:avLst>
              <a:gd name="adj" fmla="val 1765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0.3%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0085832" y="221284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5832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 cue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269748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Processes, not disease pathways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13648" y="306324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Links cluster on inflammation and hypoxia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 rejects 31%, against 7% on Reactome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95360" y="4023360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4023360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reactive gliosis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072116" y="4443984"/>
            <a:ext cx="0" cy="146304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95360" y="4608576"/>
            <a:ext cx="2953512" cy="384048"/>
          </a:xfrm>
          <a:prstGeom prst="roundRect">
            <a:avLst>
              <a:gd name="adj" fmla="val 19048"/>
            </a:avLst>
          </a:prstGeom>
          <a:solidFill>
            <a:srgbClr val="DDF0E2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4608576"/>
            <a:ext cx="295351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Gliosis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A4565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" y="54864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486400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40280" y="525780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 GO the judge is essential, not optional. The output is review-first, not curation-ready.</a:t>
            </a:r>
            <a:endParaRPr lang="en-US" sz="1600" dirty="0"/>
          </a:p>
        </p:txBody>
      </p:sp>
      <p:pic>
        <p:nvPicPr>
          <p:cNvPr id="43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HAIKU, SONNET, OPUS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is the one non-deterministic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stage is string work and arithmetic, identical in every run. Three models were given the same candidates and the same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8716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0116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11296" y="201168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 rejects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2297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False rejects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033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rejects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976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692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25328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Haiku 4.5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1296" y="25328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297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033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692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9008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29900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Sonnet 5 (default)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1296" y="29900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2297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033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976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92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34472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Opus 4.8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11296" y="34472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033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976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692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agree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" y="4581144"/>
            <a:ext cx="29169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Reactome: 137 of 151 (91%)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60 of 77 (78%)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split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727448" y="4581144"/>
            <a:ext cx="29169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"sars" alias, hypoxia as process or disease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Haiku strictest, rejecting on tissue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210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Safeguard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13648" y="4581144"/>
            <a:ext cx="29169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False-reject check against curated evidence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review of every candidate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" y="566013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5660136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40280" y="548640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model shifts a handful of borderline calls, not the result. Sonnet 5 is the default.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list prices, USD per 1M tokens. Sonnet 5 has an introductory rate to 2026-08-31.</a:t>
            </a:r>
            <a:endParaRPr lang="en-US" sz="1200" dirty="0"/>
          </a:p>
        </p:txBody>
      </p:sp>
      <p:pic>
        <p:nvPicPr>
          <p:cNvPr id="49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4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12188952" y="3086100"/>
                </a:moveTo>
                <a:lnTo>
                  <a:pt x="12188952" y="6858000"/>
                </a:lnTo>
                <a:lnTo>
                  <a:pt x="8288487" y="6858000"/>
                </a:lnTo>
                <a:close/>
              </a:path>
            </a:pathLst>
          </a:custGeom>
          <a:solidFill>
            <a:srgbClr val="234E7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606040"/>
            <a:ext cx="128016" cy="137160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246888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about other pathway databases?</a:t>
            </a:r>
            <a:endParaRPr lang="en-US" sz="4400" dirty="0"/>
          </a:p>
        </p:txBody>
      </p:sp>
      <p:pic>
        <p:nvPicPr>
          <p:cNvPr id="5" name="Image 0" descr="/Users/polina/disPathCuration/presentation/assets/ot-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of them, through the same code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 and GO come from Open Targets. The rest are public libraries, taken from the Enrichr catalogue.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3" name="Text 31"/>
          <p:cNvSpPr/>
          <p:nvPr/>
        </p:nvSpPr>
        <p:spPr>
          <a:xfrm>
            <a:off x="3830422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derives evidence from one of these. The pipeline read every one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1,118 pathway-disease links across 12 libraries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02152" cy="1143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1,118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pathway-disease links kept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572768"/>
            <a:ext cx="3502152" cy="1143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627632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17720" y="2304288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diseases covered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572768"/>
            <a:ext cx="3502152" cy="1143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627632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~36,700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503920" y="2304288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target-disease pairs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880360"/>
          <a:ext cx="64922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223760" y="2880360"/>
            <a:ext cx="4389120" cy="246888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3081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the yield tells us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16368" y="3447288"/>
            <a:ext cx="3803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Elsevier gives 737 of 1,118: labels read "X in Disease Y"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PFOCR, 21,845 terms, gives zero: labels are figure IDs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HumanCyc and MSigDB modules give zero, correctly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of 1,144 rejected (2.3%): Reactome-like, not GO-like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4565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5696712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696712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40280" y="553212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One rule holds across every source: labels that name a disease are high yield, process labels are not.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Twelve curated Pathways libraries of the 228 in Enrichr, judged with Claude Sonnet 5.</a:t>
            </a:r>
            <a:endParaRPr lang="en-US" sz="1200" dirty="0"/>
          </a:p>
        </p:txBody>
      </p:sp>
      <p:pic>
        <p:nvPicPr>
          <p:cNvPr id="23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ALL SOURCES COMPARED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Reactome is one fifth of what the pipeline finds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extractors and the same judge on every source. Counts below are pathway-disease links the judge kept.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3328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sources   481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" y="2194560"/>
            <a:ext cx="3255115" cy="36576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8" name="Text 6"/>
          <p:cNvSpPr/>
          <p:nvPr/>
        </p:nvSpPr>
        <p:spPr>
          <a:xfrm>
            <a:off x="3876907" y="1883664"/>
            <a:ext cx="77359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Enrichr, 12 libraries   1,118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13483" y="2194560"/>
            <a:ext cx="7662821" cy="3657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2352621" cy="685800"/>
          </a:xfrm>
          <a:prstGeom prst="roundRect">
            <a:avLst>
              <a:gd name="adj" fmla="val 8000"/>
            </a:avLst>
          </a:prstGeom>
          <a:solidFill>
            <a:srgbClr val="1A456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3526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340   Reactome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235262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01261" y="2286000"/>
            <a:ext cx="975646" cy="685800"/>
          </a:xfrm>
          <a:prstGeom prst="roundRect">
            <a:avLst>
              <a:gd name="adj" fmla="val 8000"/>
            </a:avLst>
          </a:prstGeom>
          <a:solidFill>
            <a:srgbClr val="3489CA"/>
          </a:solidFill>
          <a:ln/>
        </p:spPr>
      </p:sp>
      <p:sp>
        <p:nvSpPr>
          <p:cNvPr id="14" name="Text 12"/>
          <p:cNvSpPr/>
          <p:nvPr/>
        </p:nvSpPr>
        <p:spPr>
          <a:xfrm>
            <a:off x="2901261" y="2286000"/>
            <a:ext cx="9756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141   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01261" y="3026664"/>
            <a:ext cx="9756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76907" y="2286000"/>
            <a:ext cx="5099653" cy="685800"/>
          </a:xfrm>
          <a:prstGeom prst="roundRect">
            <a:avLst>
              <a:gd name="adj" fmla="val 8000"/>
            </a:avLst>
          </a:prstGeom>
          <a:solidFill>
            <a:srgbClr val="9AC4E4"/>
          </a:solidFill>
          <a:ln/>
        </p:spPr>
      </p:sp>
      <p:sp>
        <p:nvSpPr>
          <p:cNvPr id="17" name="Text 15"/>
          <p:cNvSpPr/>
          <p:nvPr/>
        </p:nvSpPr>
        <p:spPr>
          <a:xfrm>
            <a:off x="3876907" y="2286000"/>
            <a:ext cx="50996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737   Elsevier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76907" y="3026664"/>
            <a:ext cx="509965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6560" y="2286000"/>
            <a:ext cx="1238586" cy="685800"/>
          </a:xfrm>
          <a:prstGeom prst="roundRect">
            <a:avLst>
              <a:gd name="adj" fmla="val 8000"/>
            </a:avLst>
          </a:prstGeom>
          <a:solidFill>
            <a:srgbClr val="C2DCEF"/>
          </a:solidFill>
          <a:ln/>
        </p:spPr>
      </p:sp>
      <p:sp>
        <p:nvSpPr>
          <p:cNvPr id="20" name="Text 18"/>
          <p:cNvSpPr/>
          <p:nvPr/>
        </p:nvSpPr>
        <p:spPr>
          <a:xfrm>
            <a:off x="8976560" y="2286000"/>
            <a:ext cx="1238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179   WikiPathways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6560" y="3026664"/>
            <a:ext cx="12385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15146" y="2286000"/>
            <a:ext cx="1397734" cy="685800"/>
          </a:xfrm>
          <a:prstGeom prst="roundRect">
            <a:avLst>
              <a:gd name="adj" fmla="val 8000"/>
            </a:avLst>
          </a:prstGeom>
          <a:solidFill>
            <a:srgbClr val="DDE2E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15146" y="2286000"/>
            <a:ext cx="13977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202   six more libraries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15146" y="3026664"/>
            <a:ext cx="13977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9592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3520440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94176" y="352044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Labels scanned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31536" y="352044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Links matched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77456" y="3520440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Links kept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0496" y="352044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Rejected of judged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69296" y="352044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04164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404164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94176" y="40416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2,870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31536" y="40416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77456" y="404164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0496" y="404164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of 151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69296" y="404164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9884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" y="449884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biological process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94176" y="44988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24,136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31536" y="4498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77456" y="449884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0496" y="449884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of 77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369296" y="449884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495604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" y="495604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Enrichr, 12 libraries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94176" y="49560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28,064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31536" y="49560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1,144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77456" y="495604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1,118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40496" y="495604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of 1,144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369296" y="495604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349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4565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960" y="5696712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" y="5696712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240280" y="553212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Four fifths of the 1,599 links come from sources Open Targets does not curate today.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Targets Platform release 26.06 and Enrichr pathway libraries, judged with Claude Sonnet 5.</a:t>
            </a:r>
            <a:endParaRPr lang="en-US" sz="1200" dirty="0"/>
          </a:p>
        </p:txBody>
      </p:sp>
      <p:pic>
        <p:nvPicPr>
          <p:cNvPr id="59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worth building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329184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148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2093976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2075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4780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253 new pathway-disease links, +947 target-disease pairs and 44 specificity fixes, from Reactome alone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69494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3154680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Works on any source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5387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141 links. Enrichr, 12 libraries: 1,118 links. A new resource needs no method change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4032504"/>
            <a:ext cx="69494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215384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41970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Demonstrated need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5994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 and Neuroid, two Open Targets projects where disease-pathway coverage was the limit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66013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60136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548640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new experiments and no new curation. One method, and it fits every source.</a:t>
            </a:r>
            <a:endParaRPr lang="en-US" sz="1600" dirty="0"/>
          </a:p>
        </p:txBody>
      </p:sp>
      <p:pic>
        <p:nvPicPr>
          <p:cNvPr id="25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73736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73736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" y="635391"/>
            <a:ext cx="187737" cy="1101969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6" name="Shape 4"/>
          <p:cNvSpPr/>
          <p:nvPr/>
        </p:nvSpPr>
        <p:spPr>
          <a:xfrm>
            <a:off x="302597" y="877425"/>
            <a:ext cx="265274" cy="85993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7" name="Shape 5"/>
          <p:cNvSpPr/>
          <p:nvPr/>
        </p:nvSpPr>
        <p:spPr>
          <a:xfrm>
            <a:off x="594507" y="636395"/>
            <a:ext cx="249383" cy="110096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879637" y="918735"/>
            <a:ext cx="158491" cy="8186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1062422" y="849936"/>
            <a:ext cx="234149" cy="8874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1330202" y="822508"/>
            <a:ext cx="186428" cy="91485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Shape 9"/>
          <p:cNvSpPr/>
          <p:nvPr/>
        </p:nvSpPr>
        <p:spPr>
          <a:xfrm>
            <a:off x="1544247" y="811223"/>
            <a:ext cx="264856" cy="92613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9582" y="508162"/>
            <a:ext cx="222255" cy="122919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78685" y="418341"/>
            <a:ext cx="228426" cy="131901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6927" y="647201"/>
            <a:ext cx="143939" cy="1090159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3457" y="772681"/>
            <a:ext cx="182266" cy="96467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15054" y="651287"/>
            <a:ext cx="262064" cy="108607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8692" y="731968"/>
            <a:ext cx="186302" cy="100539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27659" y="876832"/>
            <a:ext cx="213178" cy="86052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2396" y="514465"/>
            <a:ext cx="246458" cy="122289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" name="Shape 18"/>
          <p:cNvSpPr/>
          <p:nvPr/>
        </p:nvSpPr>
        <p:spPr>
          <a:xfrm>
            <a:off x="3747436" y="542207"/>
            <a:ext cx="159135" cy="11951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946838" y="448851"/>
            <a:ext cx="232407" cy="128850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5717" y="428400"/>
            <a:ext cx="177649" cy="1308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09917" y="539062"/>
            <a:ext cx="181097" cy="119829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118" y="725352"/>
            <a:ext cx="175761" cy="10120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7924" y="844085"/>
            <a:ext cx="163070" cy="89327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6" name="Shape 24"/>
          <p:cNvSpPr/>
          <p:nvPr/>
        </p:nvSpPr>
        <p:spPr>
          <a:xfrm>
            <a:off x="5015260" y="827110"/>
            <a:ext cx="189074" cy="9102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7" name="Shape 25"/>
          <p:cNvSpPr/>
          <p:nvPr/>
        </p:nvSpPr>
        <p:spPr>
          <a:xfrm>
            <a:off x="5237673" y="405005"/>
            <a:ext cx="260229" cy="133235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525846" y="508868"/>
            <a:ext cx="243790" cy="12284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9" name="Shape 27"/>
          <p:cNvSpPr/>
          <p:nvPr/>
        </p:nvSpPr>
        <p:spPr>
          <a:xfrm>
            <a:off x="5794827" y="955504"/>
            <a:ext cx="243564" cy="78185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0" name="Shape 28"/>
          <p:cNvSpPr/>
          <p:nvPr/>
        </p:nvSpPr>
        <p:spPr>
          <a:xfrm>
            <a:off x="6062782" y="785113"/>
            <a:ext cx="193029" cy="9522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4101" y="675685"/>
            <a:ext cx="185283" cy="10616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04559" y="480368"/>
            <a:ext cx="213231" cy="125699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744093" y="666349"/>
            <a:ext cx="222266" cy="107101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4" name="Shape 32"/>
          <p:cNvSpPr/>
          <p:nvPr/>
        </p:nvSpPr>
        <p:spPr>
          <a:xfrm>
            <a:off x="7001153" y="418044"/>
            <a:ext cx="177556" cy="131931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11080" y="899667"/>
            <a:ext cx="156636" cy="83769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3322" y="487246"/>
            <a:ext cx="238014" cy="12501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7685914" y="953304"/>
            <a:ext cx="265062" cy="78405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7988271" y="926117"/>
            <a:ext cx="147435" cy="81124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9" name="Shape 37"/>
          <p:cNvSpPr/>
          <p:nvPr/>
        </p:nvSpPr>
        <p:spPr>
          <a:xfrm>
            <a:off x="8166282" y="425654"/>
            <a:ext cx="162092" cy="13117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Shape 38"/>
          <p:cNvSpPr/>
          <p:nvPr/>
        </p:nvSpPr>
        <p:spPr>
          <a:xfrm>
            <a:off x="8361310" y="451637"/>
            <a:ext cx="201635" cy="128572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1" name="Shape 39"/>
          <p:cNvSpPr/>
          <p:nvPr/>
        </p:nvSpPr>
        <p:spPr>
          <a:xfrm>
            <a:off x="8586601" y="732954"/>
            <a:ext cx="243825" cy="100440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2" name="Shape 40"/>
          <p:cNvSpPr/>
          <p:nvPr/>
        </p:nvSpPr>
        <p:spPr>
          <a:xfrm>
            <a:off x="8874607" y="873664"/>
            <a:ext cx="235635" cy="86369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3" name="Shape 41"/>
          <p:cNvSpPr/>
          <p:nvPr/>
        </p:nvSpPr>
        <p:spPr>
          <a:xfrm>
            <a:off x="9138739" y="918227"/>
            <a:ext cx="225488" cy="81913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4" name="Shape 42"/>
          <p:cNvSpPr/>
          <p:nvPr/>
        </p:nvSpPr>
        <p:spPr>
          <a:xfrm>
            <a:off x="9385256" y="618449"/>
            <a:ext cx="240074" cy="111891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5" name="Shape 43"/>
          <p:cNvSpPr/>
          <p:nvPr/>
        </p:nvSpPr>
        <p:spPr>
          <a:xfrm>
            <a:off x="9663699" y="511388"/>
            <a:ext cx="259345" cy="12259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8085" y="405662"/>
            <a:ext cx="266111" cy="133169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60807" y="936597"/>
            <a:ext cx="243812" cy="8007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45119" y="669539"/>
            <a:ext cx="167444" cy="106782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34686" y="931442"/>
            <a:ext cx="204123" cy="80591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74737" y="928834"/>
            <a:ext cx="139572" cy="80852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51" name="Shape 49"/>
          <p:cNvSpPr/>
          <p:nvPr/>
        </p:nvSpPr>
        <p:spPr>
          <a:xfrm>
            <a:off x="11136297" y="718060"/>
            <a:ext cx="235811" cy="10193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15371" y="538668"/>
            <a:ext cx="273226" cy="11986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53" name="Shape 51"/>
          <p:cNvSpPr/>
          <p:nvPr/>
        </p:nvSpPr>
        <p:spPr>
          <a:xfrm>
            <a:off x="11731544" y="753022"/>
            <a:ext cx="148140" cy="98433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52"/>
          <p:cNvSpPr/>
          <p:nvPr/>
        </p:nvSpPr>
        <p:spPr>
          <a:xfrm>
            <a:off x="11900742" y="824256"/>
            <a:ext cx="219235" cy="91310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31699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56" name="Shape 54"/>
          <p:cNvSpPr/>
          <p:nvPr/>
        </p:nvSpPr>
        <p:spPr>
          <a:xfrm>
            <a:off x="5486400" y="316995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3680" y="316995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58" name="Shape 56"/>
          <p:cNvSpPr/>
          <p:nvPr/>
        </p:nvSpPr>
        <p:spPr>
          <a:xfrm>
            <a:off x="73152" y="21578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668" y="20921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3818" y="1935292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1" name="Shape 59"/>
          <p:cNvSpPr/>
          <p:nvPr/>
        </p:nvSpPr>
        <p:spPr>
          <a:xfrm>
            <a:off x="731764" y="2230332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2" name="Shape 60"/>
          <p:cNvSpPr/>
          <p:nvPr/>
        </p:nvSpPr>
        <p:spPr>
          <a:xfrm>
            <a:off x="980579" y="21928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3" name="Shape 61"/>
          <p:cNvSpPr/>
          <p:nvPr/>
        </p:nvSpPr>
        <p:spPr>
          <a:xfrm>
            <a:off x="1270872" y="19456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64" name="Shape 62"/>
          <p:cNvSpPr/>
          <p:nvPr/>
        </p:nvSpPr>
        <p:spPr>
          <a:xfrm>
            <a:off x="1445973" y="18866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65" name="Shape 63"/>
          <p:cNvSpPr/>
          <p:nvPr/>
        </p:nvSpPr>
        <p:spPr>
          <a:xfrm>
            <a:off x="1711978" y="21588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6" name="Shape 64"/>
          <p:cNvSpPr/>
          <p:nvPr/>
        </p:nvSpPr>
        <p:spPr>
          <a:xfrm>
            <a:off x="1960894" y="22123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7" name="Shape 65"/>
          <p:cNvSpPr/>
          <p:nvPr/>
        </p:nvSpPr>
        <p:spPr>
          <a:xfrm>
            <a:off x="2158227" y="20086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68" name="Shape 66"/>
          <p:cNvSpPr/>
          <p:nvPr/>
        </p:nvSpPr>
        <p:spPr>
          <a:xfrm>
            <a:off x="2350165" y="23082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69" name="Shape 67"/>
          <p:cNvSpPr/>
          <p:nvPr/>
        </p:nvSpPr>
        <p:spPr>
          <a:xfrm>
            <a:off x="2574595" y="19057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0" name="Shape 68"/>
          <p:cNvSpPr/>
          <p:nvPr/>
        </p:nvSpPr>
        <p:spPr>
          <a:xfrm>
            <a:off x="3273552" y="21121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71" name="Shape 69"/>
          <p:cNvSpPr/>
          <p:nvPr/>
        </p:nvSpPr>
        <p:spPr>
          <a:xfrm>
            <a:off x="3460978" y="22250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2" name="Shape 70"/>
          <p:cNvSpPr/>
          <p:nvPr/>
        </p:nvSpPr>
        <p:spPr>
          <a:xfrm>
            <a:off x="3753827" y="19187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3" name="Shape 71"/>
          <p:cNvSpPr/>
          <p:nvPr/>
        </p:nvSpPr>
        <p:spPr>
          <a:xfrm>
            <a:off x="3958356" y="22469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74" name="Shape 72"/>
          <p:cNvSpPr/>
          <p:nvPr/>
        </p:nvSpPr>
        <p:spPr>
          <a:xfrm>
            <a:off x="5285232" y="2315972"/>
            <a:ext cx="171075" cy="85397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75" name="Shape 73"/>
          <p:cNvSpPr/>
          <p:nvPr/>
        </p:nvSpPr>
        <p:spPr>
          <a:xfrm>
            <a:off x="5493729" y="2193079"/>
            <a:ext cx="197180" cy="976872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76" name="Shape 74"/>
          <p:cNvSpPr/>
          <p:nvPr/>
        </p:nvSpPr>
        <p:spPr>
          <a:xfrm>
            <a:off x="5714037" y="22905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77" name="Shape 75"/>
          <p:cNvSpPr/>
          <p:nvPr/>
        </p:nvSpPr>
        <p:spPr>
          <a:xfrm>
            <a:off x="5906422" y="18813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78" name="Shape 76"/>
          <p:cNvSpPr/>
          <p:nvPr/>
        </p:nvSpPr>
        <p:spPr>
          <a:xfrm>
            <a:off x="6166774" y="19638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9" name="Shape 77"/>
          <p:cNvSpPr/>
          <p:nvPr/>
        </p:nvSpPr>
        <p:spPr>
          <a:xfrm>
            <a:off x="6364807" y="22020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80" name="Shape 78"/>
          <p:cNvSpPr/>
          <p:nvPr/>
        </p:nvSpPr>
        <p:spPr>
          <a:xfrm>
            <a:off x="6663272" y="2373394"/>
            <a:ext cx="159234" cy="79655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1" name="Shape 79"/>
          <p:cNvSpPr/>
          <p:nvPr/>
        </p:nvSpPr>
        <p:spPr>
          <a:xfrm>
            <a:off x="6866848" y="22924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2" name="Shape 80"/>
          <p:cNvSpPr/>
          <p:nvPr/>
        </p:nvSpPr>
        <p:spPr>
          <a:xfrm>
            <a:off x="7165637" y="19735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3" name="Shape 81"/>
          <p:cNvSpPr/>
          <p:nvPr/>
        </p:nvSpPr>
        <p:spPr>
          <a:xfrm>
            <a:off x="7345828" y="19521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84" name="Shape 82"/>
          <p:cNvSpPr/>
          <p:nvPr/>
        </p:nvSpPr>
        <p:spPr>
          <a:xfrm>
            <a:off x="7610248" y="18427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5" name="Shape 83"/>
          <p:cNvSpPr/>
          <p:nvPr/>
        </p:nvSpPr>
        <p:spPr>
          <a:xfrm>
            <a:off x="7781312" y="18728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6" name="Shape 84"/>
          <p:cNvSpPr/>
          <p:nvPr/>
        </p:nvSpPr>
        <p:spPr>
          <a:xfrm>
            <a:off x="7948531" y="23520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7" name="Shape 85"/>
          <p:cNvSpPr/>
          <p:nvPr/>
        </p:nvSpPr>
        <p:spPr>
          <a:xfrm>
            <a:off x="8157738" y="21310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8" name="Shape 86"/>
          <p:cNvSpPr/>
          <p:nvPr/>
        </p:nvSpPr>
        <p:spPr>
          <a:xfrm>
            <a:off x="8395414" y="20651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9" name="Shape 87"/>
          <p:cNvSpPr/>
          <p:nvPr/>
        </p:nvSpPr>
        <p:spPr>
          <a:xfrm>
            <a:off x="8688973" y="23465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0" name="Shape 88"/>
          <p:cNvSpPr/>
          <p:nvPr/>
        </p:nvSpPr>
        <p:spPr>
          <a:xfrm>
            <a:off x="8932179" y="22731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1" name="Shape 89"/>
          <p:cNvSpPr/>
          <p:nvPr/>
        </p:nvSpPr>
        <p:spPr>
          <a:xfrm>
            <a:off x="9163536" y="23721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4749" y="18553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3" name="Shape 91"/>
          <p:cNvSpPr/>
          <p:nvPr/>
        </p:nvSpPr>
        <p:spPr>
          <a:xfrm>
            <a:off x="9639360" y="23810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4" name="Shape 92"/>
          <p:cNvSpPr/>
          <p:nvPr/>
        </p:nvSpPr>
        <p:spPr>
          <a:xfrm>
            <a:off x="9910223" y="23097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95" name="Shape 93"/>
          <p:cNvSpPr/>
          <p:nvPr/>
        </p:nvSpPr>
        <p:spPr>
          <a:xfrm>
            <a:off x="10163202" y="23522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6" name="Shape 94"/>
          <p:cNvSpPr/>
          <p:nvPr/>
        </p:nvSpPr>
        <p:spPr>
          <a:xfrm>
            <a:off x="10445543" y="19764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7" name="Shape 95"/>
          <p:cNvSpPr/>
          <p:nvPr/>
        </p:nvSpPr>
        <p:spPr>
          <a:xfrm>
            <a:off x="10756026" y="20869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8" name="Shape 96"/>
          <p:cNvSpPr/>
          <p:nvPr/>
        </p:nvSpPr>
        <p:spPr>
          <a:xfrm>
            <a:off x="10970695" y="21307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9" name="Shape 97"/>
          <p:cNvSpPr/>
          <p:nvPr/>
        </p:nvSpPr>
        <p:spPr>
          <a:xfrm>
            <a:off x="11232295" y="23235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406132" y="22696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710407" y="18490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918440" y="21660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0" y="46025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486400" y="460254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583680" y="460254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3152" y="3376888"/>
            <a:ext cx="163619" cy="1225653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59163" y="36185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3771" y="37233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06450" y="33033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60120" y="33763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64727" y="33168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334868" y="34035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623285" y="33897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827160" y="38190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010309" y="36289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272222" y="33165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593592" y="3502284"/>
            <a:ext cx="144540" cy="1100257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767385" y="37560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954038" y="34551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131946" y="34269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319899" y="33219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965192" y="34687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177590" y="35452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450297" y="33882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682578" y="35229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947211" y="37295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230729" y="35414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478844" y="32791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651788" y="34840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865495" y="33114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064446" y="34004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250249" y="32912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535162" y="37271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825626" y="36275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093813" y="34878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289560" y="35731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564400" y="32777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765762" y="33402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068038" y="33935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287565" y="36303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504330" y="33445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772312" y="37108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965643" y="33138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218857" y="37078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390351" y="35985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641241" y="37460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943251" y="37321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1129455" y="33365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1319481" y="35550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1522940" y="32800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1776868" y="33996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2047857" y="32828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0" y="60351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486400" y="603513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583680" y="603513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3152" y="48217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57" name="Shape 155"/>
          <p:cNvSpPr/>
          <p:nvPr/>
        </p:nvSpPr>
        <p:spPr>
          <a:xfrm>
            <a:off x="246694" y="52223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06524" y="4984444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55293" y="49612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92730" y="50487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172199" y="49729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385957" y="50533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644089" y="49516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884516" y="50716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2180290" y="49353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2480280" y="51838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3364992" y="50925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581778" y="50005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370832" y="47802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4615967" y="47220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890133" y="48479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5169812" y="51198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449952" y="50225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5690852" y="52103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003633" y="51806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76" name="Shape 174"/>
          <p:cNvSpPr/>
          <p:nvPr/>
        </p:nvSpPr>
        <p:spPr>
          <a:xfrm>
            <a:off x="6310105" y="49024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496796" y="51459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6753287" y="50881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935487" y="46967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100877" y="50809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358545" y="49562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605427" y="48387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885610" y="49269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094166" y="51661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271576" y="50781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6" name="Shape 184"/>
          <p:cNvSpPr/>
          <p:nvPr/>
        </p:nvSpPr>
        <p:spPr>
          <a:xfrm>
            <a:off x="8499970" y="47635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7" name="Shape 185"/>
          <p:cNvSpPr/>
          <p:nvPr/>
        </p:nvSpPr>
        <p:spPr>
          <a:xfrm>
            <a:off x="8702554" y="49432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88" name="Shape 186"/>
          <p:cNvSpPr/>
          <p:nvPr/>
        </p:nvSpPr>
        <p:spPr>
          <a:xfrm>
            <a:off x="8881623" y="48944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9" name="Shape 187"/>
          <p:cNvSpPr/>
          <p:nvPr/>
        </p:nvSpPr>
        <p:spPr>
          <a:xfrm>
            <a:off x="9151870" y="49354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351702" y="52296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662106" y="50085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891528" y="50422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078718" y="47001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306919" y="52171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0503955" y="51238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0797943" y="48398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1024046" y="49729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1256731" y="48353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199" name="Shape 197"/>
          <p:cNvSpPr/>
          <p:nvPr/>
        </p:nvSpPr>
        <p:spPr>
          <a:xfrm>
            <a:off x="11539471" y="47094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1714220" y="50537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1897201" y="47643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2" name="Shape 200"/>
          <p:cNvSpPr/>
          <p:nvPr/>
        </p:nvSpPr>
        <p:spPr>
          <a:xfrm>
            <a:off x="5486400" y="17373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993392" y="3932011"/>
            <a:ext cx="274320" cy="1325880"/>
          </a:xfrm>
          <a:prstGeom prst="roundRect">
            <a:avLst>
              <a:gd name="adj" fmla="val 33333"/>
            </a:avLst>
          </a:prstGeom>
          <a:solidFill>
            <a:srgbClr val="ACAFAF"/>
          </a:solidFill>
          <a:ln/>
        </p:spPr>
      </p:sp>
      <p:sp>
        <p:nvSpPr>
          <p:cNvPr id="204" name="Shape 202"/>
          <p:cNvSpPr/>
          <p:nvPr/>
        </p:nvSpPr>
        <p:spPr>
          <a:xfrm>
            <a:off x="2267712" y="5257891"/>
            <a:ext cx="1371600" cy="237744"/>
          </a:xfrm>
          <a:prstGeom prst="roundRect">
            <a:avLst>
              <a:gd name="adj" fmla="val 30769"/>
            </a:avLst>
          </a:prstGeom>
          <a:solidFill>
            <a:srgbClr val="ACAFAF"/>
          </a:solidFill>
          <a:ln/>
        </p:spPr>
      </p:sp>
      <p:sp>
        <p:nvSpPr>
          <p:cNvPr id="205" name="Shape 203"/>
          <p:cNvSpPr/>
          <p:nvPr/>
        </p:nvSpPr>
        <p:spPr>
          <a:xfrm>
            <a:off x="2340864" y="5495635"/>
            <a:ext cx="118872" cy="539496"/>
          </a:xfrm>
          <a:prstGeom prst="rect">
            <a:avLst/>
          </a:prstGeom>
          <a:solidFill>
            <a:srgbClr val="ACAFAF"/>
          </a:solidFill>
          <a:ln/>
        </p:spPr>
      </p:sp>
      <p:sp>
        <p:nvSpPr>
          <p:cNvPr id="206" name="Shape 204"/>
          <p:cNvSpPr/>
          <p:nvPr/>
        </p:nvSpPr>
        <p:spPr>
          <a:xfrm>
            <a:off x="3474720" y="5495635"/>
            <a:ext cx="118872" cy="539496"/>
          </a:xfrm>
          <a:prstGeom prst="rect">
            <a:avLst/>
          </a:prstGeom>
          <a:solidFill>
            <a:srgbClr val="ACAFAF"/>
          </a:solidFill>
          <a:ln/>
        </p:spPr>
      </p:sp>
      <p:sp>
        <p:nvSpPr>
          <p:cNvPr id="207" name="Shape 205"/>
          <p:cNvSpPr/>
          <p:nvPr/>
        </p:nvSpPr>
        <p:spPr>
          <a:xfrm>
            <a:off x="2286000" y="4160611"/>
            <a:ext cx="402336" cy="1097280"/>
          </a:xfrm>
          <a:prstGeom prst="roundRect">
            <a:avLst>
              <a:gd name="adj" fmla="val 34091"/>
            </a:avLst>
          </a:prstGeom>
          <a:solidFill>
            <a:srgbClr val="1A4565"/>
          </a:solidFill>
          <a:ln/>
        </p:spPr>
      </p:sp>
      <p:sp>
        <p:nvSpPr>
          <p:cNvPr id="208" name="Shape 206"/>
          <p:cNvSpPr/>
          <p:nvPr/>
        </p:nvSpPr>
        <p:spPr>
          <a:xfrm>
            <a:off x="2258568" y="3694267"/>
            <a:ext cx="457200" cy="457200"/>
          </a:xfrm>
          <a:prstGeom prst="ellipse">
            <a:avLst/>
          </a:prstGeom>
          <a:solidFill>
            <a:srgbClr val="1A4565"/>
          </a:solidFill>
          <a:ln/>
        </p:spPr>
      </p:sp>
      <p:sp>
        <p:nvSpPr>
          <p:cNvPr id="209" name="Shape 207"/>
          <p:cNvSpPr/>
          <p:nvPr/>
        </p:nvSpPr>
        <p:spPr>
          <a:xfrm>
            <a:off x="2688336" y="5038435"/>
            <a:ext cx="786384" cy="219456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</p:sp>
      <p:sp>
        <p:nvSpPr>
          <p:cNvPr id="210" name="Shape 208"/>
          <p:cNvSpPr/>
          <p:nvPr/>
        </p:nvSpPr>
        <p:spPr>
          <a:xfrm>
            <a:off x="3291840" y="5257891"/>
            <a:ext cx="219456" cy="777240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</p:sp>
      <p:sp>
        <p:nvSpPr>
          <p:cNvPr id="211" name="Shape 209"/>
          <p:cNvSpPr/>
          <p:nvPr/>
        </p:nvSpPr>
        <p:spPr>
          <a:xfrm>
            <a:off x="3291840" y="5916259"/>
            <a:ext cx="420624" cy="118872"/>
          </a:xfrm>
          <a:prstGeom prst="roundRect">
            <a:avLst>
              <a:gd name="adj" fmla="val 46154"/>
            </a:avLst>
          </a:prstGeom>
          <a:solidFill>
            <a:srgbClr val="1A4565"/>
          </a:solidFill>
          <a:ln/>
        </p:spPr>
      </p:sp>
      <p:sp>
        <p:nvSpPr>
          <p:cNvPr id="212" name="Shape 210"/>
          <p:cNvSpPr/>
          <p:nvPr/>
        </p:nvSpPr>
        <p:spPr>
          <a:xfrm>
            <a:off x="2651760" y="4425787"/>
            <a:ext cx="493776" cy="137160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</p:sp>
      <p:sp>
        <p:nvSpPr>
          <p:cNvPr id="213" name="Shape 211"/>
          <p:cNvSpPr/>
          <p:nvPr/>
        </p:nvSpPr>
        <p:spPr>
          <a:xfrm>
            <a:off x="3072384" y="4215475"/>
            <a:ext cx="566928" cy="402336"/>
          </a:xfrm>
          <a:prstGeom prst="roundRect">
            <a:avLst>
              <a:gd name="adj" fmla="val 9091"/>
            </a:avLst>
          </a:prstGeom>
          <a:solidFill>
            <a:srgbClr val="3489CA"/>
          </a:solidFill>
          <a:ln/>
        </p:spPr>
      </p:sp>
      <p:sp>
        <p:nvSpPr>
          <p:cNvPr id="214" name="Shape 212"/>
          <p:cNvSpPr/>
          <p:nvPr/>
        </p:nvSpPr>
        <p:spPr>
          <a:xfrm>
            <a:off x="4800600" y="5742523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15" name="Text 213"/>
          <p:cNvSpPr/>
          <p:nvPr/>
        </p:nvSpPr>
        <p:spPr>
          <a:xfrm>
            <a:off x="4846320" y="5742523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1200" dirty="0"/>
          </a:p>
        </p:txBody>
      </p:sp>
      <p:sp>
        <p:nvSpPr>
          <p:cNvPr id="216" name="Shape 214"/>
          <p:cNvSpPr/>
          <p:nvPr/>
        </p:nvSpPr>
        <p:spPr>
          <a:xfrm>
            <a:off x="4864608" y="5440771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17" name="Text 215"/>
          <p:cNvSpPr/>
          <p:nvPr/>
        </p:nvSpPr>
        <p:spPr>
          <a:xfrm>
            <a:off x="4910328" y="5440771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200" dirty="0"/>
          </a:p>
        </p:txBody>
      </p:sp>
      <p:sp>
        <p:nvSpPr>
          <p:cNvPr id="218" name="Shape 216"/>
          <p:cNvSpPr/>
          <p:nvPr/>
        </p:nvSpPr>
        <p:spPr>
          <a:xfrm>
            <a:off x="4754880" y="5139019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19" name="Text 217"/>
          <p:cNvSpPr/>
          <p:nvPr/>
        </p:nvSpPr>
        <p:spPr>
          <a:xfrm>
            <a:off x="4800600" y="5139019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Your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20" name="Shape 218"/>
          <p:cNvSpPr/>
          <p:nvPr/>
        </p:nvSpPr>
        <p:spPr>
          <a:xfrm>
            <a:off x="4828032" y="4837267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1" name="Text 219"/>
          <p:cNvSpPr/>
          <p:nvPr/>
        </p:nvSpPr>
        <p:spPr>
          <a:xfrm>
            <a:off x="4873752" y="4837267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Dance with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22" name="Shape 220"/>
          <p:cNvSpPr/>
          <p:nvPr/>
        </p:nvSpPr>
        <p:spPr>
          <a:xfrm>
            <a:off x="4736592" y="4535515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3" name="Text 221"/>
          <p:cNvSpPr/>
          <p:nvPr/>
        </p:nvSpPr>
        <p:spPr>
          <a:xfrm>
            <a:off x="4782312" y="4535515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4818888" y="4233763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5" name="Text 223"/>
          <p:cNvSpPr/>
          <p:nvPr/>
        </p:nvSpPr>
        <p:spPr>
          <a:xfrm>
            <a:off x="4864608" y="4233763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Last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4855464" y="3932011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7" name="Text 225"/>
          <p:cNvSpPr/>
          <p:nvPr/>
        </p:nvSpPr>
        <p:spPr>
          <a:xfrm>
            <a:off x="4901184" y="3932011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Rider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4773168" y="3630259"/>
            <a:ext cx="2743200" cy="283464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229" name="Text 227"/>
          <p:cNvSpPr/>
          <p:nvPr/>
        </p:nvSpPr>
        <p:spPr>
          <a:xfrm>
            <a:off x="4818888" y="3630259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5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pic>
        <p:nvPicPr>
          <p:cNvPr id="231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MATCHER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acronyms are refused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the matcher searches for sits on one list of strings. An acronym is kept off that list, and these are the two ways one gets back 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4,426 acronyms in the index. 802 name more than one disease.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1208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24328"/>
            <a:ext cx="521208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14884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14016" y="214884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terms it names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6700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14016" y="29809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14016" y="29809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15" name="Text 13"/>
          <p:cNvSpPr/>
          <p:nvPr/>
        </p:nvSpPr>
        <p:spPr>
          <a:xfrm>
            <a:off x="2414016" y="26517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1272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14016" y="34381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19" name="Shape 17"/>
          <p:cNvSpPr/>
          <p:nvPr/>
        </p:nvSpPr>
        <p:spPr>
          <a:xfrm>
            <a:off x="2414016" y="3438144"/>
            <a:ext cx="2294510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20" name="Text 18"/>
          <p:cNvSpPr/>
          <p:nvPr/>
        </p:nvSpPr>
        <p:spPr>
          <a:xfrm>
            <a:off x="2414016" y="31089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5844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14016" y="38953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24" name="Shape 22"/>
          <p:cNvSpPr/>
          <p:nvPr/>
        </p:nvSpPr>
        <p:spPr>
          <a:xfrm>
            <a:off x="2414016" y="3895344"/>
            <a:ext cx="18483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25" name="Text 23"/>
          <p:cNvSpPr/>
          <p:nvPr/>
        </p:nvSpPr>
        <p:spPr>
          <a:xfrm>
            <a:off x="2414016" y="35661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40416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14016" y="43525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29" name="Shape 27"/>
          <p:cNvSpPr/>
          <p:nvPr/>
        </p:nvSpPr>
        <p:spPr>
          <a:xfrm>
            <a:off x="2414016" y="4352544"/>
            <a:ext cx="1720883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30" name="Text 28"/>
          <p:cNvSpPr/>
          <p:nvPr/>
        </p:nvSpPr>
        <p:spPr>
          <a:xfrm>
            <a:off x="2414016" y="40233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9884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44988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GSD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14016" y="48097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34" name="Shape 32"/>
          <p:cNvSpPr/>
          <p:nvPr/>
        </p:nvSpPr>
        <p:spPr>
          <a:xfrm>
            <a:off x="2414016" y="4809744"/>
            <a:ext cx="1561542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35" name="Text 33"/>
          <p:cNvSpPr/>
          <p:nvPr/>
        </p:nvSpPr>
        <p:spPr>
          <a:xfrm>
            <a:off x="2414016" y="44805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" y="49560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14016" y="526694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</p:sp>
      <p:sp>
        <p:nvSpPr>
          <p:cNvPr id="39" name="Shape 37"/>
          <p:cNvSpPr/>
          <p:nvPr/>
        </p:nvSpPr>
        <p:spPr>
          <a:xfrm>
            <a:off x="2414016" y="5266944"/>
            <a:ext cx="11472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</p:sp>
      <p:sp>
        <p:nvSpPr>
          <p:cNvPr id="40" name="Text 38"/>
          <p:cNvSpPr/>
          <p:nvPr/>
        </p:nvSpPr>
        <p:spPr>
          <a:xfrm>
            <a:off x="2414016" y="493776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883664"/>
            <a:ext cx="5303520" cy="3529584"/>
          </a:xfrm>
          <a:prstGeom prst="roundRect">
            <a:avLst>
              <a:gd name="adj" fmla="val 1554"/>
            </a:avLst>
          </a:prstGeom>
          <a:solidFill>
            <a:srgbClr val="F4F6F9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20848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an acronym is still allowed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0" y="2569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Complete-name list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966960" y="255117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/>
        </p:spPr>
      </p:sp>
      <p:sp>
        <p:nvSpPr>
          <p:cNvPr id="45" name="Text 43"/>
          <p:cNvSpPr/>
          <p:nvPr/>
        </p:nvSpPr>
        <p:spPr>
          <a:xfrm>
            <a:off x="9966960" y="2551176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322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never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2862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acronym is not a spelled-out name, so it never reaches this list. No exception exists.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Single-word list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966960" y="334670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</p:sp>
      <p:sp>
        <p:nvSpPr>
          <p:cNvPr id="49" name="Text 47"/>
          <p:cNvSpPr/>
          <p:nvPr/>
        </p:nvSpPr>
        <p:spPr>
          <a:xfrm>
            <a:off x="9966960" y="334670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four only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74904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51" name="Text 49"/>
          <p:cNvSpPr/>
          <p:nvPr/>
        </p:nvSpPr>
        <p:spPr>
          <a:xfrm>
            <a:off x="6839712" y="367588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HUMAN REVIEW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HIV, SARS, HSE and MSUD, each mapped by hand to one disease. Nothing joins automatically.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83680" y="4370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Template slot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66960" y="435254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F0E2"/>
          </a:solidFill>
          <a:ln/>
        </p:spPr>
      </p:sp>
      <p:sp>
        <p:nvSpPr>
          <p:cNvPr id="55" name="Text 53"/>
          <p:cNvSpPr/>
          <p:nvPr/>
        </p:nvSpPr>
        <p:spPr>
          <a:xfrm>
            <a:off x="9966960" y="435254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6B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always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475488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57" name="Text 55"/>
          <p:cNvSpPr/>
          <p:nvPr/>
        </p:nvSpPr>
        <p:spPr>
          <a:xfrm>
            <a:off x="6839712" y="468172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THE LABEL ITSELF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ABCC6 causes PXE. The sentence proves the slot holds a disease before the acronym is read.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55955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1A4565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960" y="569671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" y="569671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468880" y="5559552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Searching acronyms freely was tested: 10 more correct links, 61 wrong ones. It stays off.</a:t>
            </a:r>
            <a:endParaRPr lang="en-US" sz="1400" dirty="0"/>
          </a:p>
        </p:txBody>
      </p:sp>
      <p:pic>
        <p:nvPicPr>
          <p:cNvPr id="63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ONE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AEXS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CYP19A1 causes AEXS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aromatase excess syndrome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pseudohermaphroditism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2852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CDG-1I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ALG2 causes CDG-1i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ALG2-congenital disorder of glycosylation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3310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ALG14 causes ALG14-CMS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DRTA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SLC4A1 causes hereditary spherocytosis type 4 (HSP4), distal renal tubular acidosis (dRTA) and dRTA with hemolytic anemia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distal renal tubular acidosis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non-autoimmune hemolytic anemia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" y="42245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FFDD4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CYP26C1 causes FFDD4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focal facial dermal dysplasia type IV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skin neoplasm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681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(duodenum)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138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(macrophages)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" y="5596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99616" y="5596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37376" y="5596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intrinsic factor deficiency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72016" y="5596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53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TWO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intrinsic factor deficiency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2852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AMN causes MGA1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3310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CUBN causes MGA1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SLC6A2 causes orthostatic intolerance (OI)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osteogenesis imperfecta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Sensorineural hearing impairment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" y="42245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B3GALTL causes PpS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popliteal pterygium syndrome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Peters plus syndrome, orofacial cleft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681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Autosomal dominant spastic paraplegia type 42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138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spastic paraplegia 42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48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HOW THE LIBRARIES WERE CHOSEN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Twelve more public pathway libraries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A456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228 Enrichr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36392" y="1572768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</p:sp>
      <p:sp>
        <p:nvSpPr>
          <p:cNvPr id="9" name="Text 7"/>
          <p:cNvSpPr/>
          <p:nvPr/>
        </p:nvSpPr>
        <p:spPr>
          <a:xfrm>
            <a:off x="3136392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Pathways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88152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9904" y="1572768"/>
            <a:ext cx="365760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9904" y="1572768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 version, no Reactome, GO or mouse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47504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49256" y="1572768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3489C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49256" y="1572768"/>
            <a:ext cx="14630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12 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06654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and gene sets ship in one GMT file, so gene membership needs no target-to-pathway join.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71216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395728"/>
            <a:ext cx="2944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Library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77056" y="2395728"/>
            <a:ext cx="5870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03536" y="239572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Labels 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2916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Elsevier_Pathway_Collection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77056" y="2916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commercially curated disease-mechanism pathways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03536" y="29992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03536" y="29992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3374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KEGG_2026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3374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metabolic, signalling and human-disease pathways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03536" y="34564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03536" y="34564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8313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" y="38313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WikiPathways_2024_Human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77056" y="38313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community-curated biological pathways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03536" y="39136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36" name="Text 34"/>
          <p:cNvSpPr/>
          <p:nvPr/>
        </p:nvSpPr>
        <p:spPr>
          <a:xfrm>
            <a:off x="10003536" y="39136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885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2885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BioPlanet_2019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77056" y="42885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NCATS, integrated and deduplicated human pathways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03536" y="43708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03536" y="43708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47457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457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 / NCI-Nature / Panther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77056" y="47457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maps, PID signalling, PANTHER classification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003536" y="48280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46" name="Text 44"/>
          <p:cNvSpPr/>
          <p:nvPr/>
        </p:nvSpPr>
        <p:spPr>
          <a:xfrm>
            <a:off x="10003536" y="48280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029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" y="5202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HumanCyc / PFOCR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77056" y="5202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metabolic pathways, gene sets mined from figures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003536" y="52852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51" name="Text 49"/>
          <p:cNvSpPr/>
          <p:nvPr/>
        </p:nvSpPr>
        <p:spPr>
          <a:xfrm>
            <a:off x="10003536" y="5285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6601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" y="5660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 (3 collections)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77056" y="5660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hallmark states, computational modules, oncogenic signatures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003536" y="57424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</p:sp>
      <p:sp>
        <p:nvSpPr>
          <p:cNvPr id="56" name="Text 54"/>
          <p:cNvSpPr/>
          <p:nvPr/>
        </p:nvSpPr>
        <p:spPr>
          <a:xfrm>
            <a:off x="10003536" y="5742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maayanlab.cloud/Enrichr</a:t>
            </a:r>
            <a:endParaRPr lang="en-US" sz="1200" dirty="0"/>
          </a:p>
        </p:txBody>
      </p:sp>
      <p:pic>
        <p:nvPicPr>
          <p:cNvPr id="58" name="Image 0" descr="/Users/polina/disPathCuration/presentation/assets/ot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extraction of disease pathways</dc:title>
  <dc:subject>PptxGenJS Presentation</dc:subject>
  <dc:creator>Polina Rusina</dc:creator>
  <cp:lastModifiedBy>Polina Rusina</cp:lastModifiedBy>
  <cp:revision>1</cp:revision>
  <dcterms:created xsi:type="dcterms:W3CDTF">2026-08-31T14:16:23Z</dcterms:created>
  <dcterms:modified xsi:type="dcterms:W3CDTF">2026-08-31T14:16:23Z</dcterms:modified>
</cp:coreProperties>
</file>