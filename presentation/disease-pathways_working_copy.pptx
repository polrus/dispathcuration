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4_0.xml" ContentType="application/vnd.ms-powerpoint.comments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7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E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3" r:id="rId4"/>
    <p:sldId id="282" r:id="rId5"/>
    <p:sldId id="289" r:id="rId6"/>
    <p:sldId id="287" r:id="rId7"/>
    <p:sldId id="288" r:id="rId8"/>
    <p:sldId id="260" r:id="rId9"/>
    <p:sldId id="262" r:id="rId10"/>
    <p:sldId id="274" r:id="rId11"/>
    <p:sldId id="263" r:id="rId12"/>
    <p:sldId id="265" r:id="rId13"/>
    <p:sldId id="278" r:id="rId14"/>
    <p:sldId id="279" r:id="rId15"/>
    <p:sldId id="270" r:id="rId16"/>
    <p:sldId id="271" r:id="rId17"/>
    <p:sldId id="286" r:id="rId18"/>
    <p:sldId id="275" r:id="rId19"/>
    <p:sldId id="276" r:id="rId20"/>
    <p:sldId id="277" r:id="rId21"/>
    <p:sldId id="272" r:id="rId22"/>
    <p:sldId id="267" r:id="rId23"/>
  </p:sldIdLst>
  <p:sldSz cx="12192000" cy="6858000"/>
  <p:notesSz cx="6858000" cy="12192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Medium" panose="02000000000000000000" pitchFamily="2" charset="0"/>
      <p:regular r:id="rId29"/>
      <p:italic r:id="rId30"/>
    </p:embeddedFont>
    <p:embeddedFont>
      <p:font typeface="Trebuchet MS" panose="020B0703020202090204" pitchFamily="34" charset="0"/>
      <p:regular r:id="rId31"/>
      <p:bold r:id="rId32"/>
      <p: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721450-6416-CBE8-F902-FD1499B94835}" name="Polina Rusina" initials="PR" userId="Polina Rusin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BB69"/>
    <a:srgbClr val="A4D5A6"/>
    <a:srgbClr val="FFD1CA"/>
    <a:srgbClr val="1A4565"/>
    <a:srgbClr val="C2DBEE"/>
    <a:srgbClr val="606565"/>
    <a:srgbClr val="3389CB"/>
    <a:srgbClr val="F4F7FA"/>
    <a:srgbClr val="D5D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79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3708C1-C19F-FD48-99F3-80A44F56FC51}" authorId="{24721450-6416-CBE8-F902-FD1499B94835}" created="2026-09-01T10:08:00.879">
    <pc:sldMkLst xmlns:pc="http://schemas.microsoft.com/office/powerpoint/2013/main/command">
      <pc:docMk/>
      <pc:sldMk cId="0" sldId="270"/>
    </pc:sldMkLst>
    <p188:txBody>
      <a:bodyPr/>
      <a:lstStyle/>
      <a:p>
        <a:r>
          <a:rPr lang="en-US"/>
          <a:t>Link =?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F066B6-39AE-E04C-9AE1-B08E9A75F559}" authorId="{24721450-6416-CBE8-F902-FD1499B94835}" created="2026-09-01T10:05:44.613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Write how the score is calculated exactly and how the threshold is set
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D0C92D-DCBA-1348-A5E3-3DC03878A3E5}" authorId="{24721450-6416-CBE8-F902-FD1499B94835}" created="2026-09-01T10:05:58.124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Change places of 3 </a:t>
        </a:r>
      </a:p>
    </p188:txBody>
  </p188:cm>
  <p188:cm id="{373B052D-99F3-C742-9109-0763651D1995}" authorId="{24721450-6416-CBE8-F902-FD1499B94835}" created="2026-09-01T10:06:17.440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Explain why 3 of them needed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BC32CC-9385-5D46-8C2C-52997FDE58DB}" authorId="{24721450-6416-CBE8-F902-FD1499B94835}" status="resolved" created="2026-09-01T10:07:17.289" complete="100000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US"/>
          <a:t>Show the line of how many adds, how many in benchmark, how much wrong (venn diagram)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03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20EE-A7A9-2103-9F29-4542FBB9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7C9C8-C7DF-7DD4-9E44-E5784288C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94CA6-7B2C-7530-F03A-38A2DC931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913C1-C266-A2ED-AE09-44867F978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46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2DC1-9199-40C8-1820-5819C0CD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0404A-33DD-DABB-0905-966AD4BB4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41D9-3E7E-EDE8-5614-F4FACE5C0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FBBCD-56C7-7998-E7ED-E98C78595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4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808CD-DD1F-904E-EC61-0E4FFE36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727B4-44F1-9739-6813-368EE10E9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60DD8-211B-175D-C31B-4C422651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B41C-EE98-E8A9-5C74-BD60840CF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04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E8E7-17F3-E23B-EBD6-D61A0E74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E720C-DF7F-9441-1E1A-B1827F78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53053-1080-CCA4-0CBD-F69C57316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B1324-2733-D734-3BE9-67BECCE58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18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ina/disPathCuration/presentation/assets/ot-titl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1828800" cy="5518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194560"/>
            <a:ext cx="74975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</a:t>
            </a:r>
          </a:p>
          <a:p>
            <a:pPr marL="0" indent="0">
              <a:buNone/>
            </a:pPr>
            <a:r>
              <a:rPr lang="en-US" sz="50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disease pathways</a:t>
            </a:r>
            <a:endParaRPr lang="en-US" sz="5000" dirty="0"/>
          </a:p>
        </p:txBody>
      </p:sp>
      <p:sp>
        <p:nvSpPr>
          <p:cNvPr id="5" name="Text 1"/>
          <p:cNvSpPr/>
          <p:nvPr/>
        </p:nvSpPr>
        <p:spPr>
          <a:xfrm>
            <a:off x="777240" y="4480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Polina Rusina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35600" y="1750059"/>
            <a:ext cx="6756400" cy="53169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35600" y="3182650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435600" y="4615241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35600" y="6047831"/>
            <a:ext cx="6756400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2738120" y="2080694"/>
            <a:ext cx="402336" cy="110195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203"/>
          <p:cNvSpPr/>
          <p:nvPr/>
        </p:nvSpPr>
        <p:spPr>
          <a:xfrm rot="16200000">
            <a:off x="2385687" y="2432521"/>
            <a:ext cx="1105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3054096" y="3291840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4246080" y="3545912"/>
            <a:ext cx="564797" cy="1060704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3804072" y="5014468"/>
            <a:ext cx="402336" cy="10363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 rot="16200000">
            <a:off x="3476547" y="5367282"/>
            <a:ext cx="10713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100" dirty="0"/>
          </a:p>
        </p:txBody>
      </p:sp>
      <p:sp>
        <p:nvSpPr>
          <p:cNvPr id="214" name="Shape 212"/>
          <p:cNvSpPr/>
          <p:nvPr/>
        </p:nvSpPr>
        <p:spPr>
          <a:xfrm>
            <a:off x="1663700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1955394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1427586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2219812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1608695" y="3449107"/>
            <a:ext cx="583387" cy="1140257"/>
          </a:xfrm>
          <a:prstGeom prst="roundRect">
            <a:avLst>
              <a:gd name="adj" fmla="val 3636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1664395" y="2959353"/>
            <a:ext cx="450799" cy="45079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8812F96-CFEC-E008-96DD-6C77A25BD218}"/>
              </a:ext>
            </a:extLst>
          </p:cNvPr>
          <p:cNvGrpSpPr/>
          <p:nvPr/>
        </p:nvGrpSpPr>
        <p:grpSpPr>
          <a:xfrm rot="16200000">
            <a:off x="150013" y="2485861"/>
            <a:ext cx="1077825" cy="339034"/>
            <a:chOff x="1234440" y="4206240"/>
            <a:chExt cx="1417320" cy="292608"/>
          </a:xfrm>
        </p:grpSpPr>
        <p:sp>
          <p:nvSpPr>
            <p:cNvPr id="220" name="Shape 218"/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/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43EA290-6799-837A-542F-6F95A8701935}"/>
              </a:ext>
            </a:extLst>
          </p:cNvPr>
          <p:cNvGrpSpPr/>
          <p:nvPr/>
        </p:nvGrpSpPr>
        <p:grpSpPr>
          <a:xfrm>
            <a:off x="1332046" y="3738086"/>
            <a:ext cx="1115725" cy="192679"/>
            <a:chOff x="1234440" y="4535424"/>
            <a:chExt cx="1417320" cy="292608"/>
          </a:xfrm>
        </p:grpSpPr>
        <p:sp>
          <p:nvSpPr>
            <p:cNvPr id="222" name="Shape 220"/>
            <p:cNvSpPr/>
            <p:nvPr/>
          </p:nvSpPr>
          <p:spPr>
            <a:xfrm>
              <a:off x="1234440" y="4535424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Text 221"/>
            <p:cNvSpPr/>
            <p:nvPr/>
          </p:nvSpPr>
          <p:spPr>
            <a:xfrm>
              <a:off x="1271016" y="4535424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Rider</a:t>
              </a:r>
              <a:endParaRPr lang="en-US" sz="1200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ED10628-1B5A-7879-C386-30AF4954732B}"/>
              </a:ext>
            </a:extLst>
          </p:cNvPr>
          <p:cNvGrpSpPr/>
          <p:nvPr/>
        </p:nvGrpSpPr>
        <p:grpSpPr>
          <a:xfrm>
            <a:off x="1171712" y="4214595"/>
            <a:ext cx="1417320" cy="263433"/>
            <a:chOff x="1234440" y="4864608"/>
            <a:chExt cx="1417320" cy="292608"/>
          </a:xfrm>
        </p:grpSpPr>
        <p:sp>
          <p:nvSpPr>
            <p:cNvPr id="224" name="Shape 222"/>
            <p:cNvSpPr/>
            <p:nvPr/>
          </p:nvSpPr>
          <p:spPr>
            <a:xfrm>
              <a:off x="1234440" y="4864608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Text 223"/>
            <p:cNvSpPr/>
            <p:nvPr/>
          </p:nvSpPr>
          <p:spPr>
            <a:xfrm>
              <a:off x="1271016" y="4864608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Last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8" name="Text 226"/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0ECC70A-0500-32D4-E071-C0558C837A75}"/>
              </a:ext>
            </a:extLst>
          </p:cNvPr>
          <p:cNvGrpSpPr/>
          <p:nvPr/>
        </p:nvGrpSpPr>
        <p:grpSpPr>
          <a:xfrm rot="5400000">
            <a:off x="1772172" y="3362464"/>
            <a:ext cx="221309" cy="1441171"/>
            <a:chOff x="4148924" y="1844070"/>
            <a:chExt cx="413932" cy="1343252"/>
          </a:xfrm>
        </p:grpSpPr>
        <p:sp>
          <p:nvSpPr>
            <p:cNvPr id="206" name="Shape 204"/>
            <p:cNvSpPr/>
            <p:nvPr/>
          </p:nvSpPr>
          <p:spPr>
            <a:xfrm>
              <a:off x="4148924" y="1861442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207" name="Text 205"/>
            <p:cNvSpPr/>
            <p:nvPr/>
          </p:nvSpPr>
          <p:spPr>
            <a:xfrm rot="16200000">
              <a:off x="3698748" y="2305842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Dance with </a:t>
              </a: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000" dirty="0"/>
            </a:p>
          </p:txBody>
        </p:sp>
      </p:grpSp>
      <p:sp>
        <p:nvSpPr>
          <p:cNvPr id="246" name="Shape 214">
            <a:extLst>
              <a:ext uri="{FF2B5EF4-FFF2-40B4-BE49-F238E27FC236}">
                <a16:creationId xmlns:a16="http://schemas.microsoft.com/office/drawing/2014/main" id="{4BEABCDC-D021-8320-4E2E-BB3F3B1B7B52}"/>
              </a:ext>
            </a:extLst>
          </p:cNvPr>
          <p:cNvSpPr/>
          <p:nvPr/>
        </p:nvSpPr>
        <p:spPr>
          <a:xfrm rot="5400000">
            <a:off x="1418447" y="4374060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14">
            <a:extLst>
              <a:ext uri="{FF2B5EF4-FFF2-40B4-BE49-F238E27FC236}">
                <a16:creationId xmlns:a16="http://schemas.microsoft.com/office/drawing/2014/main" id="{1CF988BD-D32B-B28D-527F-FE24294AE781}"/>
              </a:ext>
            </a:extLst>
          </p:cNvPr>
          <p:cNvSpPr/>
          <p:nvPr/>
        </p:nvSpPr>
        <p:spPr>
          <a:xfrm rot="5400000">
            <a:off x="2219811" y="4391555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156">
            <a:extLst>
              <a:ext uri="{FF2B5EF4-FFF2-40B4-BE49-F238E27FC236}">
                <a16:creationId xmlns:a16="http://schemas.microsoft.com/office/drawing/2014/main" id="{EE5D88AA-E2EE-29F7-E93E-6D92F405DECC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68658E74-303D-2EAE-19A8-26FE0065A022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23351D35-7E06-E6BB-A010-083EF34A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01DD182-6044-650B-815D-89A5438E2C58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77317312-8171-6DB8-0514-919A2B4DF9BE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5FB33347-0BC2-2EDD-6E5B-BEB23785FF91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Library</a:t>
              </a:r>
              <a:endParaRPr lang="en-US" sz="3200" dirty="0"/>
            </a:p>
          </p:txBody>
        </p:sp>
      </p:grpSp>
      <p:sp>
        <p:nvSpPr>
          <p:cNvPr id="4" name="Text 209">
            <a:extLst>
              <a:ext uri="{FF2B5EF4-FFF2-40B4-BE49-F238E27FC236}">
                <a16:creationId xmlns:a16="http://schemas.microsoft.com/office/drawing/2014/main" id="{303C8019-4660-A0A8-2D5B-CC2FB830D8BF}"/>
              </a:ext>
            </a:extLst>
          </p:cNvPr>
          <p:cNvSpPr/>
          <p:nvPr/>
        </p:nvSpPr>
        <p:spPr>
          <a:xfrm rot="16200000">
            <a:off x="4041182" y="3829768"/>
            <a:ext cx="987552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800" dirty="0"/>
          </a:p>
        </p:txBody>
      </p:sp>
      <p:sp>
        <p:nvSpPr>
          <p:cNvPr id="5" name="Text 207">
            <a:extLst>
              <a:ext uri="{FF2B5EF4-FFF2-40B4-BE49-F238E27FC236}">
                <a16:creationId xmlns:a16="http://schemas.microsoft.com/office/drawing/2014/main" id="{D90C8349-441B-8607-2DB2-22F140E227D9}"/>
              </a:ext>
            </a:extLst>
          </p:cNvPr>
          <p:cNvSpPr/>
          <p:nvPr/>
        </p:nvSpPr>
        <p:spPr>
          <a:xfrm rot="16200000">
            <a:off x="2596896" y="3749039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D39F0-FA46-98B9-2D92-81F06976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89A766-634E-8C58-9AA8-2DDA72F1C4D1}"/>
              </a:ext>
            </a:extLst>
          </p:cNvPr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09C254-02C9-6149-E985-5944FE8EE5B4}"/>
              </a:ext>
            </a:extLst>
          </p:cNvPr>
          <p:cNvSpPr/>
          <p:nvPr/>
        </p:nvSpPr>
        <p:spPr>
          <a:xfrm>
            <a:off x="5435600" y="175006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B6D6D8-6526-C0DD-76E6-265A2D22994E}"/>
              </a:ext>
            </a:extLst>
          </p:cNvPr>
          <p:cNvSpPr/>
          <p:nvPr/>
        </p:nvSpPr>
        <p:spPr>
          <a:xfrm>
            <a:off x="6532880" y="175006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BBC0241-4280-55B1-FE57-20F2AF3F4F0C}"/>
              </a:ext>
            </a:extLst>
          </p:cNvPr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D805F96-D491-D713-CE0A-8C6463CF2C34}"/>
              </a:ext>
            </a:extLst>
          </p:cNvPr>
          <p:cNvSpPr/>
          <p:nvPr/>
        </p:nvSpPr>
        <p:spPr>
          <a:xfrm>
            <a:off x="5435600" y="318265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024F5D60-813B-A509-1B36-4D380D31F4D7}"/>
              </a:ext>
            </a:extLst>
          </p:cNvPr>
          <p:cNvSpPr/>
          <p:nvPr/>
        </p:nvSpPr>
        <p:spPr>
          <a:xfrm>
            <a:off x="6532880" y="318265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577AE7D-D195-5BEF-285C-A4DEC4F78C3B}"/>
              </a:ext>
            </a:extLst>
          </p:cNvPr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27CA5D9C-1E8A-13D4-69E3-0FFED9908CEF}"/>
              </a:ext>
            </a:extLst>
          </p:cNvPr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5C11800-8604-6C7E-32B1-B64CE1B8E9AC}"/>
              </a:ext>
            </a:extLst>
          </p:cNvPr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A8F8480-A315-AE93-D539-39205EEA9DD8}"/>
              </a:ext>
            </a:extLst>
          </p:cNvPr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1621EC2-A114-E39C-7D4D-644078ACF83C}"/>
              </a:ext>
            </a:extLst>
          </p:cNvPr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3845355-25A8-B5D1-657E-D6937C6C1D8E}"/>
              </a:ext>
            </a:extLst>
          </p:cNvPr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6F20F7C-B9EF-11E7-174F-FB188C146461}"/>
              </a:ext>
            </a:extLst>
          </p:cNvPr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74624591-0CD6-6199-83F4-7B3A45D2531B}"/>
              </a:ext>
            </a:extLst>
          </p:cNvPr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8ACE238-424B-4F72-B827-BB5A29B4FA51}"/>
              </a:ext>
            </a:extLst>
          </p:cNvPr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C1A5C5DA-0E8C-8100-1BB5-1961B604F217}"/>
              </a:ext>
            </a:extLst>
          </p:cNvPr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619A9FC-2EC8-43B8-B45B-7206701A797D}"/>
              </a:ext>
            </a:extLst>
          </p:cNvPr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6E17733-2152-05B6-2149-D5CAB06DAD63}"/>
              </a:ext>
            </a:extLst>
          </p:cNvPr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D229EF05-42BC-358A-1F25-9FA5E77AA87B}"/>
              </a:ext>
            </a:extLst>
          </p:cNvPr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13533A49-B544-C3C6-9F50-834A46C93C8F}"/>
              </a:ext>
            </a:extLst>
          </p:cNvPr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1E4A6373-B203-7ADF-36AE-22E75DB90B6B}"/>
              </a:ext>
            </a:extLst>
          </p:cNvPr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F2A56F9A-470E-4E84-FD1D-F13387606A6C}"/>
              </a:ext>
            </a:extLst>
          </p:cNvPr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AD09681-0B25-4831-989D-CE03B13E6825}"/>
              </a:ext>
            </a:extLst>
          </p:cNvPr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B0D21E62-4395-2FF6-D252-C0C67FD29519}"/>
              </a:ext>
            </a:extLst>
          </p:cNvPr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44682E21-6FB2-91A4-39DB-3C41FD392A6A}"/>
              </a:ext>
            </a:extLst>
          </p:cNvPr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E6C6089-5832-DB3C-9F64-22B2D335ECAC}"/>
              </a:ext>
            </a:extLst>
          </p:cNvPr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30E17DDA-A2CA-D750-905B-363595D79D9F}"/>
              </a:ext>
            </a:extLst>
          </p:cNvPr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67CC7BD-BF52-E1D7-E088-A98F5D108AF0}"/>
              </a:ext>
            </a:extLst>
          </p:cNvPr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AA91524E-8664-FE06-571A-C1AD7216B142}"/>
              </a:ext>
            </a:extLst>
          </p:cNvPr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14F99B3D-F343-4CF2-B1AD-75310A18AFBE}"/>
              </a:ext>
            </a:extLst>
          </p:cNvPr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B72D8D75-1EDE-1DC7-D51F-50CDB251E370}"/>
              </a:ext>
            </a:extLst>
          </p:cNvPr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3061E0F-6FD7-7245-9581-56A37B38A066}"/>
              </a:ext>
            </a:extLst>
          </p:cNvPr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A07C62CC-4A15-8196-4034-F80480DEEFB5}"/>
              </a:ext>
            </a:extLst>
          </p:cNvPr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A5BEB09-5B3F-5B56-91A2-0A28EDDE2163}"/>
              </a:ext>
            </a:extLst>
          </p:cNvPr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DB55A85A-EED0-B042-D35A-11FF4CE6FB3B}"/>
              </a:ext>
            </a:extLst>
          </p:cNvPr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3E9F2DAA-D180-86B8-C027-4104996A9D05}"/>
              </a:ext>
            </a:extLst>
          </p:cNvPr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E37F6D6E-BF8A-AD0B-A3F9-F7738DAB18F4}"/>
              </a:ext>
            </a:extLst>
          </p:cNvPr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6A30F628-A257-CADA-2799-A02098934B92}"/>
              </a:ext>
            </a:extLst>
          </p:cNvPr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77434939-9B6E-1D51-20A4-3F78C619C436}"/>
              </a:ext>
            </a:extLst>
          </p:cNvPr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5E76F3D6-D44F-F7D0-0037-6B72082AAE6F}"/>
              </a:ext>
            </a:extLst>
          </p:cNvPr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D9BF1A2D-B24A-72F7-8EF5-65A2C24F3805}"/>
              </a:ext>
            </a:extLst>
          </p:cNvPr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7ECF809E-6C4E-6B15-94E7-E17EC8E984F5}"/>
              </a:ext>
            </a:extLst>
          </p:cNvPr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F317B1EC-7927-F541-3FA7-9533BA08475B}"/>
              </a:ext>
            </a:extLst>
          </p:cNvPr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F9286B77-7D38-2B09-D460-A66DCE826D3A}"/>
              </a:ext>
            </a:extLst>
          </p:cNvPr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60DB50E2-A304-1EA4-783E-5E78AF038614}"/>
              </a:ext>
            </a:extLst>
          </p:cNvPr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24C6F3FF-79AC-C513-3589-E5EA8099BDDA}"/>
              </a:ext>
            </a:extLst>
          </p:cNvPr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825916FB-3F58-D099-8555-DF3D0A38AD06}"/>
              </a:ext>
            </a:extLst>
          </p:cNvPr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813ED770-8619-B8B9-7FFB-99B2321A895C}"/>
              </a:ext>
            </a:extLst>
          </p:cNvPr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0A35BD8C-49C5-6B49-ED9C-8C13F337460B}"/>
              </a:ext>
            </a:extLst>
          </p:cNvPr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D2FF362D-3821-6930-95F0-4F237B5AB14D}"/>
              </a:ext>
            </a:extLst>
          </p:cNvPr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E3C8D2BB-B1B3-5B31-6FC8-08DC86F8F675}"/>
              </a:ext>
            </a:extLst>
          </p:cNvPr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AD299C88-AA07-FF47-A230-13FB2BB2F53C}"/>
              </a:ext>
            </a:extLst>
          </p:cNvPr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EA2D5D69-2415-AB44-021E-7703DE3364B6}"/>
              </a:ext>
            </a:extLst>
          </p:cNvPr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DA1EC968-E7A8-3C89-1E85-EF1BEA44A4BE}"/>
              </a:ext>
            </a:extLst>
          </p:cNvPr>
          <p:cNvSpPr/>
          <p:nvPr/>
        </p:nvSpPr>
        <p:spPr>
          <a:xfrm>
            <a:off x="5435600" y="461524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CA0DC09D-BB6C-AC7E-0CC5-493C44A4B539}"/>
              </a:ext>
            </a:extLst>
          </p:cNvPr>
          <p:cNvSpPr/>
          <p:nvPr/>
        </p:nvSpPr>
        <p:spPr>
          <a:xfrm>
            <a:off x="6532880" y="461524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D7237DD9-6BE8-A5BE-A965-A016BE55822C}"/>
              </a:ext>
            </a:extLst>
          </p:cNvPr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BFFBCFAD-5219-C950-43C3-77E382DD84A7}"/>
              </a:ext>
            </a:extLst>
          </p:cNvPr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E3AF6332-A673-CBC7-F5BB-2AF1AE80C6D8}"/>
              </a:ext>
            </a:extLst>
          </p:cNvPr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C7B8F642-9A55-5D30-3993-86EFFF6865A0}"/>
              </a:ext>
            </a:extLst>
          </p:cNvPr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36465C85-1D8B-A7AC-BD47-C36191EB4C6B}"/>
              </a:ext>
            </a:extLst>
          </p:cNvPr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446B8C89-99F1-E005-E5BC-807A9AFFB0AB}"/>
              </a:ext>
            </a:extLst>
          </p:cNvPr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4B0980A5-F9B2-7BB7-6C79-71494F2F32A0}"/>
              </a:ext>
            </a:extLst>
          </p:cNvPr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44CA3489-FF43-BAF6-ACE2-547CED358C47}"/>
              </a:ext>
            </a:extLst>
          </p:cNvPr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FF29E357-6425-4742-5344-951AA8AB0414}"/>
              </a:ext>
            </a:extLst>
          </p:cNvPr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16F0AC09-5BB6-E787-A062-F00BCA215701}"/>
              </a:ext>
            </a:extLst>
          </p:cNvPr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843FFEFE-00AD-965D-3031-B0FE0B892B05}"/>
              </a:ext>
            </a:extLst>
          </p:cNvPr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309CFA01-AE58-269B-E6E6-F43C062BCE3E}"/>
              </a:ext>
            </a:extLst>
          </p:cNvPr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A119DDAF-ED2A-8AE9-0CE6-6AC2F6C5A826}"/>
              </a:ext>
            </a:extLst>
          </p:cNvPr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3582607A-CAF2-9F30-5B4C-CCEFA0125F85}"/>
              </a:ext>
            </a:extLst>
          </p:cNvPr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253E3557-0DC9-32B3-1CAD-E1780B6489B0}"/>
              </a:ext>
            </a:extLst>
          </p:cNvPr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5A090438-A650-58E1-79FD-3853B4A453D8}"/>
              </a:ext>
            </a:extLst>
          </p:cNvPr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0EB13111-B09E-B845-DE54-04D4DFFD7D38}"/>
              </a:ext>
            </a:extLst>
          </p:cNvPr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1641BA09-7B7F-829D-ED40-B54094E3CA50}"/>
              </a:ext>
            </a:extLst>
          </p:cNvPr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0623F474-A228-76C3-7333-8A5335055EF0}"/>
              </a:ext>
            </a:extLst>
          </p:cNvPr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C7C81674-1C76-B724-D1AB-26715AF3D8B6}"/>
              </a:ext>
            </a:extLst>
          </p:cNvPr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78816803-6EC2-2B3E-02E4-5235C342288E}"/>
              </a:ext>
            </a:extLst>
          </p:cNvPr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0D5C35E3-99AC-461B-D5C3-8FA41BFE8B3D}"/>
              </a:ext>
            </a:extLst>
          </p:cNvPr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14A11849-FD7D-DAC7-3AA3-DECCB4383DA3}"/>
              </a:ext>
            </a:extLst>
          </p:cNvPr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C692F761-6DF0-E5CC-DB86-E76C06491320}"/>
              </a:ext>
            </a:extLst>
          </p:cNvPr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BC7B69F2-6D00-B5D7-F437-B6FC9E1BB8CE}"/>
              </a:ext>
            </a:extLst>
          </p:cNvPr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3D7DD474-9399-F76E-6B5C-E0718910421E}"/>
              </a:ext>
            </a:extLst>
          </p:cNvPr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F8D0C50C-2384-4CA1-06E2-CF5110458DC5}"/>
              </a:ext>
            </a:extLst>
          </p:cNvPr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930E9F71-100F-19B2-593A-AB5DF31899D2}"/>
              </a:ext>
            </a:extLst>
          </p:cNvPr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591EE2A6-1AA7-62F6-1051-05B4CB623797}"/>
              </a:ext>
            </a:extLst>
          </p:cNvPr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1EEEF79B-D7CD-847A-E557-378A442E471C}"/>
              </a:ext>
            </a:extLst>
          </p:cNvPr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C93D463D-3ABB-F591-77F2-A8192FD28A1C}"/>
              </a:ext>
            </a:extLst>
          </p:cNvPr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9A3717E6-AA4F-6E3A-5AF6-B29AE4319871}"/>
              </a:ext>
            </a:extLst>
          </p:cNvPr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CFCF65C7-5389-97B0-E4E5-0C28D146938E}"/>
              </a:ext>
            </a:extLst>
          </p:cNvPr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EA07F452-9D8E-9DAD-16F4-61480EF588DB}"/>
              </a:ext>
            </a:extLst>
          </p:cNvPr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942C44F3-A7E4-E61D-34B2-DB8EC8D26C40}"/>
              </a:ext>
            </a:extLst>
          </p:cNvPr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9AC8BBAE-0B1B-9F79-9A77-4F4E96BCE539}"/>
              </a:ext>
            </a:extLst>
          </p:cNvPr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1527FFB9-66A4-7748-F2E9-DEA1ACF708E4}"/>
              </a:ext>
            </a:extLst>
          </p:cNvPr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6EF514A4-F3E7-3B90-D28A-C014FA938B8F}"/>
              </a:ext>
            </a:extLst>
          </p:cNvPr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612DF262-DB41-477C-1A8B-DDD56796B39C}"/>
              </a:ext>
            </a:extLst>
          </p:cNvPr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B083D339-B305-549D-5CB6-F9E500B81BC6}"/>
              </a:ext>
            </a:extLst>
          </p:cNvPr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797492CC-3C90-2580-4D55-C55671B39EAE}"/>
              </a:ext>
            </a:extLst>
          </p:cNvPr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606E56AF-034C-9621-767D-DF998A3B42E1}"/>
              </a:ext>
            </a:extLst>
          </p:cNvPr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BE7AC715-8D94-A240-30C0-08CB21A33F79}"/>
              </a:ext>
            </a:extLst>
          </p:cNvPr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8288F482-D28C-65D8-F66B-0B69B3DAE37C}"/>
              </a:ext>
            </a:extLst>
          </p:cNvPr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5EDB2816-0830-A4F3-5EC7-5AB300A59AF1}"/>
              </a:ext>
            </a:extLst>
          </p:cNvPr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04DA048B-49CD-5F55-AB71-1F14224681E2}"/>
              </a:ext>
            </a:extLst>
          </p:cNvPr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C0683B9C-DA58-FCC5-7D98-8EDA51EBCD5D}"/>
              </a:ext>
            </a:extLst>
          </p:cNvPr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AD9AFD55-0429-AF94-F33D-73211C87A230}"/>
              </a:ext>
            </a:extLst>
          </p:cNvPr>
          <p:cNvSpPr/>
          <p:nvPr/>
        </p:nvSpPr>
        <p:spPr>
          <a:xfrm>
            <a:off x="5435600" y="604783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CBB6CFC3-6F14-A93A-A572-D9865BB73BFB}"/>
              </a:ext>
            </a:extLst>
          </p:cNvPr>
          <p:cNvSpPr/>
          <p:nvPr/>
        </p:nvSpPr>
        <p:spPr>
          <a:xfrm>
            <a:off x="6532880" y="604783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0D52E29E-8515-018A-BBAF-8FA0E5911D85}"/>
              </a:ext>
            </a:extLst>
          </p:cNvPr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2F8153CC-A073-E900-6329-871F824B05EA}"/>
              </a:ext>
            </a:extLst>
          </p:cNvPr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8C61FD48-0717-4BB8-9EDD-69D0F05EC8EC}"/>
              </a:ext>
            </a:extLst>
          </p:cNvPr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0CA934E2-DBA9-E5BD-60B3-EDAB893B1E7B}"/>
              </a:ext>
            </a:extLst>
          </p:cNvPr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5A8E4F4E-185E-9E18-8577-81281F2B114A}"/>
              </a:ext>
            </a:extLst>
          </p:cNvPr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3551FF66-5D3B-1106-2675-B5E517D6CEA2}"/>
              </a:ext>
            </a:extLst>
          </p:cNvPr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41B75F05-3B63-8B0D-BB49-D8D22AD6C7E1}"/>
              </a:ext>
            </a:extLst>
          </p:cNvPr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6916BDBA-456C-1F8E-3720-C745895D0D6C}"/>
              </a:ext>
            </a:extLst>
          </p:cNvPr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E205D0B8-FB0A-9E44-7A9E-6C814A646D5D}"/>
              </a:ext>
            </a:extLst>
          </p:cNvPr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59906FF4-A75C-E8E4-240C-28659AD70698}"/>
              </a:ext>
            </a:extLst>
          </p:cNvPr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D35327E8-C4F7-F092-6BA8-BA1BF39E9A88}"/>
              </a:ext>
            </a:extLst>
          </p:cNvPr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077393DF-0541-09E4-5102-96F84D616F27}"/>
              </a:ext>
            </a:extLst>
          </p:cNvPr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1EC87DCB-949D-5F9B-30A5-E0E0C66D6609}"/>
              </a:ext>
            </a:extLst>
          </p:cNvPr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8B984C9B-9385-D9FF-2364-F5B1B415DBEA}"/>
              </a:ext>
            </a:extLst>
          </p:cNvPr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77B2B7A9-23BD-7466-9E92-09650AFDD245}"/>
              </a:ext>
            </a:extLst>
          </p:cNvPr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8FFC2589-0C68-5C87-07FC-C9D87300C208}"/>
              </a:ext>
            </a:extLst>
          </p:cNvPr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72D518A7-298E-2D0D-25B0-18E2C64CFE62}"/>
              </a:ext>
            </a:extLst>
          </p:cNvPr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FF166181-31FE-2E68-C276-A3949ED0248A}"/>
              </a:ext>
            </a:extLst>
          </p:cNvPr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62699A5B-C5CD-254B-0220-306193D5EB89}"/>
              </a:ext>
            </a:extLst>
          </p:cNvPr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0F15403A-896D-2468-E821-3ED8FCC68315}"/>
              </a:ext>
            </a:extLst>
          </p:cNvPr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3490C5BA-1F9F-C206-4879-9F18AB2A2BEF}"/>
              </a:ext>
            </a:extLst>
          </p:cNvPr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7318D7C2-64F5-2D78-10E0-513D79A61739}"/>
              </a:ext>
            </a:extLst>
          </p:cNvPr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1C51F5EF-161A-078F-E5A5-01B51546B377}"/>
              </a:ext>
            </a:extLst>
          </p:cNvPr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4199B7FD-BF2A-FAAF-B919-9E2FD7301743}"/>
              </a:ext>
            </a:extLst>
          </p:cNvPr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30023F6E-A7EE-A75B-5FB9-D2A80D32F9E2}"/>
              </a:ext>
            </a:extLst>
          </p:cNvPr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4D1C107B-FAC7-738F-44A2-9406DB628403}"/>
              </a:ext>
            </a:extLst>
          </p:cNvPr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8CCBE378-D821-0C48-726D-15D0227C0F05}"/>
              </a:ext>
            </a:extLst>
          </p:cNvPr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497E7700-65F4-1371-AB45-DF873952B44D}"/>
              </a:ext>
            </a:extLst>
          </p:cNvPr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785C1959-5734-5906-C255-508F28819ED1}"/>
              </a:ext>
            </a:extLst>
          </p:cNvPr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4D9632E1-47D4-07B9-CA34-15070732B4CB}"/>
              </a:ext>
            </a:extLst>
          </p:cNvPr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FCB8821C-7550-F136-BA86-8F4969F81E66}"/>
              </a:ext>
            </a:extLst>
          </p:cNvPr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E1A339E9-F5C5-5E4E-11EE-CACE16103827}"/>
              </a:ext>
            </a:extLst>
          </p:cNvPr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09F094F4-7BFC-914F-16BE-34C2B2709A2F}"/>
              </a:ext>
            </a:extLst>
          </p:cNvPr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DA3704B7-9015-A5F1-C4CF-69A8F947CDD8}"/>
              </a:ext>
            </a:extLst>
          </p:cNvPr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F415D535-04A7-ADF5-F3DE-C11331D06CA1}"/>
              </a:ext>
            </a:extLst>
          </p:cNvPr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4A23AA3C-97A1-1641-B3B9-18CC8875ECE5}"/>
              </a:ext>
            </a:extLst>
          </p:cNvPr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7BA7DCBB-1750-AAB5-6F9C-EA6CED17D88D}"/>
              </a:ext>
            </a:extLst>
          </p:cNvPr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79659096-D9C4-7267-7813-AD73E33C8E60}"/>
              </a:ext>
            </a:extLst>
          </p:cNvPr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11BD0B41-3BD4-2985-3395-64199FFA4D33}"/>
              </a:ext>
            </a:extLst>
          </p:cNvPr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55DB2A37-E7BA-68AE-5319-AB181CF0B1E0}"/>
              </a:ext>
            </a:extLst>
          </p:cNvPr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F801A853-748F-039C-543E-F5C4BC34AA36}"/>
              </a:ext>
            </a:extLst>
          </p:cNvPr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792AB0FD-0826-1F69-E603-BCF7E0BE631E}"/>
              </a:ext>
            </a:extLst>
          </p:cNvPr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1701F7E6-E015-CE25-C32C-AE0EF31F2045}"/>
              </a:ext>
            </a:extLst>
          </p:cNvPr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01D2CB40-72E2-6FD6-0393-04FC8E97C65D}"/>
              </a:ext>
            </a:extLst>
          </p:cNvPr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940E40A6-65FE-28A0-C62D-0FA7456D84C8}"/>
              </a:ext>
            </a:extLst>
          </p:cNvPr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F92B7FD4-41D4-2B16-6349-494475AF8930}"/>
              </a:ext>
            </a:extLst>
          </p:cNvPr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4234FFDF-AB4B-CF3B-87FA-0E0E9CB2D4D1}"/>
              </a:ext>
            </a:extLst>
          </p:cNvPr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FBBA2262-C316-22F8-B0B3-15343AA5DBF2}"/>
              </a:ext>
            </a:extLst>
          </p:cNvPr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>
            <a:extLst>
              <a:ext uri="{FF2B5EF4-FFF2-40B4-BE49-F238E27FC236}">
                <a16:creationId xmlns:a16="http://schemas.microsoft.com/office/drawing/2014/main" id="{2E0B4D85-B52A-62E2-774A-564BBAB4F504}"/>
              </a:ext>
            </a:extLst>
          </p:cNvPr>
          <p:cNvSpPr/>
          <p:nvPr/>
        </p:nvSpPr>
        <p:spPr>
          <a:xfrm>
            <a:off x="2738120" y="2080694"/>
            <a:ext cx="402336" cy="110195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206">
            <a:extLst>
              <a:ext uri="{FF2B5EF4-FFF2-40B4-BE49-F238E27FC236}">
                <a16:creationId xmlns:a16="http://schemas.microsoft.com/office/drawing/2014/main" id="{EE6AFCD7-AF0D-8333-F0E6-D5D75FCD46AD}"/>
              </a:ext>
            </a:extLst>
          </p:cNvPr>
          <p:cNvSpPr/>
          <p:nvPr/>
        </p:nvSpPr>
        <p:spPr>
          <a:xfrm>
            <a:off x="3054096" y="3291840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Text 207">
            <a:extLst>
              <a:ext uri="{FF2B5EF4-FFF2-40B4-BE49-F238E27FC236}">
                <a16:creationId xmlns:a16="http://schemas.microsoft.com/office/drawing/2014/main" id="{46C6B9DF-B000-4165-3329-21C059AF13F7}"/>
              </a:ext>
            </a:extLst>
          </p:cNvPr>
          <p:cNvSpPr/>
          <p:nvPr/>
        </p:nvSpPr>
        <p:spPr>
          <a:xfrm rot="16200000">
            <a:off x="2596896" y="3749039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100" dirty="0"/>
          </a:p>
        </p:txBody>
      </p:sp>
      <p:sp>
        <p:nvSpPr>
          <p:cNvPr id="211" name="Text 209">
            <a:extLst>
              <a:ext uri="{FF2B5EF4-FFF2-40B4-BE49-F238E27FC236}">
                <a16:creationId xmlns:a16="http://schemas.microsoft.com/office/drawing/2014/main" id="{1A76160B-428A-55C9-3A41-3B85031F91F4}"/>
              </a:ext>
            </a:extLst>
          </p:cNvPr>
          <p:cNvSpPr/>
          <p:nvPr/>
        </p:nvSpPr>
        <p:spPr>
          <a:xfrm rot="16200000">
            <a:off x="4023360" y="389534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1000" dirty="0"/>
          </a:p>
        </p:txBody>
      </p:sp>
      <p:sp>
        <p:nvSpPr>
          <p:cNvPr id="212" name="Shape 210">
            <a:extLst>
              <a:ext uri="{FF2B5EF4-FFF2-40B4-BE49-F238E27FC236}">
                <a16:creationId xmlns:a16="http://schemas.microsoft.com/office/drawing/2014/main" id="{23806B53-44B2-A261-E53C-230395004214}"/>
              </a:ext>
            </a:extLst>
          </p:cNvPr>
          <p:cNvSpPr/>
          <p:nvPr/>
        </p:nvSpPr>
        <p:spPr>
          <a:xfrm>
            <a:off x="3804072" y="5014468"/>
            <a:ext cx="402336" cy="10363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212">
            <a:extLst>
              <a:ext uri="{FF2B5EF4-FFF2-40B4-BE49-F238E27FC236}">
                <a16:creationId xmlns:a16="http://schemas.microsoft.com/office/drawing/2014/main" id="{14634E93-AA24-13DB-6DE6-E51835E5C0E5}"/>
              </a:ext>
            </a:extLst>
          </p:cNvPr>
          <p:cNvSpPr/>
          <p:nvPr/>
        </p:nvSpPr>
        <p:spPr>
          <a:xfrm>
            <a:off x="1663700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E952F107-0B60-B67B-CE79-90D368A3877B}"/>
              </a:ext>
            </a:extLst>
          </p:cNvPr>
          <p:cNvSpPr/>
          <p:nvPr/>
        </p:nvSpPr>
        <p:spPr>
          <a:xfrm>
            <a:off x="1955394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923C7236-EC5A-3DAF-3E2C-44ABA71E917F}"/>
              </a:ext>
            </a:extLst>
          </p:cNvPr>
          <p:cNvSpPr/>
          <p:nvPr/>
        </p:nvSpPr>
        <p:spPr>
          <a:xfrm>
            <a:off x="1427586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E8694F8A-2398-9047-1944-61B96FA20E6D}"/>
              </a:ext>
            </a:extLst>
          </p:cNvPr>
          <p:cNvSpPr/>
          <p:nvPr/>
        </p:nvSpPr>
        <p:spPr>
          <a:xfrm>
            <a:off x="2219812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B88E0035-A151-9444-67A0-71684D1253B1}"/>
              </a:ext>
            </a:extLst>
          </p:cNvPr>
          <p:cNvSpPr/>
          <p:nvPr/>
        </p:nvSpPr>
        <p:spPr>
          <a:xfrm>
            <a:off x="1608695" y="3449107"/>
            <a:ext cx="583387" cy="1140257"/>
          </a:xfrm>
          <a:prstGeom prst="roundRect">
            <a:avLst>
              <a:gd name="adj" fmla="val 3636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D1BC2FEA-6524-BBC4-32A9-D88720AE9F82}"/>
              </a:ext>
            </a:extLst>
          </p:cNvPr>
          <p:cNvSpPr/>
          <p:nvPr/>
        </p:nvSpPr>
        <p:spPr>
          <a:xfrm>
            <a:off x="1664395" y="2959353"/>
            <a:ext cx="450799" cy="45079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42BF1F9-884E-A8E9-B254-3755855111EC}"/>
              </a:ext>
            </a:extLst>
          </p:cNvPr>
          <p:cNvGrpSpPr/>
          <p:nvPr/>
        </p:nvGrpSpPr>
        <p:grpSpPr>
          <a:xfrm rot="16200000">
            <a:off x="150013" y="2485861"/>
            <a:ext cx="1077825" cy="339034"/>
            <a:chOff x="1234440" y="4206240"/>
            <a:chExt cx="1417320" cy="292608"/>
          </a:xfrm>
        </p:grpSpPr>
        <p:sp>
          <p:nvSpPr>
            <p:cNvPr id="220" name="Shape 218">
              <a:extLst>
                <a:ext uri="{FF2B5EF4-FFF2-40B4-BE49-F238E27FC236}">
                  <a16:creationId xmlns:a16="http://schemas.microsoft.com/office/drawing/2014/main" id="{A6651F29-2102-9F80-290D-091EBD5F89BD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>
              <a:extLst>
                <a:ext uri="{FF2B5EF4-FFF2-40B4-BE49-F238E27FC236}">
                  <a16:creationId xmlns:a16="http://schemas.microsoft.com/office/drawing/2014/main" id="{73028D65-3E54-6F07-655A-D6253CAF2C1A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CF6337A7-60E8-05A3-728E-B32B77987A7C}"/>
              </a:ext>
            </a:extLst>
          </p:cNvPr>
          <p:cNvGrpSpPr/>
          <p:nvPr/>
        </p:nvGrpSpPr>
        <p:grpSpPr>
          <a:xfrm>
            <a:off x="1332046" y="3738086"/>
            <a:ext cx="1115725" cy="192679"/>
            <a:chOff x="1234440" y="4535424"/>
            <a:chExt cx="1417320" cy="292608"/>
          </a:xfrm>
        </p:grpSpPr>
        <p:sp>
          <p:nvSpPr>
            <p:cNvPr id="222" name="Shape 220">
              <a:extLst>
                <a:ext uri="{FF2B5EF4-FFF2-40B4-BE49-F238E27FC236}">
                  <a16:creationId xmlns:a16="http://schemas.microsoft.com/office/drawing/2014/main" id="{A226DC30-1273-D285-7ED5-4CAD9E3C4BE1}"/>
                </a:ext>
              </a:extLst>
            </p:cNvPr>
            <p:cNvSpPr/>
            <p:nvPr/>
          </p:nvSpPr>
          <p:spPr>
            <a:xfrm>
              <a:off x="1234440" y="4535424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Text 221">
              <a:extLst>
                <a:ext uri="{FF2B5EF4-FFF2-40B4-BE49-F238E27FC236}">
                  <a16:creationId xmlns:a16="http://schemas.microsoft.com/office/drawing/2014/main" id="{144BAFD5-3740-E53A-FFC1-9121C6BD2A85}"/>
                </a:ext>
              </a:extLst>
            </p:cNvPr>
            <p:cNvSpPr/>
            <p:nvPr/>
          </p:nvSpPr>
          <p:spPr>
            <a:xfrm>
              <a:off x="1271016" y="4535424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Rider</a:t>
              </a:r>
              <a:endParaRPr lang="en-US" sz="1200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58E47A33-9847-8F95-6FD5-1FD48766E3D4}"/>
              </a:ext>
            </a:extLst>
          </p:cNvPr>
          <p:cNvGrpSpPr/>
          <p:nvPr/>
        </p:nvGrpSpPr>
        <p:grpSpPr>
          <a:xfrm>
            <a:off x="1171712" y="4214595"/>
            <a:ext cx="1417320" cy="263433"/>
            <a:chOff x="1234440" y="4864608"/>
            <a:chExt cx="1417320" cy="292608"/>
          </a:xfrm>
        </p:grpSpPr>
        <p:sp>
          <p:nvSpPr>
            <p:cNvPr id="224" name="Shape 222">
              <a:extLst>
                <a:ext uri="{FF2B5EF4-FFF2-40B4-BE49-F238E27FC236}">
                  <a16:creationId xmlns:a16="http://schemas.microsoft.com/office/drawing/2014/main" id="{C4FAA095-576C-6A20-32F0-942A8A9D1A76}"/>
                </a:ext>
              </a:extLst>
            </p:cNvPr>
            <p:cNvSpPr/>
            <p:nvPr/>
          </p:nvSpPr>
          <p:spPr>
            <a:xfrm>
              <a:off x="1234440" y="4864608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Text 223">
              <a:extLst>
                <a:ext uri="{FF2B5EF4-FFF2-40B4-BE49-F238E27FC236}">
                  <a16:creationId xmlns:a16="http://schemas.microsoft.com/office/drawing/2014/main" id="{289D06E6-FFBB-C6F2-CCAD-E47B1B7C9F2C}"/>
                </a:ext>
              </a:extLst>
            </p:cNvPr>
            <p:cNvSpPr/>
            <p:nvPr/>
          </p:nvSpPr>
          <p:spPr>
            <a:xfrm>
              <a:off x="1271016" y="4864608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Last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7" name="Shape 225">
            <a:extLst>
              <a:ext uri="{FF2B5EF4-FFF2-40B4-BE49-F238E27FC236}">
                <a16:creationId xmlns:a16="http://schemas.microsoft.com/office/drawing/2014/main" id="{2DF7537C-61BD-BD21-BB76-B952C566702A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Text 226">
            <a:extLst>
              <a:ext uri="{FF2B5EF4-FFF2-40B4-BE49-F238E27FC236}">
                <a16:creationId xmlns:a16="http://schemas.microsoft.com/office/drawing/2014/main" id="{DE79477D-9609-1C8D-78E6-14F515A79706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229" name="Text 227">
            <a:extLst>
              <a:ext uri="{FF2B5EF4-FFF2-40B4-BE49-F238E27FC236}">
                <a16:creationId xmlns:a16="http://schemas.microsoft.com/office/drawing/2014/main" id="{0498422D-3EE5-8727-F684-C67B5B350355}"/>
              </a:ext>
            </a:extLst>
          </p:cNvPr>
          <p:cNvSpPr/>
          <p:nvPr/>
        </p:nvSpPr>
        <p:spPr>
          <a:xfrm>
            <a:off x="7465568" y="21066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Curation is incomplete</a:t>
            </a:r>
            <a:endParaRPr lang="en-US" sz="1700" dirty="0"/>
          </a:p>
        </p:txBody>
      </p:sp>
      <p:sp>
        <p:nvSpPr>
          <p:cNvPr id="230" name="Text 228">
            <a:extLst>
              <a:ext uri="{FF2B5EF4-FFF2-40B4-BE49-F238E27FC236}">
                <a16:creationId xmlns:a16="http://schemas.microsoft.com/office/drawing/2014/main" id="{A20EB78C-CABE-3CCA-4B1C-8E01EC671A11}"/>
              </a:ext>
            </a:extLst>
          </p:cNvPr>
          <p:cNvSpPr/>
          <p:nvPr/>
        </p:nvSpPr>
        <p:spPr>
          <a:xfrm>
            <a:off x="7465568" y="24815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that name a disease, and nothing follows</a:t>
            </a:r>
            <a:endParaRPr lang="en-US" sz="1300" dirty="0"/>
          </a:p>
        </p:txBody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130B78A2-9FB6-A264-4673-DCE215F575E1}"/>
              </a:ext>
            </a:extLst>
          </p:cNvPr>
          <p:cNvSpPr/>
          <p:nvPr/>
        </p:nvSpPr>
        <p:spPr>
          <a:xfrm>
            <a:off x="6898640" y="3569716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Text 230">
            <a:extLst>
              <a:ext uri="{FF2B5EF4-FFF2-40B4-BE49-F238E27FC236}">
                <a16:creationId xmlns:a16="http://schemas.microsoft.com/office/drawing/2014/main" id="{2DDC9583-E420-73AC-2DAB-4AD966202E2D}"/>
              </a:ext>
            </a:extLst>
          </p:cNvPr>
          <p:cNvSpPr/>
          <p:nvPr/>
        </p:nvSpPr>
        <p:spPr>
          <a:xfrm>
            <a:off x="6898640" y="35697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33" name="Text 231">
            <a:extLst>
              <a:ext uri="{FF2B5EF4-FFF2-40B4-BE49-F238E27FC236}">
                <a16:creationId xmlns:a16="http://schemas.microsoft.com/office/drawing/2014/main" id="{A535C2ED-DFA3-85E4-C318-C9AD80003EFB}"/>
              </a:ext>
            </a:extLst>
          </p:cNvPr>
          <p:cNvSpPr/>
          <p:nvPr/>
        </p:nvSpPr>
        <p:spPr>
          <a:xfrm>
            <a:off x="7465568" y="35422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has stopped</a:t>
            </a:r>
            <a:endParaRPr lang="en-US" sz="1700" dirty="0"/>
          </a:p>
        </p:txBody>
      </p:sp>
      <p:sp>
        <p:nvSpPr>
          <p:cNvPr id="234" name="Text 232">
            <a:extLst>
              <a:ext uri="{FF2B5EF4-FFF2-40B4-BE49-F238E27FC236}">
                <a16:creationId xmlns:a16="http://schemas.microsoft.com/office/drawing/2014/main" id="{B68FEA09-8082-56EA-DA6D-BA5746452A8C}"/>
              </a:ext>
            </a:extLst>
          </p:cNvPr>
          <p:cNvSpPr/>
          <p:nvPr/>
        </p:nvSpPr>
        <p:spPr>
          <a:xfrm>
            <a:off x="7465568" y="39171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 left EMBL-EBI, so nothing new is added</a:t>
            </a:r>
            <a:endParaRPr lang="en-US" sz="1300" dirty="0"/>
          </a:p>
        </p:txBody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3CBCF0B7-AF05-2899-5C26-0647218A3AFC}"/>
              </a:ext>
            </a:extLst>
          </p:cNvPr>
          <p:cNvSpPr/>
          <p:nvPr/>
        </p:nvSpPr>
        <p:spPr>
          <a:xfrm>
            <a:off x="6898640" y="500532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Text 234">
            <a:extLst>
              <a:ext uri="{FF2B5EF4-FFF2-40B4-BE49-F238E27FC236}">
                <a16:creationId xmlns:a16="http://schemas.microsoft.com/office/drawing/2014/main" id="{A3471BEB-A67A-E30B-9512-D4E8022048CC}"/>
              </a:ext>
            </a:extLst>
          </p:cNvPr>
          <p:cNvSpPr/>
          <p:nvPr/>
        </p:nvSpPr>
        <p:spPr>
          <a:xfrm>
            <a:off x="6898640" y="50053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37" name="Text 235">
            <a:extLst>
              <a:ext uri="{FF2B5EF4-FFF2-40B4-BE49-F238E27FC236}">
                <a16:creationId xmlns:a16="http://schemas.microsoft.com/office/drawing/2014/main" id="{EEB8C145-5F92-B509-F657-785F8F7F9857}"/>
              </a:ext>
            </a:extLst>
          </p:cNvPr>
          <p:cNvSpPr/>
          <p:nvPr/>
        </p:nvSpPr>
        <p:spPr>
          <a:xfrm>
            <a:off x="7465568" y="49778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is one library of many</a:t>
            </a:r>
            <a:endParaRPr lang="en-US" sz="1700" dirty="0"/>
          </a:p>
        </p:txBody>
      </p:sp>
      <p:sp>
        <p:nvSpPr>
          <p:cNvPr id="238" name="Text 236">
            <a:extLst>
              <a:ext uri="{FF2B5EF4-FFF2-40B4-BE49-F238E27FC236}">
                <a16:creationId xmlns:a16="http://schemas.microsoft.com/office/drawing/2014/main" id="{6D2F7BB9-CC74-1412-DA96-1FC61A3F10EF}"/>
              </a:ext>
            </a:extLst>
          </p:cNvPr>
          <p:cNvSpPr/>
          <p:nvPr/>
        </p:nvSpPr>
        <p:spPr>
          <a:xfrm>
            <a:off x="7465568" y="53527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pathway database is untouched</a:t>
            </a:r>
            <a:endParaRPr lang="en-US" sz="1300" dirty="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303024A4-BFCE-664F-A357-5A6A323284DA}"/>
              </a:ext>
            </a:extLst>
          </p:cNvPr>
          <p:cNvGrpSpPr/>
          <p:nvPr/>
        </p:nvGrpSpPr>
        <p:grpSpPr>
          <a:xfrm rot="5400000">
            <a:off x="1772172" y="3362464"/>
            <a:ext cx="221309" cy="1441171"/>
            <a:chOff x="4148924" y="1844070"/>
            <a:chExt cx="413932" cy="1343252"/>
          </a:xfrm>
        </p:grpSpPr>
        <p:sp>
          <p:nvSpPr>
            <p:cNvPr id="206" name="Shape 204">
              <a:extLst>
                <a:ext uri="{FF2B5EF4-FFF2-40B4-BE49-F238E27FC236}">
                  <a16:creationId xmlns:a16="http://schemas.microsoft.com/office/drawing/2014/main" id="{54131712-9C87-03AE-DEB9-F88F4A2EFFBF}"/>
                </a:ext>
              </a:extLst>
            </p:cNvPr>
            <p:cNvSpPr/>
            <p:nvPr/>
          </p:nvSpPr>
          <p:spPr>
            <a:xfrm>
              <a:off x="4148924" y="1861442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207" name="Text 205">
              <a:extLst>
                <a:ext uri="{FF2B5EF4-FFF2-40B4-BE49-F238E27FC236}">
                  <a16:creationId xmlns:a16="http://schemas.microsoft.com/office/drawing/2014/main" id="{34FCEB6B-4DD5-6C58-CDFE-BEB742124194}"/>
                </a:ext>
              </a:extLst>
            </p:cNvPr>
            <p:cNvSpPr/>
            <p:nvPr/>
          </p:nvSpPr>
          <p:spPr>
            <a:xfrm rot="16200000">
              <a:off x="3698748" y="2305842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Dance with </a:t>
              </a: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000" dirty="0"/>
            </a:p>
          </p:txBody>
        </p:sp>
      </p:grpSp>
      <p:sp>
        <p:nvSpPr>
          <p:cNvPr id="246" name="Shape 214">
            <a:extLst>
              <a:ext uri="{FF2B5EF4-FFF2-40B4-BE49-F238E27FC236}">
                <a16:creationId xmlns:a16="http://schemas.microsoft.com/office/drawing/2014/main" id="{3363EADC-2B9E-59FD-31FA-842D45EC1B76}"/>
              </a:ext>
            </a:extLst>
          </p:cNvPr>
          <p:cNvSpPr/>
          <p:nvPr/>
        </p:nvSpPr>
        <p:spPr>
          <a:xfrm rot="5400000">
            <a:off x="1418447" y="4374060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14">
            <a:extLst>
              <a:ext uri="{FF2B5EF4-FFF2-40B4-BE49-F238E27FC236}">
                <a16:creationId xmlns:a16="http://schemas.microsoft.com/office/drawing/2014/main" id="{52403513-9AD5-B011-6287-C80599025DB0}"/>
              </a:ext>
            </a:extLst>
          </p:cNvPr>
          <p:cNvSpPr/>
          <p:nvPr/>
        </p:nvSpPr>
        <p:spPr>
          <a:xfrm rot="5400000">
            <a:off x="2219811" y="4391555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156">
            <a:extLst>
              <a:ext uri="{FF2B5EF4-FFF2-40B4-BE49-F238E27FC236}">
                <a16:creationId xmlns:a16="http://schemas.microsoft.com/office/drawing/2014/main" id="{7E9DB47D-547F-892D-9311-0DD789A741E9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B50FC4B6-FB7E-D1C0-AA80-9075F8D36E22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5678C73C-E0AB-245D-D667-9A8081A3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BAA2681-99A6-91F3-75A6-2027406B07B5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D58BB3C5-C1A1-6D32-8A2B-1165FAE933C6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26254777-3E30-9947-05CB-23A7EFDEDE77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 err="1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Reactome</a:t>
              </a:r>
              <a:endParaRPr lang="en-US" sz="3200" dirty="0"/>
            </a:p>
          </p:txBody>
        </p:sp>
      </p:grpSp>
      <p:sp>
        <p:nvSpPr>
          <p:cNvPr id="5" name="Shape 208">
            <a:extLst>
              <a:ext uri="{FF2B5EF4-FFF2-40B4-BE49-F238E27FC236}">
                <a16:creationId xmlns:a16="http://schemas.microsoft.com/office/drawing/2014/main" id="{CED55E64-1EB3-1C94-D5E3-2CC638A0D1D1}"/>
              </a:ext>
            </a:extLst>
          </p:cNvPr>
          <p:cNvSpPr/>
          <p:nvPr/>
        </p:nvSpPr>
        <p:spPr>
          <a:xfrm>
            <a:off x="4246080" y="3545912"/>
            <a:ext cx="564797" cy="1060704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09">
            <a:extLst>
              <a:ext uri="{FF2B5EF4-FFF2-40B4-BE49-F238E27FC236}">
                <a16:creationId xmlns:a16="http://schemas.microsoft.com/office/drawing/2014/main" id="{D63BD6AD-2D29-B0E6-AB81-F06929B81BEF}"/>
              </a:ext>
            </a:extLst>
          </p:cNvPr>
          <p:cNvSpPr/>
          <p:nvPr/>
        </p:nvSpPr>
        <p:spPr>
          <a:xfrm rot="16200000">
            <a:off x="4041182" y="3829768"/>
            <a:ext cx="987552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800" dirty="0"/>
          </a:p>
        </p:txBody>
      </p:sp>
      <p:sp>
        <p:nvSpPr>
          <p:cNvPr id="7" name="Text 203">
            <a:extLst>
              <a:ext uri="{FF2B5EF4-FFF2-40B4-BE49-F238E27FC236}">
                <a16:creationId xmlns:a16="http://schemas.microsoft.com/office/drawing/2014/main" id="{B527050C-4AEE-CD08-C90E-290ADD501552}"/>
              </a:ext>
            </a:extLst>
          </p:cNvPr>
          <p:cNvSpPr/>
          <p:nvPr/>
        </p:nvSpPr>
        <p:spPr>
          <a:xfrm rot="16200000">
            <a:off x="2385687" y="2432521"/>
            <a:ext cx="1105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100" dirty="0"/>
          </a:p>
        </p:txBody>
      </p:sp>
      <p:sp>
        <p:nvSpPr>
          <p:cNvPr id="8" name="Text 211">
            <a:extLst>
              <a:ext uri="{FF2B5EF4-FFF2-40B4-BE49-F238E27FC236}">
                <a16:creationId xmlns:a16="http://schemas.microsoft.com/office/drawing/2014/main" id="{62F2A08C-4006-7215-1F41-A20AE4DDF606}"/>
              </a:ext>
            </a:extLst>
          </p:cNvPr>
          <p:cNvSpPr/>
          <p:nvPr/>
        </p:nvSpPr>
        <p:spPr>
          <a:xfrm rot="16200000">
            <a:off x="3476547" y="5367282"/>
            <a:ext cx="10713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454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6C024-0CB2-32D6-FEF2-6FAB537D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F96FE-4289-F214-D6D0-82CE6A5DD71F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992432-7ABE-4E30-7A53-EC94ABEFD9E9}"/>
              </a:ext>
            </a:extLst>
          </p:cNvPr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5DD264-61C7-4B10-C34A-6BD6D4103E96}"/>
              </a:ext>
            </a:extLst>
          </p:cNvPr>
          <p:cNvSpPr/>
          <p:nvPr/>
        </p:nvSpPr>
        <p:spPr>
          <a:xfrm>
            <a:off x="54864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of disease pathways from Reactome</a:t>
            </a:r>
            <a:endParaRPr lang="en-US" sz="2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4584921-0B02-79BD-1F00-6B014D5445E6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BD1D38-B73C-15AA-AD2E-C0793457CBC9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fragments</a:t>
            </a:r>
            <a:endParaRPr lang="en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5D791F4-A27A-8229-E2D0-D16E2EE135EA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E88D9A8-4F22-A209-EC19-C56B264D7343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labels</a:t>
            </a:r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B5B5477-FBC8-AB41-38AD-3843E9D48E8B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66BB69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032A8FA-8B86-1449-26F7-70B98E64EDBE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Mapping verification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FDC7A94-F2B2-0EDF-5DF9-71BC89586FF3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90E1E63-62A2-02FF-E924-2047A6A767CA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C76C96A-374C-D61B-ADF5-9F2FBC34225E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C4657C4-053C-1A13-5626-06958FEE1046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Evidence benchmark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1446B-987E-46BA-A25C-63376DE4E8E5}"/>
              </a:ext>
            </a:extLst>
          </p:cNvPr>
          <p:cNvSpPr txBox="1"/>
          <p:nvPr/>
        </p:nvSpPr>
        <p:spPr>
          <a:xfrm>
            <a:off x="548640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F402F-AA61-082B-D319-F42407A1069D}"/>
              </a:ext>
            </a:extLst>
          </p:cNvPr>
          <p:cNvSpPr txBox="1"/>
          <p:nvPr/>
        </p:nvSpPr>
        <p:spPr>
          <a:xfrm>
            <a:off x="3413378" y="2569536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423DC-1AA1-A47E-15D2-7E6102DA2784}"/>
              </a:ext>
            </a:extLst>
          </p:cNvPr>
          <p:cNvSpPr txBox="1"/>
          <p:nvPr/>
        </p:nvSpPr>
        <p:spPr>
          <a:xfrm>
            <a:off x="9100566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evidence_reactome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8" name="Text 23">
            <a:extLst>
              <a:ext uri="{FF2B5EF4-FFF2-40B4-BE49-F238E27FC236}">
                <a16:creationId xmlns:a16="http://schemas.microsoft.com/office/drawing/2014/main" id="{98E17C1C-512B-5472-BBC3-2024C17AD816}"/>
              </a:ext>
            </a:extLst>
          </p:cNvPr>
          <p:cNvSpPr/>
          <p:nvPr/>
        </p:nvSpPr>
        <p:spPr>
          <a:xfrm>
            <a:off x="9490828" y="2768673"/>
            <a:ext cx="1748815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endParaRPr lang="en-US" sz="16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1F8B031-C3F7-06C3-FEAB-2DC250EAF9BA}"/>
              </a:ext>
            </a:extLst>
          </p:cNvPr>
          <p:cNvGrpSpPr/>
          <p:nvPr/>
        </p:nvGrpSpPr>
        <p:grpSpPr>
          <a:xfrm>
            <a:off x="749808" y="3858047"/>
            <a:ext cx="2137410" cy="384048"/>
            <a:chOff x="749808" y="2697480"/>
            <a:chExt cx="2137410" cy="384048"/>
          </a:xfrm>
        </p:grpSpPr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47962C67-4B32-EA6D-7B0A-CB30749E6CFF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oundRect">
              <a:avLst>
                <a:gd name="adj" fmla="val 19048"/>
              </a:avLst>
            </a:prstGeom>
            <a:solidFill>
              <a:srgbClr val="606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A0BB7ADC-7DD5-863A-0159-E10DF4A888E0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Lung cancer</a:t>
              </a:r>
              <a:endParaRPr lang="en-US" sz="1600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494B913-2DB5-5C2D-694B-B0B904D99D97}"/>
              </a:ext>
            </a:extLst>
          </p:cNvPr>
          <p:cNvCxnSpPr>
            <a:cxnSpLocks/>
            <a:stCxn id="133" idx="2"/>
            <a:endCxn id="136" idx="0"/>
          </p:cNvCxnSpPr>
          <p:nvPr/>
        </p:nvCxnSpPr>
        <p:spPr>
          <a:xfrm>
            <a:off x="7513192" y="4494732"/>
            <a:ext cx="6605" cy="556470"/>
          </a:xfrm>
          <a:prstGeom prst="line">
            <a:avLst/>
          </a:prstGeom>
          <a:ln w="38100">
            <a:solidFill>
              <a:srgbClr val="1A456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Approved - Free ui icons">
            <a:extLst>
              <a:ext uri="{FF2B5EF4-FFF2-40B4-BE49-F238E27FC236}">
                <a16:creationId xmlns:a16="http://schemas.microsoft.com/office/drawing/2014/main" id="{AC6F9832-AFF4-61B7-85B2-9D40E395F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23" y="4538739"/>
            <a:ext cx="496589" cy="496589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9C18FFDC-8EC7-0D33-22F3-ADD8148E7ABA}"/>
              </a:ext>
            </a:extLst>
          </p:cNvPr>
          <p:cNvGrpSpPr/>
          <p:nvPr/>
        </p:nvGrpSpPr>
        <p:grpSpPr>
          <a:xfrm>
            <a:off x="3523652" y="3311935"/>
            <a:ext cx="2410991" cy="1679217"/>
            <a:chOff x="3481846" y="3012160"/>
            <a:chExt cx="2410991" cy="16792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EE81769-0F77-BD7B-C592-3C9E894759CE}"/>
                </a:ext>
              </a:extLst>
            </p:cNvPr>
            <p:cNvGrpSpPr/>
            <p:nvPr/>
          </p:nvGrpSpPr>
          <p:grpSpPr>
            <a:xfrm>
              <a:off x="3607655" y="3012160"/>
              <a:ext cx="2148090" cy="1314208"/>
              <a:chOff x="3579684" y="2713609"/>
              <a:chExt cx="2148090" cy="13142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EA1C351-76C9-013E-D1DD-DF2B991B4B6F}"/>
                  </a:ext>
                </a:extLst>
              </p:cNvPr>
              <p:cNvGrpSpPr/>
              <p:nvPr/>
            </p:nvGrpSpPr>
            <p:grpSpPr>
              <a:xfrm>
                <a:off x="3579684" y="2713609"/>
                <a:ext cx="2148090" cy="1298416"/>
                <a:chOff x="3579684" y="2703849"/>
                <a:chExt cx="2148090" cy="512533"/>
              </a:xfrm>
            </p:grpSpPr>
            <p:sp>
              <p:nvSpPr>
                <p:cNvPr id="36" name="Shape 27">
                  <a:extLst>
                    <a:ext uri="{FF2B5EF4-FFF2-40B4-BE49-F238E27FC236}">
                      <a16:creationId xmlns:a16="http://schemas.microsoft.com/office/drawing/2014/main" id="{83F5E265-633E-8187-9A62-32430FE0162D}"/>
                    </a:ext>
                  </a:extLst>
                </p:cNvPr>
                <p:cNvSpPr/>
                <p:nvPr/>
              </p:nvSpPr>
              <p:spPr>
                <a:xfrm>
                  <a:off x="3590364" y="2753263"/>
                  <a:ext cx="2137410" cy="417480"/>
                </a:xfrm>
                <a:prstGeom prst="roundRect">
                  <a:avLst>
                    <a:gd name="adj" fmla="val 10000"/>
                  </a:avLst>
                </a:prstGeom>
                <a:noFill/>
                <a:ln w="38100">
                  <a:solidFill>
                    <a:srgbClr val="3389CB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" name="Text 28">
                  <a:extLst>
                    <a:ext uri="{FF2B5EF4-FFF2-40B4-BE49-F238E27FC236}">
                      <a16:creationId xmlns:a16="http://schemas.microsoft.com/office/drawing/2014/main" id="{550FB800-F893-EFBF-8F33-048E416BD763}"/>
                    </a:ext>
                  </a:extLst>
                </p:cNvPr>
                <p:cNvSpPr/>
                <p:nvPr/>
              </p:nvSpPr>
              <p:spPr>
                <a:xfrm>
                  <a:off x="3579684" y="2703849"/>
                  <a:ext cx="2147212" cy="51253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Genes XYZ are dysregulated in lung cancer</a:t>
                  </a:r>
                </a:p>
              </p:txBody>
            </p:sp>
          </p:grpSp>
          <p:sp>
            <p:nvSpPr>
              <p:cNvPr id="35" name="Text 23">
                <a:extLst>
                  <a:ext uri="{FF2B5EF4-FFF2-40B4-BE49-F238E27FC236}">
                    <a16:creationId xmlns:a16="http://schemas.microsoft.com/office/drawing/2014/main" id="{01BBE31F-26C3-E8C2-F440-FF206AB351B0}"/>
                  </a:ext>
                </a:extLst>
              </p:cNvPr>
              <p:cNvSpPr/>
              <p:nvPr/>
            </p:nvSpPr>
            <p:spPr>
              <a:xfrm>
                <a:off x="3779760" y="3643769"/>
                <a:ext cx="1748815" cy="38404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1C224EB-8269-8E85-3FF3-4B1C5D3B4525}"/>
                </a:ext>
              </a:extLst>
            </p:cNvPr>
            <p:cNvGrpSpPr/>
            <p:nvPr/>
          </p:nvGrpSpPr>
          <p:grpSpPr>
            <a:xfrm>
              <a:off x="3481846" y="4307329"/>
              <a:ext cx="758019" cy="384048"/>
              <a:chOff x="3635587" y="4292370"/>
              <a:chExt cx="807676" cy="384048"/>
            </a:xfrm>
          </p:grpSpPr>
          <p:sp>
            <p:nvSpPr>
              <p:cNvPr id="56" name="Shape 22">
                <a:extLst>
                  <a:ext uri="{FF2B5EF4-FFF2-40B4-BE49-F238E27FC236}">
                    <a16:creationId xmlns:a16="http://schemas.microsoft.com/office/drawing/2014/main" id="{44F8C38F-8196-10C0-A025-58910EFC6908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2FBDBD2-2DFC-373F-007E-F67234A1662D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X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1CEE97D-C11F-CA8B-84C8-D95852430158}"/>
                </a:ext>
              </a:extLst>
            </p:cNvPr>
            <p:cNvGrpSpPr/>
            <p:nvPr/>
          </p:nvGrpSpPr>
          <p:grpSpPr>
            <a:xfrm>
              <a:off x="4308332" y="4306457"/>
              <a:ext cx="758019" cy="384048"/>
              <a:chOff x="3635587" y="4292370"/>
              <a:chExt cx="807676" cy="384048"/>
            </a:xfrm>
          </p:grpSpPr>
          <p:sp>
            <p:nvSpPr>
              <p:cNvPr id="61" name="Shape 22">
                <a:extLst>
                  <a:ext uri="{FF2B5EF4-FFF2-40B4-BE49-F238E27FC236}">
                    <a16:creationId xmlns:a16="http://schemas.microsoft.com/office/drawing/2014/main" id="{1DF34ACA-14C0-328E-9154-8A2E3F0BE526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D456489-58C6-2A32-B5C2-9CB10F9767C4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Y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168936E-6B55-7F46-16B6-142B765FEB1C}"/>
                </a:ext>
              </a:extLst>
            </p:cNvPr>
            <p:cNvGrpSpPr/>
            <p:nvPr/>
          </p:nvGrpSpPr>
          <p:grpSpPr>
            <a:xfrm>
              <a:off x="5134818" y="4295235"/>
              <a:ext cx="758019" cy="384048"/>
              <a:chOff x="3635587" y="4292370"/>
              <a:chExt cx="807676" cy="384048"/>
            </a:xfrm>
          </p:grpSpPr>
          <p:sp>
            <p:nvSpPr>
              <p:cNvPr id="65" name="Shape 22">
                <a:extLst>
                  <a:ext uri="{FF2B5EF4-FFF2-40B4-BE49-F238E27FC236}">
                    <a16:creationId xmlns:a16="http://schemas.microsoft.com/office/drawing/2014/main" id="{6C8629B6-A486-1B97-551F-4ED9F187C871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33BC1AB-7D24-8CDA-604B-0E080B0002A4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Z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49222B5-1A2F-7D47-BBB5-EDB66153A9E0}"/>
                </a:ext>
              </a:extLst>
            </p:cNvPr>
            <p:cNvCxnSpPr>
              <a:cxnSpLocks/>
              <a:stCxn id="36" idx="2"/>
              <a:endCxn id="61" idx="0"/>
            </p:cNvCxnSpPr>
            <p:nvPr/>
          </p:nvCxnSpPr>
          <p:spPr>
            <a:xfrm>
              <a:off x="4687040" y="4194957"/>
              <a:ext cx="302" cy="111500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5625527-0704-F9D8-4FB8-FFAC167150C8}"/>
                </a:ext>
              </a:extLst>
            </p:cNvPr>
            <p:cNvCxnSpPr>
              <a:cxnSpLocks/>
            </p:cNvCxnSpPr>
            <p:nvPr/>
          </p:nvCxnSpPr>
          <p:spPr>
            <a:xfrm>
              <a:off x="5522152" y="4194957"/>
              <a:ext cx="302" cy="100278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DF434D5-549E-C816-DCEB-B37A5ECC3B0F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3860856" y="4194957"/>
              <a:ext cx="0" cy="112372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A581746-6180-2702-4D5B-BC1B407CC60D}"/>
              </a:ext>
            </a:extLst>
          </p:cNvPr>
          <p:cNvGrpSpPr/>
          <p:nvPr/>
        </p:nvGrpSpPr>
        <p:grpSpPr>
          <a:xfrm>
            <a:off x="6433807" y="3311935"/>
            <a:ext cx="2148090" cy="1314208"/>
            <a:chOff x="3579684" y="2713609"/>
            <a:chExt cx="2148090" cy="1314208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4D594BAA-BDD8-625F-A4FF-828651CEEEDB}"/>
                </a:ext>
              </a:extLst>
            </p:cNvPr>
            <p:cNvGrpSpPr/>
            <p:nvPr/>
          </p:nvGrpSpPr>
          <p:grpSpPr>
            <a:xfrm>
              <a:off x="3579684" y="2713609"/>
              <a:ext cx="2148090" cy="1298416"/>
              <a:chOff x="3579684" y="2703849"/>
              <a:chExt cx="2148090" cy="512533"/>
            </a:xfrm>
          </p:grpSpPr>
          <p:sp>
            <p:nvSpPr>
              <p:cNvPr id="133" name="Shape 27">
                <a:extLst>
                  <a:ext uri="{FF2B5EF4-FFF2-40B4-BE49-F238E27FC236}">
                    <a16:creationId xmlns:a16="http://schemas.microsoft.com/office/drawing/2014/main" id="{23155A4A-7651-F2B9-EA33-FE9197DB7A67}"/>
                  </a:ext>
                </a:extLst>
              </p:cNvPr>
              <p:cNvSpPr/>
              <p:nvPr/>
            </p:nvSpPr>
            <p:spPr>
              <a:xfrm>
                <a:off x="3590364" y="2753263"/>
                <a:ext cx="2137410" cy="417480"/>
              </a:xfrm>
              <a:prstGeom prst="roundRect">
                <a:avLst>
                  <a:gd name="adj" fmla="val 10000"/>
                </a:avLst>
              </a:prstGeom>
              <a:noFill/>
              <a:ln w="38100">
                <a:solidFill>
                  <a:srgbClr val="3389CB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Text 28">
                <a:extLst>
                  <a:ext uri="{FF2B5EF4-FFF2-40B4-BE49-F238E27FC236}">
                    <a16:creationId xmlns:a16="http://schemas.microsoft.com/office/drawing/2014/main" id="{51945F34-D818-BCBB-2D6C-18E6CD8A976F}"/>
                  </a:ext>
                </a:extLst>
              </p:cNvPr>
              <p:cNvSpPr/>
              <p:nvPr/>
            </p:nvSpPr>
            <p:spPr>
              <a:xfrm>
                <a:off x="3579684" y="2703849"/>
                <a:ext cx="2147212" cy="5125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Genes XYZ are dysregulated in lung cancer</a:t>
                </a:r>
              </a:p>
            </p:txBody>
          </p:sp>
        </p:grpSp>
        <p:sp>
          <p:nvSpPr>
            <p:cNvPr id="132" name="Text 23">
              <a:extLst>
                <a:ext uri="{FF2B5EF4-FFF2-40B4-BE49-F238E27FC236}">
                  <a16:creationId xmlns:a16="http://schemas.microsoft.com/office/drawing/2014/main" id="{DD140729-57DA-DD44-2D7C-A1DFB1196E20}"/>
                </a:ext>
              </a:extLst>
            </p:cNvPr>
            <p:cNvSpPr/>
            <p:nvPr/>
          </p:nvSpPr>
          <p:spPr>
            <a:xfrm>
              <a:off x="3779760" y="3643769"/>
              <a:ext cx="1748815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36" name="Shape 20">
            <a:extLst>
              <a:ext uri="{FF2B5EF4-FFF2-40B4-BE49-F238E27FC236}">
                <a16:creationId xmlns:a16="http://schemas.microsoft.com/office/drawing/2014/main" id="{CEA89178-9C1E-4251-DF40-7E7A7B5E5153}"/>
              </a:ext>
            </a:extLst>
          </p:cNvPr>
          <p:cNvSpPr/>
          <p:nvPr/>
        </p:nvSpPr>
        <p:spPr>
          <a:xfrm>
            <a:off x="6451092" y="5051202"/>
            <a:ext cx="2137410" cy="307777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0DC78FE-A75E-3903-7E6B-98C232658BA4}"/>
              </a:ext>
            </a:extLst>
          </p:cNvPr>
          <p:cNvSpPr txBox="1"/>
          <p:nvPr/>
        </p:nvSpPr>
        <p:spPr>
          <a:xfrm>
            <a:off x="6451092" y="5036030"/>
            <a:ext cx="2129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lung cancer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8560D4E-7669-098F-40A5-ACF74020DB86}"/>
              </a:ext>
            </a:extLst>
          </p:cNvPr>
          <p:cNvGrpSpPr/>
          <p:nvPr/>
        </p:nvGrpSpPr>
        <p:grpSpPr>
          <a:xfrm>
            <a:off x="9111818" y="3448445"/>
            <a:ext cx="758019" cy="384048"/>
            <a:chOff x="3635587" y="4292370"/>
            <a:chExt cx="807676" cy="384048"/>
          </a:xfrm>
        </p:grpSpPr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DAEAFE09-14F1-2ADD-C40D-3AF7EEE64A66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1D717CB-CD17-C07D-D81A-B912C83F6433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X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D71074C-F56B-A486-B8D1-822512B7FF67}"/>
              </a:ext>
            </a:extLst>
          </p:cNvPr>
          <p:cNvGrpSpPr/>
          <p:nvPr/>
        </p:nvGrpSpPr>
        <p:grpSpPr>
          <a:xfrm>
            <a:off x="10017032" y="3447573"/>
            <a:ext cx="758019" cy="384048"/>
            <a:chOff x="3635587" y="4292370"/>
            <a:chExt cx="807676" cy="384048"/>
          </a:xfrm>
        </p:grpSpPr>
        <p:sp>
          <p:nvSpPr>
            <p:cNvPr id="153" name="Shape 22">
              <a:extLst>
                <a:ext uri="{FF2B5EF4-FFF2-40B4-BE49-F238E27FC236}">
                  <a16:creationId xmlns:a16="http://schemas.microsoft.com/office/drawing/2014/main" id="{36CED460-CE56-79E4-46E8-01C621FBFBAC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3AB2F8D-D49B-8F9F-29A5-C8863D8732AA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Y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D8D0FFD-2639-410F-C930-1CE7A0367D99}"/>
              </a:ext>
            </a:extLst>
          </p:cNvPr>
          <p:cNvGrpSpPr/>
          <p:nvPr/>
        </p:nvGrpSpPr>
        <p:grpSpPr>
          <a:xfrm>
            <a:off x="10940409" y="3436351"/>
            <a:ext cx="758019" cy="384048"/>
            <a:chOff x="3635587" y="4292370"/>
            <a:chExt cx="807676" cy="384048"/>
          </a:xfrm>
        </p:grpSpPr>
        <p:sp>
          <p:nvSpPr>
            <p:cNvPr id="151" name="Shape 22">
              <a:extLst>
                <a:ext uri="{FF2B5EF4-FFF2-40B4-BE49-F238E27FC236}">
                  <a16:creationId xmlns:a16="http://schemas.microsoft.com/office/drawing/2014/main" id="{1B523506-2714-4F1C-B921-DD3F507DF949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2262847-0D81-D0DA-78AF-23668A3D3E24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Z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2D1F1C0-36A0-6509-6AA9-783440E6F5E1}"/>
              </a:ext>
            </a:extLst>
          </p:cNvPr>
          <p:cNvCxnSpPr>
            <a:cxnSpLocks/>
            <a:endCxn id="155" idx="2"/>
          </p:cNvCxnSpPr>
          <p:nvPr/>
        </p:nvCxnSpPr>
        <p:spPr>
          <a:xfrm flipV="1">
            <a:off x="9490828" y="3832493"/>
            <a:ext cx="0" cy="502490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4A42755-33FC-1BDA-F320-0BEAF7661E0E}"/>
              </a:ext>
            </a:extLst>
          </p:cNvPr>
          <p:cNvCxnSpPr>
            <a:cxnSpLocks/>
            <a:stCxn id="141" idx="0"/>
            <a:endCxn id="153" idx="2"/>
          </p:cNvCxnSpPr>
          <p:nvPr/>
        </p:nvCxnSpPr>
        <p:spPr>
          <a:xfrm flipV="1">
            <a:off x="10396041" y="3831621"/>
            <a:ext cx="1" cy="311338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91B5CB6-F757-F924-283B-D2177D04BA2B}"/>
              </a:ext>
            </a:extLst>
          </p:cNvPr>
          <p:cNvCxnSpPr>
            <a:cxnSpLocks/>
            <a:endCxn id="151" idx="2"/>
          </p:cNvCxnSpPr>
          <p:nvPr/>
        </p:nvCxnSpPr>
        <p:spPr>
          <a:xfrm flipV="1">
            <a:off x="11319419" y="3820399"/>
            <a:ext cx="0" cy="522060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D500434-CE7F-2A40-EF44-A408DC6130A3}"/>
              </a:ext>
            </a:extLst>
          </p:cNvPr>
          <p:cNvGrpSpPr/>
          <p:nvPr/>
        </p:nvGrpSpPr>
        <p:grpSpPr>
          <a:xfrm>
            <a:off x="9327336" y="4142959"/>
            <a:ext cx="2137410" cy="384048"/>
            <a:chOff x="749808" y="2697480"/>
            <a:chExt cx="2137410" cy="384048"/>
          </a:xfrm>
        </p:grpSpPr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13D80530-E428-1052-840B-2C30A32BCD58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oundRect">
              <a:avLst>
                <a:gd name="adj" fmla="val 19048"/>
              </a:avLst>
            </a:prstGeom>
            <a:solidFill>
              <a:srgbClr val="606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2" name="Text 21">
              <a:extLst>
                <a:ext uri="{FF2B5EF4-FFF2-40B4-BE49-F238E27FC236}">
                  <a16:creationId xmlns:a16="http://schemas.microsoft.com/office/drawing/2014/main" id="{B87E3F10-AA0D-A28F-F8BC-026D9F042EB3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Lung cancer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822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B4DE12-4866-7CEF-4320-4B63AEC1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994F9-CCCC-0750-64AE-74EA3092F442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AB0412-3F99-CD49-9E0C-2D5177C99028}"/>
              </a:ext>
            </a:extLst>
          </p:cNvPr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95F9AD-6990-04BD-4DB4-C4D944ADE558}"/>
              </a:ext>
            </a:extLst>
          </p:cNvPr>
          <p:cNvSpPr/>
          <p:nvPr/>
        </p:nvSpPr>
        <p:spPr>
          <a:xfrm>
            <a:off x="54864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of disease pathways from Reactome</a:t>
            </a:r>
            <a:endParaRPr lang="en-US" sz="2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94579A7-1F78-4759-B75E-84F65D65FC54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DE5B40D-E844-0796-4B75-F86240CC883A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fragments</a:t>
            </a:r>
            <a:endParaRPr lang="en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872C3E7-3D16-9D38-5DAF-FBE07325285A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4B80DB6-13E8-F99F-DFEA-EFEBE6AD7426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labels</a:t>
            </a:r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7D5E158-C7EA-FF40-3C14-85C8D04AD2BD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66BB69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AD8C096-FAB3-01DB-83DB-CCBFE3B0E926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Mapping verification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7F2F7AD-D8D5-28E6-8FC9-5F1D3D670C8D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7DEFC1A-B04C-49ED-ED60-D935E6B45A1D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ADE3ADD-24E7-E37B-8CA7-9385914BBDE7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F1B8451-8BA4-5B05-0D8E-1BC90B552104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Evidence benchmark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844C-8728-0398-BA7C-D63C285BFC33}"/>
              </a:ext>
            </a:extLst>
          </p:cNvPr>
          <p:cNvSpPr txBox="1"/>
          <p:nvPr/>
        </p:nvSpPr>
        <p:spPr>
          <a:xfrm>
            <a:off x="548640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14514-8D9A-9E5F-3544-93B75ED89305}"/>
              </a:ext>
            </a:extLst>
          </p:cNvPr>
          <p:cNvSpPr txBox="1"/>
          <p:nvPr/>
        </p:nvSpPr>
        <p:spPr>
          <a:xfrm>
            <a:off x="3413378" y="2569536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6569B-7EE0-C78E-6A52-D3E24AA41F3B}"/>
              </a:ext>
            </a:extLst>
          </p:cNvPr>
          <p:cNvSpPr txBox="1"/>
          <p:nvPr/>
        </p:nvSpPr>
        <p:spPr>
          <a:xfrm>
            <a:off x="9100566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evidence_reactome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8" name="Text 23">
            <a:extLst>
              <a:ext uri="{FF2B5EF4-FFF2-40B4-BE49-F238E27FC236}">
                <a16:creationId xmlns:a16="http://schemas.microsoft.com/office/drawing/2014/main" id="{0015CD5F-D71A-5FDA-48E5-629F67680F8F}"/>
              </a:ext>
            </a:extLst>
          </p:cNvPr>
          <p:cNvSpPr/>
          <p:nvPr/>
        </p:nvSpPr>
        <p:spPr>
          <a:xfrm>
            <a:off x="9490828" y="2768673"/>
            <a:ext cx="1748815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endParaRPr lang="en-US" sz="16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0974F7A-6DAA-5742-1179-C4A27182F2FF}"/>
              </a:ext>
            </a:extLst>
          </p:cNvPr>
          <p:cNvGrpSpPr/>
          <p:nvPr/>
        </p:nvGrpSpPr>
        <p:grpSpPr>
          <a:xfrm>
            <a:off x="759934" y="3451264"/>
            <a:ext cx="2137410" cy="384048"/>
            <a:chOff x="749808" y="2697480"/>
            <a:chExt cx="2137410" cy="384048"/>
          </a:xfrm>
        </p:grpSpPr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FA77268B-4FA0-5E27-DB5C-3E4DBCABA9D9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oundRect">
              <a:avLst>
                <a:gd name="adj" fmla="val 19048"/>
              </a:avLst>
            </a:prstGeom>
            <a:solidFill>
              <a:srgbClr val="606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71D019C7-38BA-A7D5-0B1F-75F6496ED1BD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Lung cancer</a:t>
              </a:r>
              <a:endParaRPr lang="en-US" sz="1600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9F6AB39-EED1-EAA7-C3ED-138C86D1E11B}"/>
              </a:ext>
            </a:extLst>
          </p:cNvPr>
          <p:cNvCxnSpPr>
            <a:cxnSpLocks/>
            <a:stCxn id="133" idx="2"/>
            <a:endCxn id="136" idx="0"/>
          </p:cNvCxnSpPr>
          <p:nvPr/>
        </p:nvCxnSpPr>
        <p:spPr>
          <a:xfrm>
            <a:off x="7513192" y="4494732"/>
            <a:ext cx="6605" cy="556470"/>
          </a:xfrm>
          <a:prstGeom prst="line">
            <a:avLst/>
          </a:prstGeom>
          <a:ln w="38100">
            <a:solidFill>
              <a:srgbClr val="1A456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Approved - Free ui icons">
            <a:extLst>
              <a:ext uri="{FF2B5EF4-FFF2-40B4-BE49-F238E27FC236}">
                <a16:creationId xmlns:a16="http://schemas.microsoft.com/office/drawing/2014/main" id="{70DEBDE4-A7BE-F7D0-5668-160DCF449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23" y="4538739"/>
            <a:ext cx="496589" cy="496589"/>
          </a:xfrm>
          <a:prstGeom prst="rect">
            <a:avLst/>
          </a:prstGeom>
        </p:spPr>
      </p:pic>
      <p:sp>
        <p:nvSpPr>
          <p:cNvPr id="79" name="Shape 22">
            <a:extLst>
              <a:ext uri="{FF2B5EF4-FFF2-40B4-BE49-F238E27FC236}">
                <a16:creationId xmlns:a16="http://schemas.microsoft.com/office/drawing/2014/main" id="{FBF1FB0E-E2A6-5DE7-49E2-A3EA7BD4342E}"/>
              </a:ext>
            </a:extLst>
          </p:cNvPr>
          <p:cNvSpPr/>
          <p:nvPr/>
        </p:nvSpPr>
        <p:spPr>
          <a:xfrm>
            <a:off x="779495" y="4298455"/>
            <a:ext cx="985806" cy="307777"/>
          </a:xfrm>
          <a:prstGeom prst="roundRect">
            <a:avLst>
              <a:gd name="adj" fmla="val 19048"/>
            </a:avLst>
          </a:prstGeom>
          <a:solidFill>
            <a:srgbClr val="3389CB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1EED9D56-20FF-AC65-025B-6C7A3A01E374}"/>
              </a:ext>
            </a:extLst>
          </p:cNvPr>
          <p:cNvSpPr/>
          <p:nvPr/>
        </p:nvSpPr>
        <p:spPr>
          <a:xfrm>
            <a:off x="779495" y="4298455"/>
            <a:ext cx="98580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lung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FD05C54-FC1E-02F5-D570-E60E1466B5A3}"/>
              </a:ext>
            </a:extLst>
          </p:cNvPr>
          <p:cNvSpPr/>
          <p:nvPr/>
        </p:nvSpPr>
        <p:spPr>
          <a:xfrm>
            <a:off x="1714129" y="3839456"/>
            <a:ext cx="229020" cy="363873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ACEDB8D-8CD3-8F12-FC94-4252FBD6325E}"/>
              </a:ext>
            </a:extLst>
          </p:cNvPr>
          <p:cNvGrpSpPr/>
          <p:nvPr/>
        </p:nvGrpSpPr>
        <p:grpSpPr>
          <a:xfrm>
            <a:off x="3523652" y="3311935"/>
            <a:ext cx="2410991" cy="1679217"/>
            <a:chOff x="3481846" y="3012160"/>
            <a:chExt cx="2410991" cy="16792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BCC8258-D52F-23AC-573D-09761D504B56}"/>
                </a:ext>
              </a:extLst>
            </p:cNvPr>
            <p:cNvGrpSpPr/>
            <p:nvPr/>
          </p:nvGrpSpPr>
          <p:grpSpPr>
            <a:xfrm>
              <a:off x="3607655" y="3012160"/>
              <a:ext cx="2148090" cy="1314208"/>
              <a:chOff x="3579684" y="2713609"/>
              <a:chExt cx="2148090" cy="13142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8E9577E-042C-42A3-EEA5-11E3B0658DA9}"/>
                  </a:ext>
                </a:extLst>
              </p:cNvPr>
              <p:cNvGrpSpPr/>
              <p:nvPr/>
            </p:nvGrpSpPr>
            <p:grpSpPr>
              <a:xfrm>
                <a:off x="3579684" y="2713609"/>
                <a:ext cx="2148090" cy="1298416"/>
                <a:chOff x="3579684" y="2703849"/>
                <a:chExt cx="2148090" cy="512533"/>
              </a:xfrm>
            </p:grpSpPr>
            <p:sp>
              <p:nvSpPr>
                <p:cNvPr id="36" name="Shape 27">
                  <a:extLst>
                    <a:ext uri="{FF2B5EF4-FFF2-40B4-BE49-F238E27FC236}">
                      <a16:creationId xmlns:a16="http://schemas.microsoft.com/office/drawing/2014/main" id="{263517C5-9551-DCB7-6EE7-EF22EB4C9F80}"/>
                    </a:ext>
                  </a:extLst>
                </p:cNvPr>
                <p:cNvSpPr/>
                <p:nvPr/>
              </p:nvSpPr>
              <p:spPr>
                <a:xfrm>
                  <a:off x="3590364" y="2753263"/>
                  <a:ext cx="2137410" cy="417480"/>
                </a:xfrm>
                <a:prstGeom prst="roundRect">
                  <a:avLst>
                    <a:gd name="adj" fmla="val 10000"/>
                  </a:avLst>
                </a:prstGeom>
                <a:noFill/>
                <a:ln w="38100">
                  <a:solidFill>
                    <a:srgbClr val="3389CB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" name="Text 28">
                  <a:extLst>
                    <a:ext uri="{FF2B5EF4-FFF2-40B4-BE49-F238E27FC236}">
                      <a16:creationId xmlns:a16="http://schemas.microsoft.com/office/drawing/2014/main" id="{033C7246-6F97-09DF-747E-44D8E7B941E8}"/>
                    </a:ext>
                  </a:extLst>
                </p:cNvPr>
                <p:cNvSpPr/>
                <p:nvPr/>
              </p:nvSpPr>
              <p:spPr>
                <a:xfrm>
                  <a:off x="3579684" y="2703849"/>
                  <a:ext cx="2147212" cy="51253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Genes are dysregulated in lung cancer</a:t>
                  </a:r>
                </a:p>
              </p:txBody>
            </p:sp>
          </p:grpSp>
          <p:sp>
            <p:nvSpPr>
              <p:cNvPr id="35" name="Text 23">
                <a:extLst>
                  <a:ext uri="{FF2B5EF4-FFF2-40B4-BE49-F238E27FC236}">
                    <a16:creationId xmlns:a16="http://schemas.microsoft.com/office/drawing/2014/main" id="{DF5A8363-6621-0B70-4B07-69AE3F711B02}"/>
                  </a:ext>
                </a:extLst>
              </p:cNvPr>
              <p:cNvSpPr/>
              <p:nvPr/>
            </p:nvSpPr>
            <p:spPr>
              <a:xfrm>
                <a:off x="3779760" y="3643769"/>
                <a:ext cx="1748815" cy="38404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B8B2F59-E18A-FB10-E964-492E1458FFAA}"/>
                </a:ext>
              </a:extLst>
            </p:cNvPr>
            <p:cNvGrpSpPr/>
            <p:nvPr/>
          </p:nvGrpSpPr>
          <p:grpSpPr>
            <a:xfrm>
              <a:off x="3481846" y="4307329"/>
              <a:ext cx="758019" cy="384048"/>
              <a:chOff x="3635587" y="4292370"/>
              <a:chExt cx="807676" cy="384048"/>
            </a:xfrm>
          </p:grpSpPr>
          <p:sp>
            <p:nvSpPr>
              <p:cNvPr id="56" name="Shape 22">
                <a:extLst>
                  <a:ext uri="{FF2B5EF4-FFF2-40B4-BE49-F238E27FC236}">
                    <a16:creationId xmlns:a16="http://schemas.microsoft.com/office/drawing/2014/main" id="{F8390258-14B9-10C9-30E0-2D50BEA90776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583227F-E8AF-3D58-386F-FB20F1923306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X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505DADF-64E7-28E2-8ADE-B84521991AF5}"/>
                </a:ext>
              </a:extLst>
            </p:cNvPr>
            <p:cNvGrpSpPr/>
            <p:nvPr/>
          </p:nvGrpSpPr>
          <p:grpSpPr>
            <a:xfrm>
              <a:off x="4308332" y="4306457"/>
              <a:ext cx="758019" cy="384048"/>
              <a:chOff x="3635587" y="4292370"/>
              <a:chExt cx="807676" cy="384048"/>
            </a:xfrm>
          </p:grpSpPr>
          <p:sp>
            <p:nvSpPr>
              <p:cNvPr id="61" name="Shape 22">
                <a:extLst>
                  <a:ext uri="{FF2B5EF4-FFF2-40B4-BE49-F238E27FC236}">
                    <a16:creationId xmlns:a16="http://schemas.microsoft.com/office/drawing/2014/main" id="{D593AA4B-1255-C342-5D04-2F635790A821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D43F33C-39A4-4FBA-F9E0-8B00285E8B88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Y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D74B487-BECF-DD28-3211-708630A6F593}"/>
                </a:ext>
              </a:extLst>
            </p:cNvPr>
            <p:cNvGrpSpPr/>
            <p:nvPr/>
          </p:nvGrpSpPr>
          <p:grpSpPr>
            <a:xfrm>
              <a:off x="5134818" y="4295235"/>
              <a:ext cx="758019" cy="384048"/>
              <a:chOff x="3635587" y="4292370"/>
              <a:chExt cx="807676" cy="384048"/>
            </a:xfrm>
          </p:grpSpPr>
          <p:sp>
            <p:nvSpPr>
              <p:cNvPr id="65" name="Shape 22">
                <a:extLst>
                  <a:ext uri="{FF2B5EF4-FFF2-40B4-BE49-F238E27FC236}">
                    <a16:creationId xmlns:a16="http://schemas.microsoft.com/office/drawing/2014/main" id="{3B3145F4-4DD7-E310-630A-4999EB6B908A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B7B11C1-9A65-1EDB-02A9-313BEBA5C236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Z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1EBD0EA-3F87-F3BB-A621-1CBF0F9842D6}"/>
                </a:ext>
              </a:extLst>
            </p:cNvPr>
            <p:cNvCxnSpPr>
              <a:cxnSpLocks/>
              <a:stCxn id="36" idx="2"/>
              <a:endCxn id="61" idx="0"/>
            </p:cNvCxnSpPr>
            <p:nvPr/>
          </p:nvCxnSpPr>
          <p:spPr>
            <a:xfrm>
              <a:off x="4687040" y="4194957"/>
              <a:ext cx="302" cy="111500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96E4225-544F-CA98-4B89-3CAFBC315277}"/>
                </a:ext>
              </a:extLst>
            </p:cNvPr>
            <p:cNvCxnSpPr>
              <a:cxnSpLocks/>
            </p:cNvCxnSpPr>
            <p:nvPr/>
          </p:nvCxnSpPr>
          <p:spPr>
            <a:xfrm>
              <a:off x="5522152" y="4194957"/>
              <a:ext cx="302" cy="100278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F650EB5-8254-3B80-EF59-1C22914EFDEB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3860856" y="4194957"/>
              <a:ext cx="0" cy="112372"/>
            </a:xfrm>
            <a:prstGeom prst="line">
              <a:avLst/>
            </a:prstGeom>
            <a:ln w="38100">
              <a:solidFill>
                <a:srgbClr val="3389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Shape 20">
            <a:extLst>
              <a:ext uri="{FF2B5EF4-FFF2-40B4-BE49-F238E27FC236}">
                <a16:creationId xmlns:a16="http://schemas.microsoft.com/office/drawing/2014/main" id="{A8D4700C-58B5-0494-8611-F3B4705E3EA3}"/>
              </a:ext>
            </a:extLst>
          </p:cNvPr>
          <p:cNvSpPr/>
          <p:nvPr/>
        </p:nvSpPr>
        <p:spPr>
          <a:xfrm>
            <a:off x="754724" y="4662152"/>
            <a:ext cx="2137410" cy="307777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 w="28575">
            <a:solidFill>
              <a:srgbClr val="00B050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07B18DFF-9DC7-2E38-E509-68704F6444FA}"/>
              </a:ext>
            </a:extLst>
          </p:cNvPr>
          <p:cNvSpPr/>
          <p:nvPr/>
        </p:nvSpPr>
        <p:spPr>
          <a:xfrm>
            <a:off x="1833768" y="4298455"/>
            <a:ext cx="1036565" cy="307777"/>
          </a:xfrm>
          <a:prstGeom prst="roundRect">
            <a:avLst>
              <a:gd name="adj" fmla="val 19048"/>
            </a:avLst>
          </a:prstGeom>
          <a:solidFill>
            <a:srgbClr val="C2DBEE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134DE7A9-EC79-BAA4-4818-4D522EB17362}"/>
              </a:ext>
            </a:extLst>
          </p:cNvPr>
          <p:cNvSpPr/>
          <p:nvPr/>
        </p:nvSpPr>
        <p:spPr>
          <a:xfrm>
            <a:off x="1833767" y="4298455"/>
            <a:ext cx="1036565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6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cancer</a:t>
            </a:r>
            <a:endParaRPr lang="en-US" sz="1600" dirty="0">
              <a:solidFill>
                <a:srgbClr val="1A4565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E2F52F2-0ADA-80C4-4834-9154010A239F}"/>
              </a:ext>
            </a:extLst>
          </p:cNvPr>
          <p:cNvSpPr txBox="1"/>
          <p:nvPr/>
        </p:nvSpPr>
        <p:spPr>
          <a:xfrm>
            <a:off x="838400" y="4646764"/>
            <a:ext cx="1986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lung cancer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63F5870-5977-5007-6D30-736B4509AEFD}"/>
              </a:ext>
            </a:extLst>
          </p:cNvPr>
          <p:cNvGrpSpPr/>
          <p:nvPr/>
        </p:nvGrpSpPr>
        <p:grpSpPr>
          <a:xfrm>
            <a:off x="6433807" y="3311935"/>
            <a:ext cx="2148090" cy="1314208"/>
            <a:chOff x="3579684" y="2713609"/>
            <a:chExt cx="2148090" cy="1314208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ADCB9F7-4089-D173-DF04-0CDABC5D62AC}"/>
                </a:ext>
              </a:extLst>
            </p:cNvPr>
            <p:cNvGrpSpPr/>
            <p:nvPr/>
          </p:nvGrpSpPr>
          <p:grpSpPr>
            <a:xfrm>
              <a:off x="3579684" y="2713609"/>
              <a:ext cx="2148090" cy="1298416"/>
              <a:chOff x="3579684" y="2703849"/>
              <a:chExt cx="2148090" cy="512533"/>
            </a:xfrm>
          </p:grpSpPr>
          <p:sp>
            <p:nvSpPr>
              <p:cNvPr id="133" name="Shape 27">
                <a:extLst>
                  <a:ext uri="{FF2B5EF4-FFF2-40B4-BE49-F238E27FC236}">
                    <a16:creationId xmlns:a16="http://schemas.microsoft.com/office/drawing/2014/main" id="{4DC2DF1D-74C9-E384-84DE-B57B984813A0}"/>
                  </a:ext>
                </a:extLst>
              </p:cNvPr>
              <p:cNvSpPr/>
              <p:nvPr/>
            </p:nvSpPr>
            <p:spPr>
              <a:xfrm>
                <a:off x="3590364" y="2753263"/>
                <a:ext cx="2137410" cy="417480"/>
              </a:xfrm>
              <a:prstGeom prst="roundRect">
                <a:avLst>
                  <a:gd name="adj" fmla="val 10000"/>
                </a:avLst>
              </a:prstGeom>
              <a:noFill/>
              <a:ln w="38100">
                <a:solidFill>
                  <a:srgbClr val="3389CB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Text 28">
                <a:extLst>
                  <a:ext uri="{FF2B5EF4-FFF2-40B4-BE49-F238E27FC236}">
                    <a16:creationId xmlns:a16="http://schemas.microsoft.com/office/drawing/2014/main" id="{0788FADB-DE08-69D8-9EB1-579EC4EC8D43}"/>
                  </a:ext>
                </a:extLst>
              </p:cNvPr>
              <p:cNvSpPr/>
              <p:nvPr/>
            </p:nvSpPr>
            <p:spPr>
              <a:xfrm>
                <a:off x="3579684" y="2703849"/>
                <a:ext cx="2147212" cy="5125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Genes are dysregulated in lung cancer</a:t>
                </a:r>
              </a:p>
            </p:txBody>
          </p:sp>
        </p:grpSp>
        <p:sp>
          <p:nvSpPr>
            <p:cNvPr id="132" name="Text 23">
              <a:extLst>
                <a:ext uri="{FF2B5EF4-FFF2-40B4-BE49-F238E27FC236}">
                  <a16:creationId xmlns:a16="http://schemas.microsoft.com/office/drawing/2014/main" id="{F574564B-C198-387F-CB31-E1C3834D10E1}"/>
                </a:ext>
              </a:extLst>
            </p:cNvPr>
            <p:cNvSpPr/>
            <p:nvPr/>
          </p:nvSpPr>
          <p:spPr>
            <a:xfrm>
              <a:off x="3779760" y="3643769"/>
              <a:ext cx="1748815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36" name="Shape 20">
            <a:extLst>
              <a:ext uri="{FF2B5EF4-FFF2-40B4-BE49-F238E27FC236}">
                <a16:creationId xmlns:a16="http://schemas.microsoft.com/office/drawing/2014/main" id="{DE6B6F9A-392F-333E-A0B2-65B001FB8135}"/>
              </a:ext>
            </a:extLst>
          </p:cNvPr>
          <p:cNvSpPr/>
          <p:nvPr/>
        </p:nvSpPr>
        <p:spPr>
          <a:xfrm>
            <a:off x="6451092" y="5051202"/>
            <a:ext cx="2137410" cy="307777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9B6F4F8-A7AB-D93A-4584-A58DF55CA669}"/>
              </a:ext>
            </a:extLst>
          </p:cNvPr>
          <p:cNvSpPr txBox="1"/>
          <p:nvPr/>
        </p:nvSpPr>
        <p:spPr>
          <a:xfrm>
            <a:off x="6451092" y="5036030"/>
            <a:ext cx="2129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lung cancer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6ABF777-0061-B036-1E28-DEC666C0958C}"/>
              </a:ext>
            </a:extLst>
          </p:cNvPr>
          <p:cNvGrpSpPr/>
          <p:nvPr/>
        </p:nvGrpSpPr>
        <p:grpSpPr>
          <a:xfrm>
            <a:off x="9111818" y="3448445"/>
            <a:ext cx="758019" cy="384048"/>
            <a:chOff x="3635587" y="4292370"/>
            <a:chExt cx="807676" cy="384048"/>
          </a:xfrm>
        </p:grpSpPr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B9D3B3A6-30A8-A808-6F4B-574CBD4FB530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9F0975D-A1E9-E9EC-9FFC-9F1E3B6B4B50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X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C8120C6-10E4-1AB5-4E59-050960033213}"/>
              </a:ext>
            </a:extLst>
          </p:cNvPr>
          <p:cNvGrpSpPr/>
          <p:nvPr/>
        </p:nvGrpSpPr>
        <p:grpSpPr>
          <a:xfrm>
            <a:off x="10017032" y="3447573"/>
            <a:ext cx="758019" cy="384048"/>
            <a:chOff x="3635587" y="4292370"/>
            <a:chExt cx="807676" cy="384048"/>
          </a:xfrm>
        </p:grpSpPr>
        <p:sp>
          <p:nvSpPr>
            <p:cNvPr id="153" name="Shape 22">
              <a:extLst>
                <a:ext uri="{FF2B5EF4-FFF2-40B4-BE49-F238E27FC236}">
                  <a16:creationId xmlns:a16="http://schemas.microsoft.com/office/drawing/2014/main" id="{A9690695-AF35-8532-7048-F619B033F6A3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61A36D88-7433-CD31-EEF6-C1B972D0D20D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Y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4D2EA92-5347-5454-DE8C-8C47B1C7854A}"/>
              </a:ext>
            </a:extLst>
          </p:cNvPr>
          <p:cNvGrpSpPr/>
          <p:nvPr/>
        </p:nvGrpSpPr>
        <p:grpSpPr>
          <a:xfrm>
            <a:off x="10940409" y="3436351"/>
            <a:ext cx="758019" cy="384048"/>
            <a:chOff x="3635587" y="4292370"/>
            <a:chExt cx="807676" cy="384048"/>
          </a:xfrm>
        </p:grpSpPr>
        <p:sp>
          <p:nvSpPr>
            <p:cNvPr id="151" name="Shape 22">
              <a:extLst>
                <a:ext uri="{FF2B5EF4-FFF2-40B4-BE49-F238E27FC236}">
                  <a16:creationId xmlns:a16="http://schemas.microsoft.com/office/drawing/2014/main" id="{CE43F672-30A4-F9EC-F106-91156AB5A7B0}"/>
                </a:ext>
              </a:extLst>
            </p:cNvPr>
            <p:cNvSpPr/>
            <p:nvPr/>
          </p:nvSpPr>
          <p:spPr>
            <a:xfrm>
              <a:off x="3635587" y="4292370"/>
              <a:ext cx="807676" cy="384048"/>
            </a:xfrm>
            <a:prstGeom prst="roundRect">
              <a:avLst>
                <a:gd name="adj" fmla="val 19048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 sz="1400" dirty="0">
                <a:solidFill>
                  <a:srgbClr val="1A4565"/>
                </a:solidFill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0F1D034-E4F8-E8DC-CC1D-19EE87122FF6}"/>
                </a:ext>
              </a:extLst>
            </p:cNvPr>
            <p:cNvSpPr txBox="1"/>
            <p:nvPr/>
          </p:nvSpPr>
          <p:spPr>
            <a:xfrm>
              <a:off x="3635587" y="4337898"/>
              <a:ext cx="80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 Z</a:t>
              </a:r>
              <a:endParaRPr lang="en-US" sz="1400" dirty="0">
                <a:solidFill>
                  <a:srgbClr val="1A4565"/>
                </a:solidFill>
              </a:endParaRPr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F22BCCB-E2E6-19CD-0FB7-1963CC24B7D9}"/>
              </a:ext>
            </a:extLst>
          </p:cNvPr>
          <p:cNvCxnSpPr>
            <a:cxnSpLocks/>
            <a:endCxn id="155" idx="2"/>
          </p:cNvCxnSpPr>
          <p:nvPr/>
        </p:nvCxnSpPr>
        <p:spPr>
          <a:xfrm flipV="1">
            <a:off x="9490828" y="3832493"/>
            <a:ext cx="0" cy="502490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8AF0A27-0445-2A97-228A-71C91560AD9A}"/>
              </a:ext>
            </a:extLst>
          </p:cNvPr>
          <p:cNvCxnSpPr>
            <a:cxnSpLocks/>
            <a:stCxn id="141" idx="0"/>
            <a:endCxn id="153" idx="2"/>
          </p:cNvCxnSpPr>
          <p:nvPr/>
        </p:nvCxnSpPr>
        <p:spPr>
          <a:xfrm flipV="1">
            <a:off x="10396041" y="3831621"/>
            <a:ext cx="1" cy="311338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0C06849-F74D-B92F-2081-1D731CA30B81}"/>
              </a:ext>
            </a:extLst>
          </p:cNvPr>
          <p:cNvCxnSpPr>
            <a:cxnSpLocks/>
            <a:endCxn id="151" idx="2"/>
          </p:cNvCxnSpPr>
          <p:nvPr/>
        </p:nvCxnSpPr>
        <p:spPr>
          <a:xfrm flipV="1">
            <a:off x="11319419" y="3820399"/>
            <a:ext cx="0" cy="522060"/>
          </a:xfrm>
          <a:prstGeom prst="line">
            <a:avLst/>
          </a:prstGeom>
          <a:ln w="38100">
            <a:solidFill>
              <a:srgbClr val="1A4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2893FFE-1A86-6D4B-4DC0-BF20C3AE7014}"/>
              </a:ext>
            </a:extLst>
          </p:cNvPr>
          <p:cNvGrpSpPr/>
          <p:nvPr/>
        </p:nvGrpSpPr>
        <p:grpSpPr>
          <a:xfrm>
            <a:off x="9327336" y="4142959"/>
            <a:ext cx="2137410" cy="384048"/>
            <a:chOff x="749808" y="2697480"/>
            <a:chExt cx="2137410" cy="384048"/>
          </a:xfrm>
        </p:grpSpPr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B2DC0B1D-61D7-047C-7D1B-7AE9757DB1D9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oundRect">
              <a:avLst>
                <a:gd name="adj" fmla="val 19048"/>
              </a:avLst>
            </a:prstGeom>
            <a:solidFill>
              <a:srgbClr val="606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2" name="Text 21">
              <a:extLst>
                <a:ext uri="{FF2B5EF4-FFF2-40B4-BE49-F238E27FC236}">
                  <a16:creationId xmlns:a16="http://schemas.microsoft.com/office/drawing/2014/main" id="{5757905E-04F5-2131-6232-EC2D359AEDFF}"/>
                </a:ext>
              </a:extLst>
            </p:cNvPr>
            <p:cNvSpPr/>
            <p:nvPr/>
          </p:nvSpPr>
          <p:spPr>
            <a:xfrm>
              <a:off x="749808" y="2697480"/>
              <a:ext cx="2137410" cy="3840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Lung cancer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8048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5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75488"/>
            <a:ext cx="310896" cy="82296"/>
          </a:xfrm>
          <a:prstGeom prst="roundRect">
            <a:avLst>
              <a:gd name="adj" fmla="val 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84048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1400" b="0" dirty="0">
                <a:solidFill>
                  <a:srgbClr val="9AC4E4"/>
                </a:solidFill>
                <a:latin typeface="Roboto Medium"/>
              </a:rPr>
              <a:t>PROBLEM</a:t>
            </a:r>
            <a:endParaRPr sz="1400" b="0" dirty="0">
              <a:solidFill>
                <a:srgbClr val="9AC4E4"/>
              </a:solidFill>
              <a:latin typeface="Roboto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Which of these diseases are connected?</a:t>
            </a:r>
          </a:p>
        </p:txBody>
      </p:sp>
      <p:pic>
        <p:nvPicPr>
          <p:cNvPr id="5" name="Picture 4" descr="ot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236208"/>
            <a:ext cx="1097280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792224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06640" y="1792224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Roboto"/>
              </a:rPr>
              <a:t>diabetes insipidus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4708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diabetes mellitus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8470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8470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301752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62484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GB" b="1" dirty="0">
                <a:solidFill>
                  <a:srgbClr val="FFFFFF"/>
                </a:solidFill>
                <a:latin typeface="Roboto"/>
              </a:rPr>
              <a:t>deafness with goitre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07238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deafness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07238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3072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42816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6640" y="4242816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79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Roboto"/>
              </a:rPr>
              <a:t>non-small cell lung carcinoma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97679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lung carcinoma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2976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42976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22976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52297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C2DCEF"/>
                </a:solidFill>
                <a:latin typeface="Roboto"/>
              </a:rPr>
              <a:t>Every pair shares one word. Which of them should share a pathway link?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5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4F4B9BC-2EA2-25E8-84F9-195F4788CA2F}"/>
              </a:ext>
            </a:extLst>
          </p:cNvPr>
          <p:cNvSpPr/>
          <p:nvPr/>
        </p:nvSpPr>
        <p:spPr>
          <a:xfrm>
            <a:off x="548640" y="1792224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548640" y="475488"/>
            <a:ext cx="310896" cy="82296"/>
          </a:xfrm>
          <a:prstGeom prst="roundRect">
            <a:avLst>
              <a:gd name="adj" fmla="val 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9AC4E4"/>
                </a:solidFill>
                <a:latin typeface="Roboto Medium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A shared word is not a shared disease</a:t>
            </a:r>
          </a:p>
        </p:txBody>
      </p:sp>
      <p:pic>
        <p:nvPicPr>
          <p:cNvPr id="5" name="Picture 4" descr="ot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236208"/>
            <a:ext cx="1097280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9202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diabetes mellitus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2410890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C2DCEF"/>
                </a:solidFill>
                <a:latin typeface="Roboto"/>
              </a:rPr>
              <a:t>Vasopressin fails, so the kidney cannot retain water.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388089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C2DCEF"/>
                </a:solidFill>
                <a:latin typeface="Roboto"/>
              </a:rPr>
              <a:t>Insulin fails, so glucose builds up in the blood.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901952"/>
            <a:ext cx="2103120" cy="310896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A33224"/>
                </a:solidFill>
                <a:latin typeface="Roboto Medium"/>
              </a:rPr>
              <a:t>not connected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32257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AC4E4"/>
                </a:solidFill>
                <a:latin typeface="Roboto"/>
              </a:rPr>
              <a:t>no shared ancestor in EFO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455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Pendred syndrome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455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deafness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127248"/>
            <a:ext cx="2103120" cy="310896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12724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A33224"/>
                </a:solidFill>
                <a:latin typeface="Roboto Medium"/>
              </a:rPr>
              <a:t>no path in EFO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54787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AC4E4"/>
                </a:solidFill>
                <a:latin typeface="Roboto"/>
              </a:rPr>
              <a:t>propagation cannot reach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7083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non-small cell lung carcinoma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37083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lung carcinoma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352544"/>
            <a:ext cx="2103120" cy="310896"/>
          </a:xfrm>
          <a:prstGeom prst="roundRect">
            <a:avLst>
              <a:gd name="adj" fmla="val 25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0" y="43525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E6B33"/>
                </a:solidFill>
                <a:latin typeface="Roboto Medium"/>
              </a:rPr>
              <a:t>parent and child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75487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AC4E4"/>
                </a:solidFill>
                <a:latin typeface="Roboto"/>
              </a:rPr>
              <a:t>propagation covers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522976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2B6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2960" y="5632704"/>
            <a:ext cx="1234440" cy="347472"/>
          </a:xfrm>
          <a:prstGeom prst="roundRect">
            <a:avLst>
              <a:gd name="adj" fmla="val 2500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6327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Roboto Medium"/>
              </a:rPr>
              <a:t>Rule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560219"/>
            <a:ext cx="90525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Roboto"/>
              </a:rPr>
              <a:t>Map the disease the label names. Only the third pair is connected, and even there we map the child.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FEBE01-EABF-BB37-5DFA-F2B3DED5826A}"/>
              </a:ext>
            </a:extLst>
          </p:cNvPr>
          <p:cNvSpPr txBox="1"/>
          <p:nvPr/>
        </p:nvSpPr>
        <p:spPr>
          <a:xfrm>
            <a:off x="704088" y="181051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GB" sz="1800" b="1" dirty="0">
                <a:solidFill>
                  <a:srgbClr val="FFFFFF"/>
                </a:solidFill>
                <a:latin typeface="Roboto"/>
              </a:rPr>
              <a:t>diabetes insipidus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50137DB-300D-D0CF-168A-D773BF041191}"/>
              </a:ext>
            </a:extLst>
          </p:cNvPr>
          <p:cNvSpPr/>
          <p:nvPr/>
        </p:nvSpPr>
        <p:spPr>
          <a:xfrm>
            <a:off x="548640" y="301752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D1DF0-8BC2-E55C-777D-9D0A7BDF56AF}"/>
              </a:ext>
            </a:extLst>
          </p:cNvPr>
          <p:cNvSpPr txBox="1"/>
          <p:nvPr/>
        </p:nvSpPr>
        <p:spPr>
          <a:xfrm>
            <a:off x="731520" y="3162484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GB" b="1" dirty="0">
                <a:solidFill>
                  <a:srgbClr val="FFFFFF"/>
                </a:solidFill>
                <a:latin typeface="Roboto"/>
              </a:rPr>
              <a:t>deafness with goitre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00CFF5F-6447-5CD4-3A44-29B43EF4E284}"/>
              </a:ext>
            </a:extLst>
          </p:cNvPr>
          <p:cNvSpPr/>
          <p:nvPr/>
        </p:nvSpPr>
        <p:spPr>
          <a:xfrm>
            <a:off x="548640" y="4242816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C99AB-21E1-6086-B951-AACFDB1336F5}"/>
              </a:ext>
            </a:extLst>
          </p:cNvPr>
          <p:cNvSpPr txBox="1"/>
          <p:nvPr/>
        </p:nvSpPr>
        <p:spPr>
          <a:xfrm>
            <a:off x="731520" y="4297679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Roboto"/>
              </a:rPr>
              <a:t>non-small cell lung carcinoma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36EC499-A2E0-3B7F-ABDC-4C271636249F}"/>
              </a:ext>
            </a:extLst>
          </p:cNvPr>
          <p:cNvSpPr/>
          <p:nvPr/>
        </p:nvSpPr>
        <p:spPr>
          <a:xfrm>
            <a:off x="7406640" y="1792224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BFA970-1E67-D5B8-2619-94950C22F658}"/>
              </a:ext>
            </a:extLst>
          </p:cNvPr>
          <p:cNvSpPr txBox="1"/>
          <p:nvPr/>
        </p:nvSpPr>
        <p:spPr>
          <a:xfrm>
            <a:off x="7589520" y="184708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diabetes mellitus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AE0B6B0-8733-2333-3C3B-203F7C47EFBC}"/>
              </a:ext>
            </a:extLst>
          </p:cNvPr>
          <p:cNvSpPr/>
          <p:nvPr/>
        </p:nvSpPr>
        <p:spPr>
          <a:xfrm>
            <a:off x="7406640" y="301752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482D9B-1799-0363-43B5-3B2D86402ECF}"/>
              </a:ext>
            </a:extLst>
          </p:cNvPr>
          <p:cNvSpPr txBox="1"/>
          <p:nvPr/>
        </p:nvSpPr>
        <p:spPr>
          <a:xfrm>
            <a:off x="7589520" y="307238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deafness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F11F217-C38C-67A6-55FE-F76D5761BBD9}"/>
              </a:ext>
            </a:extLst>
          </p:cNvPr>
          <p:cNvSpPr/>
          <p:nvPr/>
        </p:nvSpPr>
        <p:spPr>
          <a:xfrm>
            <a:off x="7406640" y="4242816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23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AA67CC-F6DC-1195-797A-79A162FF7DB3}"/>
              </a:ext>
            </a:extLst>
          </p:cNvPr>
          <p:cNvSpPr txBox="1"/>
          <p:nvPr/>
        </p:nvSpPr>
        <p:spPr>
          <a:xfrm>
            <a:off x="7589520" y="4297679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Roboto"/>
              </a:rPr>
              <a:t>lung carcinoma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FRAGMENTS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600"/>
              </a:lnSpc>
            </a:pPr>
            <a:r>
              <a:rPr lang="en-US" sz="32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disease name becomes a searchable fragment</a:t>
            </a:r>
            <a:endParaRPr lang="en-US" sz="3200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6208"/>
            <a:ext cx="1097280" cy="32918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26080" y="1679037"/>
            <a:ext cx="93417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400" dirty="0">
                <a:solidFill>
                  <a:srgbClr val="5A5F5F"/>
                </a:solidFill>
                <a:latin typeface="Roboto"/>
              </a:rPr>
              <a:t>synonym</a:t>
            </a:r>
            <a:endParaRPr sz="1400" b="0" dirty="0">
              <a:solidFill>
                <a:srgbClr val="5A5F5F"/>
              </a:solidFill>
              <a:latin typeface="Roboto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548640" y="1901952"/>
            <a:ext cx="2148840" cy="384048"/>
          </a:xfrm>
          <a:prstGeom prst="roundRect">
            <a:avLst>
              <a:gd name="adj" fmla="val 18000"/>
            </a:avLst>
          </a:prstGeom>
          <a:solidFill>
            <a:srgbClr val="1A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Pendred syndrome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926080" y="1901952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C2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0">
                <a:solidFill>
                  <a:srgbClr val="1A4565"/>
                </a:solidFill>
                <a:latin typeface="Roboto"/>
              </a:rPr>
              <a:t>deafness with goitre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2487167"/>
            <a:ext cx="3410712" cy="2624329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1" name="Oval 90"/>
          <p:cNvSpPr/>
          <p:nvPr/>
        </p:nvSpPr>
        <p:spPr>
          <a:xfrm>
            <a:off x="804672" y="2651760"/>
            <a:ext cx="384048" cy="384048"/>
          </a:xfrm>
          <a:prstGeom prst="ellipse">
            <a:avLst/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98448" y="2685817"/>
            <a:ext cx="24048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A4565"/>
                </a:solidFill>
                <a:latin typeface="Roboto Medium"/>
              </a:rPr>
              <a:t>Count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1" y="3108960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A5F5F"/>
                </a:solidFill>
                <a:latin typeface="Roboto"/>
              </a:rPr>
              <a:t>how many names use each word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70831" y="2487168"/>
            <a:ext cx="3410712" cy="260851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26864" y="2651760"/>
            <a:ext cx="384048" cy="384048"/>
          </a:xfrm>
          <a:prstGeom prst="ellipse">
            <a:avLst/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39" y="2685817"/>
            <a:ext cx="24048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A4565"/>
                </a:solidFill>
                <a:latin typeface="Roboto Medium"/>
              </a:rPr>
              <a:t>Score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26864" y="3108960"/>
            <a:ext cx="289864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A5F5F"/>
                </a:solidFill>
                <a:latin typeface="Roboto"/>
              </a:rPr>
              <a:t>rarity = ln( 21,296 / that count 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93023" y="2487168"/>
            <a:ext cx="3410712" cy="260851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449055" y="2651760"/>
            <a:ext cx="384048" cy="384048"/>
          </a:xfrm>
          <a:prstGeom prst="ellipse">
            <a:avLst/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42831" y="2685817"/>
            <a:ext cx="24048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A4565"/>
                </a:solidFill>
                <a:latin typeface="Roboto Medium"/>
              </a:rPr>
              <a:t>Keep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49055" y="3108960"/>
            <a:ext cx="289864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A5F5F"/>
                </a:solidFill>
                <a:latin typeface="Roboto"/>
              </a:rPr>
              <a:t>the whole form, scoring 8 or more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672" y="34564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Roboto"/>
              </a:rPr>
              <a:t>deafness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31720" y="3456432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>
                <a:solidFill>
                  <a:srgbClr val="1A4565"/>
                </a:solidFill>
                <a:latin typeface="Roboto Medium"/>
              </a:rPr>
              <a:t>253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26864" y="34564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Roboto"/>
              </a:rPr>
              <a:t>deafness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53912" y="3456432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>
                <a:solidFill>
                  <a:srgbClr val="1A4565"/>
                </a:solidFill>
                <a:latin typeface="Roboto Medium"/>
              </a:rPr>
              <a:t>4.4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672" y="3881753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>
                <a:solidFill>
                  <a:srgbClr val="212121"/>
                </a:solidFill>
                <a:latin typeface="Roboto"/>
              </a:rPr>
              <a:t>with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31720" y="3881753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>
                <a:solidFill>
                  <a:srgbClr val="1A4565"/>
                </a:solidFill>
                <a:latin typeface="Roboto Medium"/>
              </a:rPr>
              <a:t>1,969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26864" y="3819968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>
                <a:solidFill>
                  <a:srgbClr val="212121"/>
                </a:solidFill>
                <a:latin typeface="Roboto"/>
              </a:rPr>
              <a:t>with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53912" y="3819968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 dirty="0">
                <a:solidFill>
                  <a:srgbClr val="1A4565"/>
                </a:solidFill>
                <a:latin typeface="Roboto Medium"/>
              </a:rPr>
              <a:t>2.4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672" y="4307075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 err="1">
                <a:solidFill>
                  <a:srgbClr val="212121"/>
                </a:solidFill>
                <a:latin typeface="Roboto"/>
              </a:rPr>
              <a:t>goitre</a:t>
            </a:r>
            <a:endParaRPr b="0" dirty="0">
              <a:solidFill>
                <a:srgbClr val="212121"/>
              </a:solidFill>
              <a:latin typeface="Roboto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331720" y="4307075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>
                <a:solidFill>
                  <a:srgbClr val="1A4565"/>
                </a:solidFill>
                <a:latin typeface="Roboto Medium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26864" y="4183505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>
                <a:solidFill>
                  <a:srgbClr val="212121"/>
                </a:solidFill>
                <a:latin typeface="Roboto"/>
              </a:rPr>
              <a:t>goitre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53912" y="4183505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>
                <a:solidFill>
                  <a:srgbClr val="1A4565"/>
                </a:solidFill>
                <a:latin typeface="Roboto Medium"/>
              </a:rPr>
              <a:t>8.0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626864" y="4537899"/>
            <a:ext cx="2898648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26864" y="4672836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A4565"/>
                </a:solidFill>
                <a:latin typeface="Roboto Medium"/>
              </a:rPr>
              <a:t>sum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53912" y="4672836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b="1" dirty="0">
                <a:solidFill>
                  <a:srgbClr val="1A4565"/>
                </a:solidFill>
                <a:latin typeface="Roboto Medium"/>
              </a:rPr>
              <a:t>14.8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49056" y="3456432"/>
            <a:ext cx="289864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Roboto"/>
              </a:rPr>
              <a:t>whole form?   </a:t>
            </a:r>
            <a:r>
              <a:rPr b="1" dirty="0">
                <a:solidFill>
                  <a:srgbClr val="212121"/>
                </a:solidFill>
                <a:latin typeface="Roboto"/>
              </a:rPr>
              <a:t>yes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49056" y="3918825"/>
            <a:ext cx="289864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Roboto"/>
              </a:rPr>
              <a:t>14.8 is above 8.0?   </a:t>
            </a:r>
            <a:r>
              <a:rPr b="1" dirty="0">
                <a:solidFill>
                  <a:srgbClr val="212121"/>
                </a:solidFill>
                <a:latin typeface="Roboto"/>
              </a:rPr>
              <a:t>yes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449056" y="4424215"/>
            <a:ext cx="2898648" cy="384048"/>
          </a:xfrm>
          <a:prstGeom prst="roundRect">
            <a:avLst>
              <a:gd name="adj" fmla="val 1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 dirty="0">
                <a:solidFill>
                  <a:srgbClr val="1E6B33"/>
                </a:solidFill>
                <a:latin typeface="Roboto"/>
              </a:rPr>
              <a:t>deafness with </a:t>
            </a:r>
            <a:r>
              <a:rPr sz="1400" b="1" dirty="0" err="1">
                <a:solidFill>
                  <a:srgbClr val="1E6B33"/>
                </a:solidFill>
                <a:latin typeface="Roboto"/>
              </a:rPr>
              <a:t>goitre</a:t>
            </a:r>
            <a:endParaRPr sz="1400" b="1" dirty="0">
              <a:solidFill>
                <a:srgbClr val="1E6B33"/>
              </a:solidFill>
              <a:latin typeface="Roboto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449056" y="4826551"/>
            <a:ext cx="289864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5A5F5F"/>
                </a:solidFill>
                <a:latin typeface="Roboto"/>
              </a:rPr>
              <a:t>goes on the search list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5277323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A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822960" y="5496779"/>
            <a:ext cx="1234440" cy="329184"/>
          </a:xfrm>
          <a:prstGeom prst="roundRect">
            <a:avLst>
              <a:gd name="adj" fmla="val 1800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Roboto"/>
              </a:rPr>
              <a:t>Declined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40280" y="5449264"/>
            <a:ext cx="90525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dirty="0">
                <a:solidFill>
                  <a:srgbClr val="FFFFFF"/>
                </a:solidFill>
                <a:latin typeface="Roboto"/>
              </a:rPr>
              <a:t>~</a:t>
            </a:r>
            <a:r>
              <a:rPr sz="1400" dirty="0">
                <a:solidFill>
                  <a:srgbClr val="FFFFFF"/>
                </a:solidFill>
                <a:latin typeface="Roboto"/>
              </a:rPr>
              <a:t>4,900 abbreviations, and 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~</a:t>
            </a:r>
            <a:r>
              <a:rPr sz="1400" dirty="0">
                <a:solidFill>
                  <a:srgbClr val="FFFFFF"/>
                </a:solidFill>
                <a:latin typeface="Roboto"/>
              </a:rPr>
              <a:t>900 single words too common to trust: tumor 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(</a:t>
            </a:r>
            <a:r>
              <a:rPr sz="1400" dirty="0">
                <a:solidFill>
                  <a:srgbClr val="FFFFFF"/>
                </a:solidFill>
                <a:latin typeface="Roboto"/>
              </a:rPr>
              <a:t>1,072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)</a:t>
            </a:r>
            <a:r>
              <a:rPr sz="1400" dirty="0">
                <a:solidFill>
                  <a:srgbClr val="FFFFFF"/>
                </a:solidFill>
                <a:latin typeface="Roboto"/>
              </a:rPr>
              <a:t>, carcinoma 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(</a:t>
            </a:r>
            <a:r>
              <a:rPr sz="1400" dirty="0">
                <a:solidFill>
                  <a:srgbClr val="FFFFFF"/>
                </a:solidFill>
                <a:latin typeface="Roboto"/>
              </a:rPr>
              <a:t>630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)</a:t>
            </a:r>
            <a:r>
              <a:rPr sz="1400" dirty="0">
                <a:solidFill>
                  <a:srgbClr val="FFFFFF"/>
                </a:solidFill>
                <a:latin typeface="Roboto"/>
              </a:rPr>
              <a:t>, cancer 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(</a:t>
            </a:r>
            <a:r>
              <a:rPr sz="1400" dirty="0">
                <a:solidFill>
                  <a:srgbClr val="FFFFFF"/>
                </a:solidFill>
                <a:latin typeface="Roboto"/>
              </a:rPr>
              <a:t>521</a:t>
            </a:r>
            <a:r>
              <a:rPr lang="en-GB" sz="1400" dirty="0">
                <a:solidFill>
                  <a:srgbClr val="FFFFFF"/>
                </a:solidFill>
                <a:latin typeface="Roboto"/>
              </a:rPr>
              <a:t>)</a:t>
            </a:r>
            <a:r>
              <a:rPr sz="1400" dirty="0">
                <a:solidFill>
                  <a:srgbClr val="FFFFFF"/>
                </a:solidFill>
                <a:latin typeface="Roboto"/>
              </a:rPr>
              <a:t>. Some of those single words return by the route on the next slide.</a:t>
            </a:r>
            <a:endParaRPr sz="1400" b="1" dirty="0">
              <a:solidFill>
                <a:srgbClr val="FFFFFF"/>
              </a:solidFill>
              <a:latin typeface="Roboto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CB9BD-41B2-2C81-FF21-B6203A25CE2D}"/>
              </a:ext>
            </a:extLst>
          </p:cNvPr>
          <p:cNvSpPr txBox="1"/>
          <p:nvPr/>
        </p:nvSpPr>
        <p:spPr>
          <a:xfrm>
            <a:off x="579120" y="1682250"/>
            <a:ext cx="93417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400" dirty="0">
                <a:solidFill>
                  <a:srgbClr val="5A5F5F"/>
                </a:solidFill>
                <a:latin typeface="Roboto"/>
              </a:rPr>
              <a:t>name</a:t>
            </a:r>
            <a:endParaRPr sz="1400" b="0" dirty="0">
              <a:solidFill>
                <a:srgbClr val="5A5F5F"/>
              </a:solidFill>
              <a:latin typeface="Roboto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MATCHING REACTOME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disease reaches a label in three ways</a:t>
            </a:r>
            <a:endParaRPr lang="en-US" sz="36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F58A78-63B4-EBC9-628A-3A90EB310DB6}"/>
              </a:ext>
            </a:extLst>
          </p:cNvPr>
          <p:cNvGrpSpPr/>
          <p:nvPr/>
        </p:nvGrpSpPr>
        <p:grpSpPr>
          <a:xfrm>
            <a:off x="548640" y="1865377"/>
            <a:ext cx="11064240" cy="3246120"/>
            <a:chOff x="548640" y="2057400"/>
            <a:chExt cx="11064240" cy="3246120"/>
          </a:xfrm>
        </p:grpSpPr>
        <p:sp>
          <p:nvSpPr>
            <p:cNvPr id="6" name="Shape 4"/>
            <p:cNvSpPr/>
            <p:nvPr/>
          </p:nvSpPr>
          <p:spPr>
            <a:xfrm>
              <a:off x="548640" y="2112264"/>
              <a:ext cx="420624" cy="420624"/>
            </a:xfrm>
            <a:prstGeom prst="ellipse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211226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97280" y="2057400"/>
              <a:ext cx="21031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A4565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Complete disease name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97280" y="2368296"/>
              <a:ext cx="2148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171 links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91840" y="2075688"/>
              <a:ext cx="5029200" cy="457200"/>
            </a:xfrm>
            <a:prstGeom prst="roundRect">
              <a:avLst>
                <a:gd name="adj" fmla="val 12000"/>
              </a:avLst>
            </a:prstGeom>
            <a:solidFill>
              <a:srgbClr val="F4F6F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429000" y="2075688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b="1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Fanconi Anemia</a:t>
              </a: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Pathway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8412480" y="2304288"/>
              <a:ext cx="365760" cy="0"/>
            </a:xfrm>
            <a:prstGeom prst="line">
              <a:avLst/>
            </a:prstGeom>
            <a:noFill/>
            <a:ln w="25400">
              <a:solidFill>
                <a:srgbClr val="1A456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8869680" y="2103120"/>
              <a:ext cx="2743200" cy="402336"/>
            </a:xfrm>
            <a:prstGeom prst="roundRect">
              <a:avLst>
                <a:gd name="adj" fmla="val 18182"/>
              </a:avLst>
            </a:prstGeom>
            <a:solidFill>
              <a:srgbClr val="DDF0E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869680" y="2103120"/>
              <a:ext cx="2743200" cy="4023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E6B3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Fanconi anemia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91840" y="2587752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complete name or an exact synonym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" y="3044952"/>
              <a:ext cx="11064240" cy="0"/>
            </a:xfrm>
            <a:prstGeom prst="line">
              <a:avLst/>
            </a:prstGeom>
            <a:noFill/>
            <a:ln w="12700">
              <a:solidFill>
                <a:srgbClr val="E4E9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548640" y="3255264"/>
              <a:ext cx="420624" cy="420624"/>
            </a:xfrm>
            <a:prstGeom prst="ellipse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548640" y="325526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097280" y="3200400"/>
              <a:ext cx="21031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A4565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Single-word disease</a:t>
              </a:r>
            </a:p>
            <a:p>
              <a:pPr marL="0" indent="0">
                <a:buNone/>
              </a:pPr>
              <a:r>
                <a:rPr lang="en-US" sz="1500" dirty="0">
                  <a:solidFill>
                    <a:srgbClr val="1A4565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name</a:t>
              </a:r>
              <a:endParaRPr lang="en-US" sz="15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97280" y="3511296"/>
              <a:ext cx="214884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95 links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91840" y="3218688"/>
              <a:ext cx="5029200" cy="457200"/>
            </a:xfrm>
            <a:prstGeom prst="roundRect">
              <a:avLst>
                <a:gd name="adj" fmla="val 12000"/>
              </a:avLst>
            </a:prstGeom>
            <a:solidFill>
              <a:srgbClr val="F4F6F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3429000" y="3218688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Uptake and function of </a:t>
              </a:r>
              <a:r>
                <a:rPr lang="en-US" sz="1400" b="1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diphtheria</a:t>
              </a: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toxin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412480" y="3447288"/>
              <a:ext cx="365760" cy="0"/>
            </a:xfrm>
            <a:prstGeom prst="line">
              <a:avLst/>
            </a:prstGeom>
            <a:noFill/>
            <a:ln w="25400">
              <a:solidFill>
                <a:srgbClr val="1A456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8869680" y="3246120"/>
              <a:ext cx="2743200" cy="402336"/>
            </a:xfrm>
            <a:prstGeom prst="roundRect">
              <a:avLst>
                <a:gd name="adj" fmla="val 18182"/>
              </a:avLst>
            </a:prstGeom>
            <a:solidFill>
              <a:srgbClr val="DDF0E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8869680" y="3246120"/>
              <a:ext cx="2743200" cy="4023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E6B3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diphtheria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291840" y="3730752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One distinctive word, &gt;6 letters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48640" y="4187952"/>
              <a:ext cx="11064240" cy="0"/>
            </a:xfrm>
            <a:prstGeom prst="line">
              <a:avLst/>
            </a:prstGeom>
            <a:noFill/>
            <a:ln w="12700">
              <a:solidFill>
                <a:srgbClr val="E4E9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48640" y="4398264"/>
              <a:ext cx="420624" cy="420624"/>
            </a:xfrm>
            <a:prstGeom prst="ellipse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548640" y="439826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097280" y="4343400"/>
              <a:ext cx="21031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A4565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Name within pattern*</a:t>
              </a:r>
              <a:endParaRPr lang="en-US" sz="15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097280" y="4736592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85 links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291840" y="4361688"/>
              <a:ext cx="5029200" cy="457200"/>
            </a:xfrm>
            <a:prstGeom prst="roundRect">
              <a:avLst>
                <a:gd name="adj" fmla="val 12000"/>
              </a:avLst>
            </a:prstGeom>
            <a:solidFill>
              <a:srgbClr val="F4F6F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3429000" y="4361688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Defective ABCC6 causes </a:t>
              </a:r>
              <a:r>
                <a:rPr lang="en-US" sz="1400" b="1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PXE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412480" y="4590288"/>
              <a:ext cx="365760" cy="0"/>
            </a:xfrm>
            <a:prstGeom prst="line">
              <a:avLst/>
            </a:prstGeom>
            <a:noFill/>
            <a:ln w="25400">
              <a:solidFill>
                <a:srgbClr val="1A456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8869680" y="4389120"/>
              <a:ext cx="2743200" cy="402336"/>
            </a:xfrm>
            <a:prstGeom prst="roundRect">
              <a:avLst>
                <a:gd name="adj" fmla="val 18182"/>
              </a:avLst>
            </a:prstGeom>
            <a:solidFill>
              <a:srgbClr val="DDF0E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8869680" y="4389120"/>
              <a:ext cx="2743200" cy="4023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E6B3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pseudoxanthoma elasticum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291840" y="484632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*from Reactome's own labelling convention: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Defective X causes (174 labels), X variants cause (7), X deficiency causes (2)</a:t>
              </a:r>
              <a:endParaRPr lang="en-US" sz="1200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548640" y="54381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" y="56393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22960" y="563930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Acronyms</a:t>
            </a:r>
            <a:endParaRPr lang="en-US" sz="1200" dirty="0"/>
          </a:p>
        </p:txBody>
      </p:sp>
      <p:sp>
        <p:nvSpPr>
          <p:cNvPr id="41" name="Shape 39"/>
          <p:cNvSpPr>
            <a:spLocks/>
          </p:cNvSpPr>
          <p:nvPr/>
        </p:nvSpPr>
        <p:spPr>
          <a:xfrm>
            <a:off x="2286000" y="5640892"/>
            <a:ext cx="3931920" cy="3276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0" y="5602732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NOTCH1 </a:t>
            </a:r>
            <a:r>
              <a:rPr lang="en-US" sz="16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Domain Mutants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0" y="54381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</a:t>
            </a:r>
            <a:r>
              <a:rPr lang="en-US" sz="16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protein domain here, not Huntington disease!</a:t>
            </a:r>
            <a:endParaRPr lang="en-US" sz="1400" dirty="0">
              <a:solidFill>
                <a:srgbClr val="1A4565"/>
              </a:solidFill>
            </a:endParaRPr>
          </a:p>
        </p:txBody>
      </p:sp>
      <p:pic>
        <p:nvPicPr>
          <p:cNvPr id="44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LLM only reads the doubtful links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351 pathway-disease links, judged by </a:t>
            </a:r>
            <a:r>
              <a:rPr lang="en-US" sz="14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5</a:t>
            </a:r>
            <a:endParaRPr lang="en-US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E20FE9A-7DE5-0F6D-662B-AF15EF7433C0}"/>
              </a:ext>
            </a:extLst>
          </p:cNvPr>
          <p:cNvGrpSpPr/>
          <p:nvPr/>
        </p:nvGrpSpPr>
        <p:grpSpPr>
          <a:xfrm>
            <a:off x="548640" y="1670304"/>
            <a:ext cx="11064241" cy="1353312"/>
            <a:chOff x="548640" y="1792224"/>
            <a:chExt cx="11064241" cy="1353312"/>
          </a:xfrm>
        </p:grpSpPr>
        <p:sp>
          <p:nvSpPr>
            <p:cNvPr id="7" name="Shape 5"/>
            <p:cNvSpPr/>
            <p:nvPr/>
          </p:nvSpPr>
          <p:spPr>
            <a:xfrm>
              <a:off x="548640" y="2176272"/>
              <a:ext cx="6304410" cy="658368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176272"/>
              <a:ext cx="630441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bg1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200 not sent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889504"/>
              <a:ext cx="630441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85 fixed pattern, plus 115 complete name scoring &gt;12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853050" y="2176272"/>
              <a:ext cx="4413087" cy="658368"/>
            </a:xfrm>
            <a:prstGeom prst="roundRect">
              <a:avLst>
                <a:gd name="adj" fmla="val 0"/>
              </a:avLst>
            </a:prstGeom>
            <a:solidFill>
              <a:srgbClr val="DDF0E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853050" y="2176272"/>
              <a:ext cx="4413087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6B33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140 kept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853051" y="2926080"/>
              <a:ext cx="475983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judged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1266137" y="2176272"/>
              <a:ext cx="346743" cy="658368"/>
            </a:xfrm>
            <a:prstGeom prst="roundRect">
              <a:avLst>
                <a:gd name="adj" fmla="val 0"/>
              </a:avLst>
            </a:prstGeom>
            <a:solidFill>
              <a:srgbClr val="FFD0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9894537" y="1792224"/>
              <a:ext cx="171834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solidFill>
                    <a:srgbClr val="A33224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11 rejected</a:t>
              </a:r>
              <a:endParaRPr lang="en-US" dirty="0"/>
            </a:p>
          </p:txBody>
        </p:sp>
      </p:grpSp>
      <p:sp>
        <p:nvSpPr>
          <p:cNvPr id="17" name="Shape 15"/>
          <p:cNvSpPr/>
          <p:nvPr/>
        </p:nvSpPr>
        <p:spPr>
          <a:xfrm>
            <a:off x="548640" y="3526536"/>
            <a:ext cx="3502152" cy="2542032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094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different disease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7827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of the 11 rejects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331208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31208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</a:t>
            </a: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989576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989576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severe acute respiratory syndrome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512568"/>
            <a:ext cx="2953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 causes COVID-19, not SARS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4924" y="3527253"/>
            <a:ext cx="3502152" cy="2542032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9244" y="3710133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protein, not a condition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9244" y="3978989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19244" y="4331925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13312" y="4331925"/>
            <a:ext cx="2737259" cy="457200"/>
          </a:xfrm>
          <a:prstGeom prst="rect">
            <a:avLst/>
          </a:prstGeom>
          <a:solidFill>
            <a:srgbClr val="D5DBE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Regulation of gene expression by </a:t>
            </a: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Hypoxia-inducible Factor</a:t>
            </a:r>
            <a:endParaRPr lang="en-US" sz="1200" b="1" dirty="0"/>
          </a:p>
        </p:txBody>
      </p:sp>
      <p:sp>
        <p:nvSpPr>
          <p:cNvPr id="32" name="Shape 30"/>
          <p:cNvSpPr/>
          <p:nvPr/>
        </p:nvSpPr>
        <p:spPr>
          <a:xfrm>
            <a:off x="4619244" y="4990293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9244" y="4990293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hypoxia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9244" y="5513285"/>
            <a:ext cx="2953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of the protein name, not the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0728" y="3526536"/>
            <a:ext cx="3502152" cy="2542032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85048" y="37094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Another sense of the word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85048" y="397827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85048" y="4331208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85048" y="4331208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NTRK3 as a </a:t>
            </a:r>
            <a:r>
              <a:rPr lang="en-US" sz="1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dependence receptor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8385048" y="4989576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85048" y="4989576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substance dependence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82047" y="5512568"/>
            <a:ext cx="315100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dependence receptor is a molecular class</a:t>
            </a:r>
            <a:endParaRPr lang="en-US" sz="1200" dirty="0"/>
          </a:p>
        </p:txBody>
      </p:sp>
      <p:pic>
        <p:nvPicPr>
          <p:cNvPr id="44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AEC2F5-9A5C-50B0-48F2-C050ACE3F1A0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>
            <a:off x="2299716" y="4788408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38B213-6290-04A7-EB8C-D3AA7EE3FC36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096000" y="4789125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4AC756A-0A5E-C7FB-A714-BA6D81F05736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>
            <a:off x="9861804" y="4788408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pipeline adds to Reactome curation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5961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59612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5394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Merge, do not replace. The pipeline reaches what labels name, curation reaches what biology implies.</a:t>
            </a:r>
            <a:endParaRPr lang="en-US" sz="1500" dirty="0"/>
          </a:p>
        </p:txBody>
      </p:sp>
      <p:pic>
        <p:nvPicPr>
          <p:cNvPr id="24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280160" y="2331720"/>
            <a:ext cx="2194560" cy="2194560"/>
          </a:xfrm>
          <a:prstGeom prst="ellipse">
            <a:avLst/>
          </a:prstGeom>
          <a:solidFill>
            <a:srgbClr val="3489CA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3200" y="1920240"/>
            <a:ext cx="3017520" cy="3017520"/>
          </a:xfrm>
          <a:prstGeom prst="ellipse">
            <a:avLst/>
          </a:prstGeom>
          <a:solidFill>
            <a:srgbClr val="1A4565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203646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1A4565"/>
                </a:solidFill>
                <a:latin typeface="Roboto Medium"/>
              </a:rPr>
              <a:t>Found by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5154" y="4952922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1A4565"/>
                </a:solidFill>
                <a:latin typeface="Roboto Medium"/>
              </a:rPr>
              <a:t>In </a:t>
            </a:r>
            <a:r>
              <a:rPr sz="1400" b="1" dirty="0" err="1">
                <a:solidFill>
                  <a:srgbClr val="1A4565"/>
                </a:solidFill>
                <a:latin typeface="Roboto Medium"/>
              </a:rPr>
              <a:t>Reactome</a:t>
            </a:r>
            <a:r>
              <a:rPr sz="1400" b="1" dirty="0">
                <a:solidFill>
                  <a:srgbClr val="1A4565"/>
                </a:solidFill>
                <a:latin typeface="Roboto Medium"/>
              </a:rPr>
              <a:t> </a:t>
            </a:r>
            <a:r>
              <a:rPr lang="en-GB" sz="1400" b="1" dirty="0">
                <a:solidFill>
                  <a:srgbClr val="1A4565"/>
                </a:solidFill>
                <a:latin typeface="Roboto Medium"/>
              </a:rPr>
              <a:t>curation</a:t>
            </a:r>
            <a:endParaRPr sz="1400" b="1" dirty="0">
              <a:solidFill>
                <a:srgbClr val="1A4565"/>
              </a:solidFill>
              <a:latin typeface="Roboto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25880" y="31272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1A4565"/>
                </a:solidFill>
                <a:latin typeface="Roboto"/>
              </a:rPr>
              <a:t>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63931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1A4565"/>
                </a:solidFill>
                <a:latin typeface="Roboto"/>
              </a:rPr>
              <a:t>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" y="3127248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oboto"/>
              </a:rPr>
              <a:t>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3639312"/>
            <a:ext cx="12070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both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127248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oboto"/>
              </a:rPr>
              <a:t>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63931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only in curation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192024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10312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4400" b="1" dirty="0">
                <a:solidFill>
                  <a:srgbClr val="1A4565"/>
                </a:solidFill>
                <a:latin typeface="Roboto"/>
              </a:rPr>
              <a:t>+</a:t>
            </a:r>
            <a:r>
              <a:rPr sz="4400" b="1" dirty="0">
                <a:solidFill>
                  <a:srgbClr val="1A4565"/>
                </a:solidFill>
                <a:latin typeface="Roboto"/>
              </a:rPr>
              <a:t>839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9443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5A5F5F"/>
                </a:solidFill>
                <a:latin typeface="Roboto"/>
              </a:rPr>
              <a:t>new target-disease pairs, from the 199 new links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346704"/>
            <a:ext cx="4389120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352958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1400" b="1" dirty="0">
                <a:solidFill>
                  <a:srgbClr val="1A4565"/>
                </a:solidFill>
                <a:latin typeface="Roboto Medium"/>
              </a:rPr>
              <a:t>Four</a:t>
            </a:r>
            <a:r>
              <a:rPr sz="1400" b="1" dirty="0">
                <a:solidFill>
                  <a:srgbClr val="1A4565"/>
                </a:solidFill>
                <a:latin typeface="Roboto Medium"/>
              </a:rPr>
              <a:t> large pathways supply 468 of them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87705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4565"/>
                </a:solidFill>
                <a:latin typeface="Roboto Medium"/>
              </a:rPr>
              <a:t>154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87705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Roboto"/>
              </a:rPr>
              <a:t>Potential therapeutics for SARS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160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4565"/>
                </a:solidFill>
                <a:latin typeface="Roboto Medium"/>
              </a:rPr>
              <a:t>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16052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Roboto"/>
              </a:rPr>
              <a:t>MLL4 and MLL3 complexes in adipogenesis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4439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4565"/>
                </a:solidFill>
                <a:latin typeface="Roboto Medium"/>
              </a:rPr>
              <a:t>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44398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Roboto"/>
              </a:rPr>
              <a:t>SARS-CoV-2 modulates immune responses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7274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4565"/>
                </a:solidFill>
                <a:latin typeface="Roboto Medium"/>
              </a:rPr>
              <a:t>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727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Roboto"/>
              </a:rPr>
              <a:t>Defective TPR, thyroid papillary carcinoma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MEASURED, NOT GUESSED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532 curated links are not recovered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5735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label names no disease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0" y="165735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 name a different disease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9958"/>
            <a:ext cx="9418320" cy="713232"/>
          </a:xfrm>
          <a:prstGeom prst="roundRect">
            <a:avLst>
              <a:gd name="adj" fmla="val 0"/>
            </a:avLst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49958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66960" y="1949958"/>
            <a:ext cx="1645920" cy="713232"/>
          </a:xfrm>
          <a:prstGeom prst="roundRect">
            <a:avLst>
              <a:gd name="adj" fmla="val 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66960" y="194995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960369"/>
            <a:ext cx="5486400" cy="2354581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249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314325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14325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453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5414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  <a:buSzPct val="100000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Mapping comes from biology, with no disease name in the label</a:t>
            </a:r>
            <a:endParaRPr lang="en-US" sz="12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D5AFB3-F4D5-BDBA-9010-4A043327B028}"/>
              </a:ext>
            </a:extLst>
          </p:cNvPr>
          <p:cNvGrpSpPr/>
          <p:nvPr/>
        </p:nvGrpSpPr>
        <p:grpSpPr>
          <a:xfrm>
            <a:off x="822960" y="3850611"/>
            <a:ext cx="4937760" cy="1243584"/>
            <a:chOff x="822960" y="4123944"/>
            <a:chExt cx="4937760" cy="1243584"/>
          </a:xfrm>
        </p:grpSpPr>
        <p:sp>
          <p:nvSpPr>
            <p:cNvPr id="18" name="Shape 16"/>
            <p:cNvSpPr/>
            <p:nvPr/>
          </p:nvSpPr>
          <p:spPr>
            <a:xfrm>
              <a:off x="822960" y="4325112"/>
              <a:ext cx="4937760" cy="329184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F397C75-385D-D743-9727-49CEABFAB70C}"/>
                </a:ext>
              </a:extLst>
            </p:cNvPr>
            <p:cNvGrpSpPr/>
            <p:nvPr/>
          </p:nvGrpSpPr>
          <p:grpSpPr>
            <a:xfrm>
              <a:off x="822960" y="4123944"/>
              <a:ext cx="4937760" cy="1243584"/>
              <a:chOff x="822960" y="4123944"/>
              <a:chExt cx="4937760" cy="1243584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7BD5B4F3-C436-A49F-411E-09C5ED76C562}"/>
                  </a:ext>
                </a:extLst>
              </p:cNvPr>
              <p:cNvGrpSpPr/>
              <p:nvPr/>
            </p:nvGrpSpPr>
            <p:grpSpPr>
              <a:xfrm>
                <a:off x="822960" y="4123944"/>
                <a:ext cx="4937760" cy="1243584"/>
                <a:chOff x="822960" y="4123944"/>
                <a:chExt cx="4937760" cy="1243584"/>
              </a:xfrm>
            </p:grpSpPr>
            <p:sp>
              <p:nvSpPr>
                <p:cNvPr id="17" name="Text 15"/>
                <p:cNvSpPr/>
                <p:nvPr/>
              </p:nvSpPr>
              <p:spPr>
                <a:xfrm>
                  <a:off x="822960" y="4123944"/>
                  <a:ext cx="49377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5A5F5F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pathway label</a:t>
                  </a:r>
                  <a:endParaRPr lang="en-US" sz="1200" dirty="0"/>
                </a:p>
              </p:txBody>
            </p:sp>
            <p:sp>
              <p:nvSpPr>
                <p:cNvPr id="19" name="Text 17"/>
                <p:cNvSpPr/>
                <p:nvPr/>
              </p:nvSpPr>
              <p:spPr>
                <a:xfrm>
                  <a:off x="822960" y="4325112"/>
                  <a:ext cx="4937760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212121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Signaling by plasma membrane FGFR1 fusions</a:t>
                  </a:r>
                  <a:endParaRPr lang="en-US" sz="1200" dirty="0"/>
                </a:p>
              </p:txBody>
            </p:sp>
            <p:sp>
              <p:nvSpPr>
                <p:cNvPr id="20" name="Shape 18"/>
                <p:cNvSpPr/>
                <p:nvPr/>
              </p:nvSpPr>
              <p:spPr>
                <a:xfrm>
                  <a:off x="3291840" y="4690872"/>
                  <a:ext cx="0" cy="128016"/>
                </a:xfrm>
                <a:prstGeom prst="line">
                  <a:avLst/>
                </a:prstGeom>
                <a:noFill/>
                <a:ln w="25400">
                  <a:solidFill>
                    <a:srgbClr val="1A4565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 19"/>
                <p:cNvSpPr/>
                <p:nvPr/>
              </p:nvSpPr>
              <p:spPr>
                <a:xfrm>
                  <a:off x="822960" y="4837176"/>
                  <a:ext cx="49377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dirty="0">
                      <a:solidFill>
                        <a:srgbClr val="5A5F5F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manual curation</a:t>
                  </a:r>
                  <a:endParaRPr lang="en-US" sz="1200" dirty="0"/>
                </a:p>
              </p:txBody>
            </p:sp>
            <p:sp>
              <p:nvSpPr>
                <p:cNvPr id="22" name="Shape 20"/>
                <p:cNvSpPr/>
                <p:nvPr/>
              </p:nvSpPr>
              <p:spPr>
                <a:xfrm>
                  <a:off x="822960" y="5038344"/>
                  <a:ext cx="4937760" cy="329184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DDE2E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Text 21"/>
              <p:cNvSpPr/>
              <p:nvPr/>
            </p:nvSpPr>
            <p:spPr>
              <a:xfrm>
                <a:off x="822960" y="5038344"/>
                <a:ext cx="4937760" cy="32918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cancer</a:t>
                </a:r>
                <a:endParaRPr lang="en-US" sz="1200" dirty="0"/>
              </a:p>
            </p:txBody>
          </p:sp>
        </p:grpSp>
      </p:grpSp>
      <p:sp>
        <p:nvSpPr>
          <p:cNvPr id="24" name="Shape 22"/>
          <p:cNvSpPr/>
          <p:nvPr/>
        </p:nvSpPr>
        <p:spPr>
          <a:xfrm>
            <a:off x="6126480" y="2960369"/>
            <a:ext cx="5486400" cy="2354581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1249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Disagreement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0" y="314325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0" y="314325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345414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  <a:buSzPct val="100000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mapping is more precise in 82% of cases</a:t>
            </a:r>
            <a:endParaRPr lang="en-US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CCD4B9-1936-482A-CA04-6C605AB6A73A}"/>
              </a:ext>
            </a:extLst>
          </p:cNvPr>
          <p:cNvGrpSpPr/>
          <p:nvPr/>
        </p:nvGrpSpPr>
        <p:grpSpPr>
          <a:xfrm>
            <a:off x="6400800" y="3859755"/>
            <a:ext cx="4937760" cy="1243584"/>
            <a:chOff x="6400800" y="4123944"/>
            <a:chExt cx="4937760" cy="1243584"/>
          </a:xfrm>
        </p:grpSpPr>
        <p:sp>
          <p:nvSpPr>
            <p:cNvPr id="29" name="Text 27"/>
            <p:cNvSpPr/>
            <p:nvPr/>
          </p:nvSpPr>
          <p:spPr>
            <a:xfrm>
              <a:off x="6400800" y="4123944"/>
              <a:ext cx="4937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pathway label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400800" y="4325112"/>
              <a:ext cx="4937760" cy="329184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6400800" y="4325112"/>
              <a:ext cx="49377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12121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Defective HLCS causes multiple carboxylase deficiency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869680" y="4690872"/>
              <a:ext cx="0" cy="128016"/>
            </a:xfrm>
            <a:prstGeom prst="line">
              <a:avLst/>
            </a:prstGeom>
            <a:noFill/>
            <a:ln w="25400">
              <a:solidFill>
                <a:srgbClr val="1A456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640080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manual curation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91540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automatic extraction</a:t>
              </a:r>
              <a:endParaRPr lang="en-US" sz="12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400800" y="5038344"/>
              <a:ext cx="2423160" cy="329184"/>
            </a:xfrm>
            <a:prstGeom prst="roundRect">
              <a:avLst>
                <a:gd name="adj" fmla="val 22222"/>
              </a:avLst>
            </a:prstGeom>
            <a:solidFill>
              <a:srgbClr val="DDE2E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400800" y="5038344"/>
              <a:ext cx="24231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inborn vitamin metabolic disorder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915400" y="5038344"/>
              <a:ext cx="2423160" cy="329184"/>
            </a:xfrm>
            <a:prstGeom prst="roundRect">
              <a:avLst>
                <a:gd name="adj" fmla="val 22222"/>
              </a:avLst>
            </a:prstGeom>
            <a:solidFill>
              <a:srgbClr val="C2DCE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8915400" y="5038344"/>
              <a:ext cx="24231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multiple carboxylase deficiency</a:t>
              </a:r>
              <a:endParaRPr lang="en-US" sz="120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548640" y="54178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>
              <a:solidFill>
                <a:srgbClr val="1A4565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" y="558241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3389C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Text 39"/>
          <p:cNvSpPr/>
          <p:nvPr/>
        </p:nvSpPr>
        <p:spPr>
          <a:xfrm>
            <a:off x="822960" y="5582412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Other 18%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43200" y="54178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term is broader, or an acronym in the slot resolved to the wrong disease (see backup)</a:t>
            </a:r>
            <a:endParaRPr lang="en-US" sz="1600" dirty="0">
              <a:solidFill>
                <a:srgbClr val="1A4565"/>
              </a:solidFill>
            </a:endParaRPr>
          </a:p>
        </p:txBody>
      </p:sp>
      <p:pic>
        <p:nvPicPr>
          <p:cNvPr id="4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 ONTOLOGY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library along the street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19660" y="4590288"/>
            <a:ext cx="135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curates one of these libraries. The pipeline can read any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GB" sz="3600" b="1" dirty="0">
                <a:solidFill>
                  <a:srgbClr val="1A4565"/>
                </a:solidFill>
                <a:latin typeface="Trebuchet MS" pitchFamily="34" charset="0"/>
              </a:rPr>
              <a:t>All pathway libraries covered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curates one of these libraries. The pipeline can read any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sp>
        <p:nvSpPr>
          <p:cNvPr id="5" name="Text 31">
            <a:extLst>
              <a:ext uri="{FF2B5EF4-FFF2-40B4-BE49-F238E27FC236}">
                <a16:creationId xmlns:a16="http://schemas.microsoft.com/office/drawing/2014/main" id="{F7A11C92-DB4A-8A3B-2DDF-E5DE0A68B947}"/>
              </a:ext>
            </a:extLst>
          </p:cNvPr>
          <p:cNvSpPr/>
          <p:nvPr/>
        </p:nvSpPr>
        <p:spPr>
          <a:xfrm>
            <a:off x="3719660" y="4590288"/>
            <a:ext cx="135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ALL SOURCES COMPARED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600"/>
              </a:lnSpc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93% of target-disease pairs come from new sources</a:t>
            </a:r>
          </a:p>
        </p:txBody>
      </p:sp>
      <p:sp>
        <p:nvSpPr>
          <p:cNvPr id="25" name="Shape 23"/>
          <p:cNvSpPr/>
          <p:nvPr/>
        </p:nvSpPr>
        <p:spPr>
          <a:xfrm>
            <a:off x="548640" y="350901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98449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509010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50901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 scanned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350901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Pathway-disease links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3509010"/>
            <a:ext cx="187451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Target-disease pairs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91467" y="3487917"/>
            <a:ext cx="164592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 covered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03021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" y="40302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403021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2,870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403021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01000" y="4030218"/>
            <a:ext cx="1874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1,695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12680" y="403021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8741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" y="44874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biological process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0" y="448741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24,136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52160" y="448741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01000" y="4487418"/>
            <a:ext cx="1874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12680" y="448741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494461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49446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Enrichr, 12 libraries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494461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28,064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52160" y="494461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1,118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01000" y="4944618"/>
            <a:ext cx="1874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36,597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012680" y="494461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2063" y="55537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Targets Platform release 26.06 </a:t>
            </a: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Enrichr pathway libraries, judged with </a:t>
            </a:r>
            <a:r>
              <a:rPr lang="en-US" sz="14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5</a:t>
            </a: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Bar: </a:t>
            </a: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38,825 unique Ensembl-resolved target-disease pairs, each counted once and credited to the first source that supplies it.</a:t>
            </a:r>
            <a:endParaRPr lang="en-US" sz="1200" dirty="0"/>
          </a:p>
        </p:txBody>
      </p:sp>
      <p:pic>
        <p:nvPicPr>
          <p:cNvPr id="59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48640" y="2286000"/>
            <a:ext cx="483036" cy="685800"/>
          </a:xfrm>
          <a:prstGeom prst="roundRect">
            <a:avLst>
              <a:gd name="adj" fmla="val 0"/>
            </a:avLst>
          </a:prstGeom>
          <a:solidFill>
            <a:srgbClr val="1A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31676" y="2286000"/>
            <a:ext cx="286402" cy="685800"/>
          </a:xfrm>
          <a:prstGeom prst="roundRect">
            <a:avLst>
              <a:gd name="adj" fmla="val 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318078" y="2286000"/>
            <a:ext cx="5451328" cy="685800"/>
          </a:xfrm>
          <a:prstGeom prst="roundRect">
            <a:avLst>
              <a:gd name="adj" fmla="val 0"/>
            </a:avLst>
          </a:prstGeom>
          <a:solidFill>
            <a:srgbClr val="6B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18078" y="2413456"/>
            <a:ext cx="54513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Roboto"/>
              </a:rPr>
              <a:t>19,129</a:t>
            </a:r>
          </a:p>
          <a:p>
            <a:pPr algn="ctr"/>
            <a:r>
              <a:rPr sz="1400" b="0" dirty="0">
                <a:solidFill>
                  <a:schemeClr val="bg1"/>
                </a:solidFill>
                <a:latin typeface="Roboto"/>
              </a:rPr>
              <a:t>Elsevier 49%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9407" y="2286000"/>
            <a:ext cx="2735496" cy="685800"/>
          </a:xfrm>
          <a:prstGeom prst="roundRect">
            <a:avLst>
              <a:gd name="adj" fmla="val 0"/>
            </a:avLst>
          </a:prstGeom>
          <a:solidFill>
            <a:srgbClr val="9A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769407" y="2286000"/>
            <a:ext cx="2735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A4565"/>
                </a:solidFill>
                <a:latin typeface="Roboto"/>
              </a:rPr>
              <a:t>9,599</a:t>
            </a:r>
          </a:p>
          <a:p>
            <a:pPr algn="ctr"/>
            <a:r>
              <a:rPr sz="1400" b="0">
                <a:solidFill>
                  <a:srgbClr val="1A4565"/>
                </a:solidFill>
                <a:latin typeface="Roboto"/>
              </a:rPr>
              <a:t>KEGG 25%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04903" y="2286000"/>
            <a:ext cx="1683645" cy="685800"/>
          </a:xfrm>
          <a:prstGeom prst="roundRect">
            <a:avLst>
              <a:gd name="adj" fmla="val 0"/>
            </a:avLst>
          </a:prstGeom>
          <a:solidFill>
            <a:srgbClr val="C2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04903" y="2286000"/>
            <a:ext cx="168364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A4565"/>
                </a:solidFill>
                <a:latin typeface="Roboto"/>
              </a:rPr>
              <a:t>5,908</a:t>
            </a:r>
          </a:p>
          <a:p>
            <a:pPr algn="ctr"/>
            <a:r>
              <a:rPr sz="1400" b="0">
                <a:solidFill>
                  <a:srgbClr val="1A4565"/>
                </a:solidFill>
                <a:latin typeface="Roboto"/>
              </a:rPr>
              <a:t>WikiPathways 15%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88548" y="2286000"/>
            <a:ext cx="424331" cy="685800"/>
          </a:xfrm>
          <a:prstGeom prst="roundRect">
            <a:avLst>
              <a:gd name="adj" fmla="val 0"/>
            </a:avLst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48640" y="2185417"/>
            <a:ext cx="769438" cy="45719"/>
          </a:xfrm>
          <a:prstGeom prst="roundRect">
            <a:avLst>
              <a:gd name="adj" fmla="val 0"/>
            </a:avLst>
          </a:prstGeom>
          <a:solidFill>
            <a:srgbClr val="1A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318078" y="2185417"/>
            <a:ext cx="10258225" cy="45719"/>
          </a:xfrm>
          <a:prstGeom prst="roundRect">
            <a:avLst>
              <a:gd name="adj" fmla="val 0"/>
            </a:avLst>
          </a:prstGeom>
          <a:solidFill>
            <a:srgbClr val="348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8640" y="160993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1A4565"/>
                </a:solidFill>
                <a:latin typeface="Roboto Medium"/>
              </a:rPr>
              <a:t>Open Targets sources   2,700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1883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3489CA"/>
                </a:solidFill>
                <a:latin typeface="Roboto Medium"/>
              </a:rPr>
              <a:t>Enrichr libraries   36,125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035808"/>
            <a:ext cx="6949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5A5F5F"/>
                </a:solidFill>
                <a:latin typeface="Roboto"/>
              </a:rPr>
              <a:t>Reactome</a:t>
            </a:r>
            <a:r>
              <a:rPr sz="1400" b="0" dirty="0">
                <a:solidFill>
                  <a:srgbClr val="5A5F5F"/>
                </a:solidFill>
                <a:latin typeface="Roboto"/>
              </a:rPr>
              <a:t> 1,695 (4%)   ·   GO 1,005 (3%)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84E41A-5861-5406-ADAD-545CFA48B791}"/>
              </a:ext>
            </a:extLst>
          </p:cNvPr>
          <p:cNvSpPr/>
          <p:nvPr/>
        </p:nvSpPr>
        <p:spPr>
          <a:xfrm rot="5400000" flipV="1">
            <a:off x="595930" y="2001557"/>
            <a:ext cx="170598" cy="45719"/>
          </a:xfrm>
          <a:prstGeom prst="roundRect">
            <a:avLst>
              <a:gd name="adj" fmla="val 0"/>
            </a:avLst>
          </a:prstGeom>
          <a:solidFill>
            <a:srgbClr val="1A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D0720-E570-846E-E123-3BF93F448A2A}"/>
              </a:ext>
            </a:extLst>
          </p:cNvPr>
          <p:cNvSpPr txBox="1"/>
          <p:nvPr/>
        </p:nvSpPr>
        <p:spPr>
          <a:xfrm>
            <a:off x="5612718" y="2996174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b="0" dirty="0">
                <a:solidFill>
                  <a:srgbClr val="5A5F5F"/>
                </a:solidFill>
                <a:latin typeface="Roboto"/>
              </a:rPr>
              <a:t>five more libraries 1,489 (4%)</a:t>
            </a:r>
            <a:endParaRPr 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disease pathway extraction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8732" y="5568036"/>
            <a:ext cx="4244011" cy="557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</a:t>
            </a: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targets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prioritised</a:t>
            </a: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disease pathways</a:t>
            </a:r>
            <a:endParaRPr lang="en-US" sz="1200" dirty="0"/>
          </a:p>
        </p:txBody>
      </p:sp>
      <p:pic>
        <p:nvPicPr>
          <p:cNvPr id="35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F77C096-DE9E-45B9-4D9A-52A79B65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1" t="6918" r="29755" b="4470"/>
          <a:stretch>
            <a:fillRect/>
          </a:stretch>
        </p:blipFill>
        <p:spPr>
          <a:xfrm>
            <a:off x="506297" y="1748993"/>
            <a:ext cx="3788883" cy="3819043"/>
          </a:xfrm>
          <a:prstGeom prst="rect">
            <a:avLst/>
          </a:prstGeom>
        </p:spPr>
      </p:pic>
      <p:sp>
        <p:nvSpPr>
          <p:cNvPr id="39" name="Shape 5">
            <a:extLst>
              <a:ext uri="{FF2B5EF4-FFF2-40B4-BE49-F238E27FC236}">
                <a16:creationId xmlns:a16="http://schemas.microsoft.com/office/drawing/2014/main" id="{7AD886CB-8AEB-FFB5-58E3-068754EAF2E8}"/>
              </a:ext>
            </a:extLst>
          </p:cNvPr>
          <p:cNvSpPr/>
          <p:nvPr/>
        </p:nvSpPr>
        <p:spPr>
          <a:xfrm>
            <a:off x="4602480" y="2154378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3FE82A9-254F-9574-03C4-A958DC070070}"/>
              </a:ext>
            </a:extLst>
          </p:cNvPr>
          <p:cNvSpPr/>
          <p:nvPr/>
        </p:nvSpPr>
        <p:spPr>
          <a:xfrm>
            <a:off x="4602480" y="21543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D0BD3280-43D4-4A4C-20C0-57FA65A40B52}"/>
              </a:ext>
            </a:extLst>
          </p:cNvPr>
          <p:cNvSpPr/>
          <p:nvPr/>
        </p:nvSpPr>
        <p:spPr>
          <a:xfrm>
            <a:off x="5242560" y="213609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Scale</a:t>
            </a:r>
            <a:endParaRPr lang="en-US" sz="18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F6C61F00-16DF-A6EE-FFD4-643A748163A8}"/>
              </a:ext>
            </a:extLst>
          </p:cNvPr>
          <p:cNvSpPr/>
          <p:nvPr/>
        </p:nvSpPr>
        <p:spPr>
          <a:xfrm>
            <a:off x="5242560" y="253842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+839 new target-disease pairs and 44 specificity fixes, only from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</a:t>
            </a:r>
            <a:endParaRPr lang="en-US" sz="14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F30D4474-D789-F48B-B26A-EF38952B57E6}"/>
              </a:ext>
            </a:extLst>
          </p:cNvPr>
          <p:cNvSpPr/>
          <p:nvPr/>
        </p:nvSpPr>
        <p:spPr>
          <a:xfrm flipV="1">
            <a:off x="5242560" y="3185362"/>
            <a:ext cx="6160770" cy="1829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1194C8EF-575D-65F7-8FF3-7F641DAE23AB}"/>
              </a:ext>
            </a:extLst>
          </p:cNvPr>
          <p:cNvSpPr/>
          <p:nvPr/>
        </p:nvSpPr>
        <p:spPr>
          <a:xfrm>
            <a:off x="4602480" y="3386532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DAB7224D-6415-405F-EB32-72CF0064565B}"/>
              </a:ext>
            </a:extLst>
          </p:cNvPr>
          <p:cNvSpPr/>
          <p:nvPr/>
        </p:nvSpPr>
        <p:spPr>
          <a:xfrm>
            <a:off x="4602480" y="33865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D6C2B02E-B3FA-0817-A7CB-A58E580CF454}"/>
              </a:ext>
            </a:extLst>
          </p:cNvPr>
          <p:cNvSpPr/>
          <p:nvPr/>
        </p:nvSpPr>
        <p:spPr>
          <a:xfrm>
            <a:off x="5242560" y="33682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Works on any source</a:t>
            </a:r>
            <a:endParaRPr lang="en-US" sz="18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642CFE0-7778-5C6E-D0A8-69F70233D4E0}"/>
              </a:ext>
            </a:extLst>
          </p:cNvPr>
          <p:cNvSpPr/>
          <p:nvPr/>
        </p:nvSpPr>
        <p:spPr>
          <a:xfrm>
            <a:off x="5242560" y="37705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new resource needs no method change</a:t>
            </a:r>
            <a:endParaRPr lang="en-US" sz="14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CC28A90B-CCF5-6FF8-6004-959532B8800E}"/>
              </a:ext>
            </a:extLst>
          </p:cNvPr>
          <p:cNvSpPr/>
          <p:nvPr/>
        </p:nvSpPr>
        <p:spPr>
          <a:xfrm flipV="1">
            <a:off x="5242560" y="4415231"/>
            <a:ext cx="6115050" cy="20575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708AE365-C975-7FBB-7FB9-FD0D612B7BAC}"/>
              </a:ext>
            </a:extLst>
          </p:cNvPr>
          <p:cNvSpPr/>
          <p:nvPr/>
        </p:nvSpPr>
        <p:spPr>
          <a:xfrm>
            <a:off x="4602480" y="4618686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956CA560-4DA4-0A46-60BF-227F243AEBD7}"/>
              </a:ext>
            </a:extLst>
          </p:cNvPr>
          <p:cNvSpPr/>
          <p:nvPr/>
        </p:nvSpPr>
        <p:spPr>
          <a:xfrm>
            <a:off x="4602480" y="461868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308F2CCC-D9E4-7737-DF77-FCCCF7AA8B08}"/>
              </a:ext>
            </a:extLst>
          </p:cNvPr>
          <p:cNvSpPr/>
          <p:nvPr/>
        </p:nvSpPr>
        <p:spPr>
          <a:xfrm>
            <a:off x="5242560" y="460039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Demonstrated need</a:t>
            </a:r>
            <a:endParaRPr lang="en-US" sz="18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B72878C-0EAD-B6E1-B391-0B495BDB2BE3}"/>
              </a:ext>
            </a:extLst>
          </p:cNvPr>
          <p:cNvSpPr/>
          <p:nvPr/>
        </p:nvSpPr>
        <p:spPr>
          <a:xfrm>
            <a:off x="5242560" y="500273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was already beneficial for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</a:t>
            </a: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NeuroId</a:t>
            </a: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prioritisation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B58E-E19D-5B4B-99F4-0E46BDC6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A7A001-2866-094B-47E6-02713181F50C}"/>
              </a:ext>
            </a:extLst>
          </p:cNvPr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F493CE-846B-73B3-C2AD-12A3DFDDC907}"/>
              </a:ext>
            </a:extLst>
          </p:cNvPr>
          <p:cNvSpPr/>
          <p:nvPr/>
        </p:nvSpPr>
        <p:spPr>
          <a:xfrm>
            <a:off x="5435600" y="1750059"/>
            <a:ext cx="6756400" cy="53169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38C6D8FB-4F5C-09F2-6A6E-80957D4DF8F8}"/>
              </a:ext>
            </a:extLst>
          </p:cNvPr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E6CC4CE-708E-B062-FB7B-FE1A4CFA1FF6}"/>
              </a:ext>
            </a:extLst>
          </p:cNvPr>
          <p:cNvSpPr/>
          <p:nvPr/>
        </p:nvSpPr>
        <p:spPr>
          <a:xfrm>
            <a:off x="5435600" y="3182650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2378E27-9589-FAFF-A067-FCF3B0101AA2}"/>
              </a:ext>
            </a:extLst>
          </p:cNvPr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069D31F-134D-DD92-DCE4-467E744ADEBA}"/>
              </a:ext>
            </a:extLst>
          </p:cNvPr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2423A3C-B498-A63B-23BE-134DAB0A14F7}"/>
              </a:ext>
            </a:extLst>
          </p:cNvPr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7619F82-2841-21A5-A05F-34AC7DD8D35E}"/>
              </a:ext>
            </a:extLst>
          </p:cNvPr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47A5964-7342-4132-A4EA-EA72B0C31191}"/>
              </a:ext>
            </a:extLst>
          </p:cNvPr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D7F1637-CCAC-1586-11F3-9A8A3168E797}"/>
              </a:ext>
            </a:extLst>
          </p:cNvPr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98ABB2A-C0CA-6494-A4D7-297310E06F6B}"/>
              </a:ext>
            </a:extLst>
          </p:cNvPr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D164786-7695-5C08-FCE9-E512F10B5118}"/>
              </a:ext>
            </a:extLst>
          </p:cNvPr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4BD982B-3C93-CD9B-44AC-EF19FBB28D5B}"/>
              </a:ext>
            </a:extLst>
          </p:cNvPr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64EDDFE-FFCD-2A08-5F8C-4AF8145938E7}"/>
              </a:ext>
            </a:extLst>
          </p:cNvPr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C622A4A8-2CD8-0D3A-D48D-AAE5797C8157}"/>
              </a:ext>
            </a:extLst>
          </p:cNvPr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E057114-8C49-6931-02FA-512EC96B698F}"/>
              </a:ext>
            </a:extLst>
          </p:cNvPr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066BE95-6A81-319C-ECA8-8836ACD3E7A4}"/>
              </a:ext>
            </a:extLst>
          </p:cNvPr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F61894DA-4FE8-8A09-27B8-476D9B52A3F6}"/>
              </a:ext>
            </a:extLst>
          </p:cNvPr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68829884-4DDD-276A-7BDC-3D5C4A46D75E}"/>
              </a:ext>
            </a:extLst>
          </p:cNvPr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C0141A68-3322-6097-414B-4D7B3CA94A48}"/>
              </a:ext>
            </a:extLst>
          </p:cNvPr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ED7784F4-7665-2941-AA44-0E176E13732B}"/>
              </a:ext>
            </a:extLst>
          </p:cNvPr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18E30E6A-42C1-343F-BDAE-3D51838D2D37}"/>
              </a:ext>
            </a:extLst>
          </p:cNvPr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5A42448-BB02-112A-9528-D2695475A5B0}"/>
              </a:ext>
            </a:extLst>
          </p:cNvPr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A2E89FD-A0D0-2EC9-BDB4-F01F45213397}"/>
              </a:ext>
            </a:extLst>
          </p:cNvPr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44DB38DE-F8C2-D87A-8745-C4366B14452F}"/>
              </a:ext>
            </a:extLst>
          </p:cNvPr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6AD3A5D-9C22-06EF-6662-7F4E5E329203}"/>
              </a:ext>
            </a:extLst>
          </p:cNvPr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75D9BC5-D10F-5181-B39F-28E490FD77E1}"/>
              </a:ext>
            </a:extLst>
          </p:cNvPr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75E397A4-6D89-E9A9-533A-76AEEEB02748}"/>
              </a:ext>
            </a:extLst>
          </p:cNvPr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32ECF52D-A7D1-599B-7578-5B4E37E3717D}"/>
              </a:ext>
            </a:extLst>
          </p:cNvPr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76B3ECB-9DD6-3C13-6B3F-F79A6ECD20B4}"/>
              </a:ext>
            </a:extLst>
          </p:cNvPr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60F758BB-05B1-9720-D072-2510DAD2DD5F}"/>
              </a:ext>
            </a:extLst>
          </p:cNvPr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B72C97E6-C483-F76D-0536-2BEC93628C8D}"/>
              </a:ext>
            </a:extLst>
          </p:cNvPr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168AC53-8071-4D1C-5E4A-50813BF384FE}"/>
              </a:ext>
            </a:extLst>
          </p:cNvPr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2BCD92A0-1902-2AAE-DDFC-73AE4F56763C}"/>
              </a:ext>
            </a:extLst>
          </p:cNvPr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BB696D1C-766E-4FA9-5502-A8CC7C860029}"/>
              </a:ext>
            </a:extLst>
          </p:cNvPr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03DBF209-9F0E-E54C-3B03-BFF44727E1A0}"/>
              </a:ext>
            </a:extLst>
          </p:cNvPr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7412A77A-BF06-2D77-E21D-E06779DC5FA6}"/>
              </a:ext>
            </a:extLst>
          </p:cNvPr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84FB073E-BFB5-D2B0-81AB-D8E06D5756EB}"/>
              </a:ext>
            </a:extLst>
          </p:cNvPr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9514415E-5469-1704-38CD-1566C20C88BD}"/>
              </a:ext>
            </a:extLst>
          </p:cNvPr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3EE9A4E-4DB5-F9F8-B9B6-D5F0ACA70927}"/>
              </a:ext>
            </a:extLst>
          </p:cNvPr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DD7BCBDB-ABC3-F591-5FAA-F86A14AD78DF}"/>
              </a:ext>
            </a:extLst>
          </p:cNvPr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63E1C527-22B5-9D9C-8B43-F3861D6A7373}"/>
              </a:ext>
            </a:extLst>
          </p:cNvPr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784E356E-C354-31F8-27D6-53CC903B7CAB}"/>
              </a:ext>
            </a:extLst>
          </p:cNvPr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E7A2EAC5-DB57-47C9-3D32-5EAD5EBE149A}"/>
              </a:ext>
            </a:extLst>
          </p:cNvPr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F38A297C-5632-3532-02C5-1E59D81A467C}"/>
              </a:ext>
            </a:extLst>
          </p:cNvPr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184BDDBA-311F-902A-D29D-8260CAB4A1A6}"/>
              </a:ext>
            </a:extLst>
          </p:cNvPr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45F87CE7-D7F2-2926-CE4E-9CA3A5CA1C18}"/>
              </a:ext>
            </a:extLst>
          </p:cNvPr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85CDB642-6148-3FF8-3212-9043D86B15E0}"/>
              </a:ext>
            </a:extLst>
          </p:cNvPr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F772A22C-6E65-1C69-CFF0-053A94746D9E}"/>
              </a:ext>
            </a:extLst>
          </p:cNvPr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D33C9447-3C7F-83D7-45E3-CE71EA2FA47F}"/>
              </a:ext>
            </a:extLst>
          </p:cNvPr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D68E3563-63B6-F1AA-4768-178083B9C242}"/>
              </a:ext>
            </a:extLst>
          </p:cNvPr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2D1D6955-08DC-8D31-ACF0-88376295B1E4}"/>
              </a:ext>
            </a:extLst>
          </p:cNvPr>
          <p:cNvSpPr/>
          <p:nvPr/>
        </p:nvSpPr>
        <p:spPr>
          <a:xfrm>
            <a:off x="5435600" y="4615241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1A553932-B67A-B2C6-A454-B3CA4824144A}"/>
              </a:ext>
            </a:extLst>
          </p:cNvPr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DB5D9D2F-5A61-1306-BC9B-9739D7868A07}"/>
              </a:ext>
            </a:extLst>
          </p:cNvPr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497273CA-D685-10B2-5CFF-1160080521D8}"/>
              </a:ext>
            </a:extLst>
          </p:cNvPr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227F6152-BB90-AE8F-C223-1713C97DD66D}"/>
              </a:ext>
            </a:extLst>
          </p:cNvPr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127C9866-8905-A6CB-0069-629AFF0A4BAC}"/>
              </a:ext>
            </a:extLst>
          </p:cNvPr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40E5D46A-AD98-4248-6E31-966F2F831019}"/>
              </a:ext>
            </a:extLst>
          </p:cNvPr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5D629B52-568B-D1C8-6183-E8FA63BD8161}"/>
              </a:ext>
            </a:extLst>
          </p:cNvPr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45F85D88-C284-BDF6-0FE6-05A8FA5AA52F}"/>
              </a:ext>
            </a:extLst>
          </p:cNvPr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DE892A73-614D-16A0-6EC8-A41A21FE0F18}"/>
              </a:ext>
            </a:extLst>
          </p:cNvPr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E7056123-5573-F399-40AD-F5298E74D063}"/>
              </a:ext>
            </a:extLst>
          </p:cNvPr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E82C6263-A557-169C-C0CC-DA80B4ED1702}"/>
              </a:ext>
            </a:extLst>
          </p:cNvPr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25FE8D9E-44A0-84DA-9D8C-A9BFF3A84A29}"/>
              </a:ext>
            </a:extLst>
          </p:cNvPr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71B8EF62-044C-E8A9-4804-F74CCDD715B8}"/>
              </a:ext>
            </a:extLst>
          </p:cNvPr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250FDD4F-72D1-3D10-5406-4F7C507636FD}"/>
              </a:ext>
            </a:extLst>
          </p:cNvPr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7BBEDD94-4D5C-1A43-990C-8586008848BB}"/>
              </a:ext>
            </a:extLst>
          </p:cNvPr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1E2F78E7-4D15-8B2A-9248-808A064CB53C}"/>
              </a:ext>
            </a:extLst>
          </p:cNvPr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7442A494-96D1-8DD0-77F3-486AB4329A03}"/>
              </a:ext>
            </a:extLst>
          </p:cNvPr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16AF921A-C839-A673-399E-D1F3A8CCAFBE}"/>
              </a:ext>
            </a:extLst>
          </p:cNvPr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27B636B0-E952-2BCB-1FAA-A9D187B14633}"/>
              </a:ext>
            </a:extLst>
          </p:cNvPr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F9D31C86-93E5-F8C7-CFFA-31A5B164F0E6}"/>
              </a:ext>
            </a:extLst>
          </p:cNvPr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A2D4C2DE-7ED9-D3A9-096F-CC0C023C0E99}"/>
              </a:ext>
            </a:extLst>
          </p:cNvPr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AF0C45E1-9AB5-54B3-92DA-8B43AA0C8F4F}"/>
              </a:ext>
            </a:extLst>
          </p:cNvPr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ACB6A5E6-61A9-229B-F5F9-0F4DA2147871}"/>
              </a:ext>
            </a:extLst>
          </p:cNvPr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319E5FA9-6D15-DD01-35E6-473F11A6CE3A}"/>
              </a:ext>
            </a:extLst>
          </p:cNvPr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E3CDF3F9-D55E-5997-62CA-9CE9A7B337BF}"/>
              </a:ext>
            </a:extLst>
          </p:cNvPr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F8DFE355-0842-99DB-2D2E-C065BD140CB2}"/>
              </a:ext>
            </a:extLst>
          </p:cNvPr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B28C93F8-56B0-5E24-1A30-53C175224B0B}"/>
              </a:ext>
            </a:extLst>
          </p:cNvPr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0F413062-201F-61E8-C70B-F7C966E55CE5}"/>
              </a:ext>
            </a:extLst>
          </p:cNvPr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03109F77-8738-D86E-4401-826A034DEEC0}"/>
              </a:ext>
            </a:extLst>
          </p:cNvPr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3DE0385B-0D79-6BEA-6213-FA248D384B2F}"/>
              </a:ext>
            </a:extLst>
          </p:cNvPr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1F2486C8-30A9-E5D1-221E-7161E3233628}"/>
              </a:ext>
            </a:extLst>
          </p:cNvPr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F08A2978-F42E-61A5-56D4-A3D1ADA8FFBF}"/>
              </a:ext>
            </a:extLst>
          </p:cNvPr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618109B5-094B-EB8E-BBD5-4C767D3422AA}"/>
              </a:ext>
            </a:extLst>
          </p:cNvPr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59CFA393-42CF-5E26-14CB-895BD75442B8}"/>
              </a:ext>
            </a:extLst>
          </p:cNvPr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C22795F9-D57B-08D6-229D-AE7B164E47E0}"/>
              </a:ext>
            </a:extLst>
          </p:cNvPr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E0D5588D-59B4-2678-B960-6DA9F0C392C3}"/>
              </a:ext>
            </a:extLst>
          </p:cNvPr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FDF80D46-07E0-40B0-F5BE-D2F2DAECDD10}"/>
              </a:ext>
            </a:extLst>
          </p:cNvPr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23E82573-4841-E8B5-9047-CED630122AB6}"/>
              </a:ext>
            </a:extLst>
          </p:cNvPr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16CDE65C-877F-9CBD-0D8B-B5D8AFE95FE0}"/>
              </a:ext>
            </a:extLst>
          </p:cNvPr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BD1CAD5C-DAF8-8699-2C07-562507638326}"/>
              </a:ext>
            </a:extLst>
          </p:cNvPr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5D5AF7D4-58D2-744A-21E5-547AA066D412}"/>
              </a:ext>
            </a:extLst>
          </p:cNvPr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868BB535-02F0-975E-32C8-6C5B1C503A33}"/>
              </a:ext>
            </a:extLst>
          </p:cNvPr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EDB18BDC-AB80-9C02-54E6-99D45D6A7770}"/>
              </a:ext>
            </a:extLst>
          </p:cNvPr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789CFE24-CA11-341D-241C-7845395A71D5}"/>
              </a:ext>
            </a:extLst>
          </p:cNvPr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0B8011DC-137C-FFCB-7052-53FE861532B7}"/>
              </a:ext>
            </a:extLst>
          </p:cNvPr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1339B105-B522-45D1-43DF-FF2E858E925D}"/>
              </a:ext>
            </a:extLst>
          </p:cNvPr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7658BBF9-5E8A-3A1D-2CC1-1A3EC782D55C}"/>
              </a:ext>
            </a:extLst>
          </p:cNvPr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B4E73FDA-BD4D-C43C-BC33-29E4636F8579}"/>
              </a:ext>
            </a:extLst>
          </p:cNvPr>
          <p:cNvSpPr/>
          <p:nvPr/>
        </p:nvSpPr>
        <p:spPr>
          <a:xfrm>
            <a:off x="5435600" y="6047831"/>
            <a:ext cx="6756400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3C0AAD0D-FA9C-E208-24DE-98C3955B7737}"/>
              </a:ext>
            </a:extLst>
          </p:cNvPr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135CD75A-3A97-8A8F-E6F2-19CB068F772A}"/>
              </a:ext>
            </a:extLst>
          </p:cNvPr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E17E0FC7-FD8E-A797-43A4-2BE7D591B804}"/>
              </a:ext>
            </a:extLst>
          </p:cNvPr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1DF95C34-4882-876D-156E-ABE10F5E89CD}"/>
              </a:ext>
            </a:extLst>
          </p:cNvPr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CDB1DEEA-8DE3-2A08-CA3E-15BF68CA7530}"/>
              </a:ext>
            </a:extLst>
          </p:cNvPr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685F400C-7ABB-DBF2-1A9B-43A5A65BFBCC}"/>
              </a:ext>
            </a:extLst>
          </p:cNvPr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7BEA20D9-3542-D05B-8FF5-1229BF28E7F5}"/>
              </a:ext>
            </a:extLst>
          </p:cNvPr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5557D680-176C-0002-F532-027B8928D130}"/>
              </a:ext>
            </a:extLst>
          </p:cNvPr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55510B3E-3BCE-0651-4D34-64CC3F200C95}"/>
              </a:ext>
            </a:extLst>
          </p:cNvPr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048B45A1-84DE-BF40-5035-D61033F23205}"/>
              </a:ext>
            </a:extLst>
          </p:cNvPr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1D881E69-4D36-14C7-AC6B-EA418FEB7324}"/>
              </a:ext>
            </a:extLst>
          </p:cNvPr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BCF37A99-8939-F8C2-C4CD-F68706FB08F6}"/>
              </a:ext>
            </a:extLst>
          </p:cNvPr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3D8D9147-9ABD-6814-E34C-6D5C7A675C98}"/>
              </a:ext>
            </a:extLst>
          </p:cNvPr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06C93E47-BCA3-0AB0-4A6A-6813DDA349EF}"/>
              </a:ext>
            </a:extLst>
          </p:cNvPr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E6A6999E-464E-0F31-0A70-959B0DC50BBB}"/>
              </a:ext>
            </a:extLst>
          </p:cNvPr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67C962CC-8072-1EAD-FB52-ACC82C10102F}"/>
              </a:ext>
            </a:extLst>
          </p:cNvPr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D319166E-73A5-9213-96F8-8F28E3738911}"/>
              </a:ext>
            </a:extLst>
          </p:cNvPr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CBF8CAD8-17B3-C6C1-03EE-CEC98F484369}"/>
              </a:ext>
            </a:extLst>
          </p:cNvPr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71F900EF-5ADF-CCDB-0559-40CF9D884C1A}"/>
              </a:ext>
            </a:extLst>
          </p:cNvPr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A4C903F9-0C5E-F9B1-4970-589A9139050A}"/>
              </a:ext>
            </a:extLst>
          </p:cNvPr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CABE08B6-4B86-9B80-7EEC-6CB6E0947B1B}"/>
              </a:ext>
            </a:extLst>
          </p:cNvPr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270D3538-66FF-5698-3DC9-205C12B418B7}"/>
              </a:ext>
            </a:extLst>
          </p:cNvPr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E2D6ADFD-593F-71D4-5812-14B640DB4060}"/>
              </a:ext>
            </a:extLst>
          </p:cNvPr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03A471D7-9C9B-DC8D-36ED-0F42B000847D}"/>
              </a:ext>
            </a:extLst>
          </p:cNvPr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A890A824-D646-C3FC-B7F2-F821B5F24D0C}"/>
              </a:ext>
            </a:extLst>
          </p:cNvPr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F55AD665-578B-FE35-9153-A8598B405943}"/>
              </a:ext>
            </a:extLst>
          </p:cNvPr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E2809E99-9A94-B5A0-C217-7ACAF6F643EB}"/>
              </a:ext>
            </a:extLst>
          </p:cNvPr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1F3BA17E-C933-988C-DBBA-E525042435F1}"/>
              </a:ext>
            </a:extLst>
          </p:cNvPr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1E7061D0-C22A-DEC7-54D8-C548FDB7BB95}"/>
              </a:ext>
            </a:extLst>
          </p:cNvPr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7307B7C4-A0AD-62D7-C4F8-DB7B4B8669AB}"/>
              </a:ext>
            </a:extLst>
          </p:cNvPr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082AFB96-B84A-5BD2-62C6-466AC480D80C}"/>
              </a:ext>
            </a:extLst>
          </p:cNvPr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5A4F2689-3B50-782A-160B-6A05DADCB683}"/>
              </a:ext>
            </a:extLst>
          </p:cNvPr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ED99E90D-96B0-CFCE-FD54-F501BAC2D4D3}"/>
              </a:ext>
            </a:extLst>
          </p:cNvPr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E30B2371-850E-5B3F-78A6-4F3CB28BE5D9}"/>
              </a:ext>
            </a:extLst>
          </p:cNvPr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1AF2B5B6-A3F5-981B-9794-2053DE89F2B3}"/>
              </a:ext>
            </a:extLst>
          </p:cNvPr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F29EA375-68A0-8C59-FE00-C156F69A573F}"/>
              </a:ext>
            </a:extLst>
          </p:cNvPr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BE14E219-E5EB-D21F-F1CC-FA6EBEEB8BD2}"/>
              </a:ext>
            </a:extLst>
          </p:cNvPr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74047C21-ED36-268E-5EB3-D2C0BC3CC371}"/>
              </a:ext>
            </a:extLst>
          </p:cNvPr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296A8CC7-6853-ED30-DA42-C4FB13549F29}"/>
              </a:ext>
            </a:extLst>
          </p:cNvPr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A60A87B6-9E21-F78D-40F7-DBC915F3DEA4}"/>
              </a:ext>
            </a:extLst>
          </p:cNvPr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7349D8C2-C709-549A-0083-83035048FEE9}"/>
              </a:ext>
            </a:extLst>
          </p:cNvPr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A2943A8F-FAC0-32F5-3191-6CD2B0DF8804}"/>
              </a:ext>
            </a:extLst>
          </p:cNvPr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71578280-F711-614B-AF1D-9FBBC6AB93D7}"/>
              </a:ext>
            </a:extLst>
          </p:cNvPr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84E37F6F-30A3-F63C-B1F1-B5DB8DFD4AEF}"/>
              </a:ext>
            </a:extLst>
          </p:cNvPr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C59C6A08-E90C-C03C-3FFC-F9AF94736C8A}"/>
              </a:ext>
            </a:extLst>
          </p:cNvPr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DBFDC748-988F-7C47-CEE7-AC92EBB61DBE}"/>
              </a:ext>
            </a:extLst>
          </p:cNvPr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34D6739D-C35B-DDB6-7207-7E4F27A51CB2}"/>
              </a:ext>
            </a:extLst>
          </p:cNvPr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E628CF77-6C81-C076-9748-7A1077D3C90C}"/>
              </a:ext>
            </a:extLst>
          </p:cNvPr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AE6E03-E2F7-6B04-404A-7FCCE659D06A}"/>
              </a:ext>
            </a:extLst>
          </p:cNvPr>
          <p:cNvGrpSpPr/>
          <p:nvPr/>
        </p:nvGrpSpPr>
        <p:grpSpPr>
          <a:xfrm rot="5400000">
            <a:off x="9857665" y="3157567"/>
            <a:ext cx="412973" cy="1118085"/>
            <a:chOff x="2737515" y="2068599"/>
            <a:chExt cx="412973" cy="1118085"/>
          </a:xfrm>
        </p:grpSpPr>
        <p:sp>
          <p:nvSpPr>
            <p:cNvPr id="204" name="Shape 202">
              <a:extLst>
                <a:ext uri="{FF2B5EF4-FFF2-40B4-BE49-F238E27FC236}">
                  <a16:creationId xmlns:a16="http://schemas.microsoft.com/office/drawing/2014/main" id="{C65F7AF9-2801-9495-45E0-152108BA4EF1}"/>
                </a:ext>
              </a:extLst>
            </p:cNvPr>
            <p:cNvSpPr/>
            <p:nvPr/>
          </p:nvSpPr>
          <p:spPr>
            <a:xfrm>
              <a:off x="2748152" y="2068599"/>
              <a:ext cx="402336" cy="1101956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Text 203">
              <a:extLst>
                <a:ext uri="{FF2B5EF4-FFF2-40B4-BE49-F238E27FC236}">
                  <a16:creationId xmlns:a16="http://schemas.microsoft.com/office/drawing/2014/main" id="{63EE652E-BFC2-8DA0-241B-A9A7987D1DDE}"/>
                </a:ext>
              </a:extLst>
            </p:cNvPr>
            <p:cNvSpPr/>
            <p:nvPr/>
          </p:nvSpPr>
          <p:spPr>
            <a:xfrm rot="16200000">
              <a:off x="2385687" y="2432521"/>
              <a:ext cx="1105991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to Train </a:t>
              </a:r>
            </a:p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100E32-DF7A-5079-DC34-25D6B74E2A56}"/>
              </a:ext>
            </a:extLst>
          </p:cNvPr>
          <p:cNvGrpSpPr/>
          <p:nvPr/>
        </p:nvGrpSpPr>
        <p:grpSpPr>
          <a:xfrm rot="5400000">
            <a:off x="9843177" y="5178380"/>
            <a:ext cx="404264" cy="1334640"/>
            <a:chOff x="3056232" y="3289361"/>
            <a:chExt cx="404264" cy="1334640"/>
          </a:xfrm>
        </p:grpSpPr>
        <p:sp>
          <p:nvSpPr>
            <p:cNvPr id="208" name="Shape 206">
              <a:extLst>
                <a:ext uri="{FF2B5EF4-FFF2-40B4-BE49-F238E27FC236}">
                  <a16:creationId xmlns:a16="http://schemas.microsoft.com/office/drawing/2014/main" id="{66E69DDD-EBFA-8026-C1D0-D9ECD1EB4E1E}"/>
                </a:ext>
              </a:extLst>
            </p:cNvPr>
            <p:cNvSpPr/>
            <p:nvPr/>
          </p:nvSpPr>
          <p:spPr>
            <a:xfrm>
              <a:off x="3056232" y="3298121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Text 207">
              <a:extLst>
                <a:ext uri="{FF2B5EF4-FFF2-40B4-BE49-F238E27FC236}">
                  <a16:creationId xmlns:a16="http://schemas.microsoft.com/office/drawing/2014/main" id="{9C8CBFFB-E6D0-62E0-1B16-14AB4482B6A0}"/>
                </a:ext>
              </a:extLst>
            </p:cNvPr>
            <p:cNvSpPr/>
            <p:nvPr/>
          </p:nvSpPr>
          <p:spPr>
            <a:xfrm rot="16200000">
              <a:off x="2596388" y="3751133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Girl with the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Tattoo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094596-7D49-ECBA-EAB1-FDA86F4A6C8F}"/>
              </a:ext>
            </a:extLst>
          </p:cNvPr>
          <p:cNvGrpSpPr/>
          <p:nvPr/>
        </p:nvGrpSpPr>
        <p:grpSpPr>
          <a:xfrm rot="5400000">
            <a:off x="9675057" y="4419591"/>
            <a:ext cx="473825" cy="1063812"/>
            <a:chOff x="4303298" y="3551428"/>
            <a:chExt cx="473825" cy="1063812"/>
          </a:xfrm>
        </p:grpSpPr>
        <p:sp>
          <p:nvSpPr>
            <p:cNvPr id="210" name="Shape 208">
              <a:extLst>
                <a:ext uri="{FF2B5EF4-FFF2-40B4-BE49-F238E27FC236}">
                  <a16:creationId xmlns:a16="http://schemas.microsoft.com/office/drawing/2014/main" id="{5CEAA73E-2DBB-87E6-5DAF-ADA6E265CA55}"/>
                </a:ext>
              </a:extLst>
            </p:cNvPr>
            <p:cNvSpPr/>
            <p:nvPr/>
          </p:nvSpPr>
          <p:spPr>
            <a:xfrm>
              <a:off x="4303298" y="3551428"/>
              <a:ext cx="473825" cy="1063812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Text 209">
              <a:extLst>
                <a:ext uri="{FF2B5EF4-FFF2-40B4-BE49-F238E27FC236}">
                  <a16:creationId xmlns:a16="http://schemas.microsoft.com/office/drawing/2014/main" id="{71EA4AD4-E0A2-80DC-650E-0FB0796003A5}"/>
                </a:ext>
              </a:extLst>
            </p:cNvPr>
            <p:cNvSpPr/>
            <p:nvPr/>
          </p:nvSpPr>
          <p:spPr>
            <a:xfrm rot="16200000">
              <a:off x="4022190" y="3897391"/>
              <a:ext cx="98453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 of Autumn Twilight</a:t>
              </a:r>
              <a:endParaRPr lang="en-US" sz="1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F1FE0B-F134-3840-B9B7-FC18795E8406}"/>
              </a:ext>
            </a:extLst>
          </p:cNvPr>
          <p:cNvGrpSpPr/>
          <p:nvPr/>
        </p:nvGrpSpPr>
        <p:grpSpPr>
          <a:xfrm rot="5400000">
            <a:off x="9520171" y="4877512"/>
            <a:ext cx="409337" cy="1089676"/>
            <a:chOff x="3804072" y="5014468"/>
            <a:chExt cx="409337" cy="1089676"/>
          </a:xfrm>
        </p:grpSpPr>
        <p:sp>
          <p:nvSpPr>
            <p:cNvPr id="212" name="Shape 210">
              <a:extLst>
                <a:ext uri="{FF2B5EF4-FFF2-40B4-BE49-F238E27FC236}">
                  <a16:creationId xmlns:a16="http://schemas.microsoft.com/office/drawing/2014/main" id="{E8CF6D61-CDBC-638D-7808-06D3D3B980FD}"/>
                </a:ext>
              </a:extLst>
            </p:cNvPr>
            <p:cNvSpPr/>
            <p:nvPr/>
          </p:nvSpPr>
          <p:spPr>
            <a:xfrm>
              <a:off x="3804072" y="5014468"/>
              <a:ext cx="402336" cy="1036352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Text 211">
              <a:extLst>
                <a:ext uri="{FF2B5EF4-FFF2-40B4-BE49-F238E27FC236}">
                  <a16:creationId xmlns:a16="http://schemas.microsoft.com/office/drawing/2014/main" id="{F42249D5-828D-CE43-504B-9FE9A332C19C}"/>
                </a:ext>
              </a:extLst>
            </p:cNvPr>
            <p:cNvSpPr/>
            <p:nvPr/>
          </p:nvSpPr>
          <p:spPr>
            <a:xfrm rot="16200000">
              <a:off x="3476547" y="5367282"/>
              <a:ext cx="107138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Flight of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200" dirty="0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DB9812F-F5BC-54DD-C261-B9520EC1F92B}"/>
              </a:ext>
            </a:extLst>
          </p:cNvPr>
          <p:cNvGrpSpPr/>
          <p:nvPr/>
        </p:nvGrpSpPr>
        <p:grpSpPr>
          <a:xfrm>
            <a:off x="9237728" y="3146487"/>
            <a:ext cx="1077825" cy="339034"/>
            <a:chOff x="1234440" y="4206240"/>
            <a:chExt cx="1417320" cy="292608"/>
          </a:xfrm>
        </p:grpSpPr>
        <p:sp>
          <p:nvSpPr>
            <p:cNvPr id="220" name="Shape 218">
              <a:extLst>
                <a:ext uri="{FF2B5EF4-FFF2-40B4-BE49-F238E27FC236}">
                  <a16:creationId xmlns:a16="http://schemas.microsoft.com/office/drawing/2014/main" id="{37445C11-03A9-44D5-A95F-E6C577388BAC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>
              <a:extLst>
                <a:ext uri="{FF2B5EF4-FFF2-40B4-BE49-F238E27FC236}">
                  <a16:creationId xmlns:a16="http://schemas.microsoft.com/office/drawing/2014/main" id="{5058106A-DB79-6DE7-5683-2A9D61CCC9B6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8" name="Text 226">
            <a:extLst>
              <a:ext uri="{FF2B5EF4-FFF2-40B4-BE49-F238E27FC236}">
                <a16:creationId xmlns:a16="http://schemas.microsoft.com/office/drawing/2014/main" id="{50ECE8FE-E2F5-48C7-8ED3-E2B49F57D97C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4E54C3-C4C3-FBAE-EA33-9AD0C401D97E}"/>
              </a:ext>
            </a:extLst>
          </p:cNvPr>
          <p:cNvGrpSpPr/>
          <p:nvPr/>
        </p:nvGrpSpPr>
        <p:grpSpPr>
          <a:xfrm>
            <a:off x="9196891" y="3946361"/>
            <a:ext cx="1441171" cy="739942"/>
            <a:chOff x="1162241" y="3738086"/>
            <a:chExt cx="1441171" cy="739942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EEC6649-3D0E-494E-7D25-6ED41E18C83F}"/>
                </a:ext>
              </a:extLst>
            </p:cNvPr>
            <p:cNvGrpSpPr/>
            <p:nvPr/>
          </p:nvGrpSpPr>
          <p:grpSpPr>
            <a:xfrm>
              <a:off x="1332046" y="3738086"/>
              <a:ext cx="1115725" cy="192679"/>
              <a:chOff x="1234440" y="4535424"/>
              <a:chExt cx="1417320" cy="292608"/>
            </a:xfrm>
          </p:grpSpPr>
          <p:sp>
            <p:nvSpPr>
              <p:cNvPr id="222" name="Shape 220">
                <a:extLst>
                  <a:ext uri="{FF2B5EF4-FFF2-40B4-BE49-F238E27FC236}">
                    <a16:creationId xmlns:a16="http://schemas.microsoft.com/office/drawing/2014/main" id="{BAD3F5B7-745A-48D4-FEAC-809EE926026B}"/>
                  </a:ext>
                </a:extLst>
              </p:cNvPr>
              <p:cNvSpPr/>
              <p:nvPr/>
            </p:nvSpPr>
            <p:spPr>
              <a:xfrm>
                <a:off x="1234440" y="4535424"/>
                <a:ext cx="1417320" cy="292608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Text 221">
                <a:extLst>
                  <a:ext uri="{FF2B5EF4-FFF2-40B4-BE49-F238E27FC236}">
                    <a16:creationId xmlns:a16="http://schemas.microsoft.com/office/drawing/2014/main" id="{62253A3E-91B2-6E0E-740D-6B1AEB4A72EF}"/>
                  </a:ext>
                </a:extLst>
              </p:cNvPr>
              <p:cNvSpPr/>
              <p:nvPr/>
            </p:nvSpPr>
            <p:spPr>
              <a:xfrm>
                <a:off x="1271016" y="4535424"/>
                <a:ext cx="13441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r>
                  <a:rPr lang="en-US" sz="12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Rider</a:t>
                </a:r>
                <a:endParaRPr lang="en-US" sz="1200" dirty="0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15E1FF07-6265-D371-2D67-7B4B866A4047}"/>
                </a:ext>
              </a:extLst>
            </p:cNvPr>
            <p:cNvGrpSpPr/>
            <p:nvPr/>
          </p:nvGrpSpPr>
          <p:grpSpPr>
            <a:xfrm>
              <a:off x="1171712" y="4214595"/>
              <a:ext cx="1417320" cy="263433"/>
              <a:chOff x="1234440" y="4864608"/>
              <a:chExt cx="1417320" cy="292608"/>
            </a:xfrm>
          </p:grpSpPr>
          <p:sp>
            <p:nvSpPr>
              <p:cNvPr id="224" name="Shape 222">
                <a:extLst>
                  <a:ext uri="{FF2B5EF4-FFF2-40B4-BE49-F238E27FC236}">
                    <a16:creationId xmlns:a16="http://schemas.microsoft.com/office/drawing/2014/main" id="{BA447AB0-250C-C916-E32C-3D32185378EF}"/>
                  </a:ext>
                </a:extLst>
              </p:cNvPr>
              <p:cNvSpPr/>
              <p:nvPr/>
            </p:nvSpPr>
            <p:spPr>
              <a:xfrm>
                <a:off x="1234440" y="4864608"/>
                <a:ext cx="1417320" cy="292608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Text 223">
                <a:extLst>
                  <a:ext uri="{FF2B5EF4-FFF2-40B4-BE49-F238E27FC236}">
                    <a16:creationId xmlns:a16="http://schemas.microsoft.com/office/drawing/2014/main" id="{F5DB5994-3D86-C109-8EEA-D2B131F646D5}"/>
                  </a:ext>
                </a:extLst>
              </p:cNvPr>
              <p:cNvSpPr/>
              <p:nvPr/>
            </p:nvSpPr>
            <p:spPr>
              <a:xfrm>
                <a:off x="1271016" y="4864608"/>
                <a:ext cx="13441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The Last </a:t>
                </a:r>
                <a:r>
                  <a:rPr lang="en-US" sz="12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endParaRPr lang="en-US" sz="1200" dirty="0"/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A7FD4D93-E928-0C65-CF55-2FE52EB20195}"/>
                </a:ext>
              </a:extLst>
            </p:cNvPr>
            <p:cNvGrpSpPr/>
            <p:nvPr/>
          </p:nvGrpSpPr>
          <p:grpSpPr>
            <a:xfrm rot="5400000">
              <a:off x="1772172" y="3362464"/>
              <a:ext cx="221309" cy="1441171"/>
              <a:chOff x="4148924" y="1844070"/>
              <a:chExt cx="413932" cy="1343252"/>
            </a:xfrm>
          </p:grpSpPr>
          <p:sp>
            <p:nvSpPr>
              <p:cNvPr id="206" name="Shape 204">
                <a:extLst>
                  <a:ext uri="{FF2B5EF4-FFF2-40B4-BE49-F238E27FC236}">
                    <a16:creationId xmlns:a16="http://schemas.microsoft.com/office/drawing/2014/main" id="{22626C26-9AC2-4C13-110B-CF840AF64688}"/>
                  </a:ext>
                </a:extLst>
              </p:cNvPr>
              <p:cNvSpPr/>
              <p:nvPr/>
            </p:nvSpPr>
            <p:spPr>
              <a:xfrm>
                <a:off x="4148924" y="1861442"/>
                <a:ext cx="402336" cy="1325880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207" name="Text 205">
                <a:extLst>
                  <a:ext uri="{FF2B5EF4-FFF2-40B4-BE49-F238E27FC236}">
                    <a16:creationId xmlns:a16="http://schemas.microsoft.com/office/drawing/2014/main" id="{79AF94ED-02AA-C698-1DAC-9D0CA4860DE6}"/>
                  </a:ext>
                </a:extLst>
              </p:cNvPr>
              <p:cNvSpPr/>
              <p:nvPr/>
            </p:nvSpPr>
            <p:spPr>
              <a:xfrm rot="16200000">
                <a:off x="3698748" y="2305842"/>
                <a:ext cx="132588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ts val="1400"/>
                  </a:lnSpc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 Dance with </a:t>
                </a:r>
                <a:r>
                  <a:rPr lang="en-US" sz="10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r>
                  <a:rPr lang="en-US" sz="10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</a:t>
                </a:r>
                <a:endParaRPr lang="en-US" sz="1000" dirty="0"/>
              </a:p>
            </p:txBody>
          </p:sp>
        </p:grpSp>
      </p:grpSp>
      <p:sp>
        <p:nvSpPr>
          <p:cNvPr id="248" name="Shape 156">
            <a:extLst>
              <a:ext uri="{FF2B5EF4-FFF2-40B4-BE49-F238E27FC236}">
                <a16:creationId xmlns:a16="http://schemas.microsoft.com/office/drawing/2014/main" id="{A60FA757-C81A-02B2-244C-D236187F3141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7A2D106A-DD41-263C-4998-C4EBD3AB79EF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7514CFA2-4395-63CC-9E19-9331C6196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06D03D3-7CE1-69D2-D381-86EE9F9C77C9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1D78B762-A2ED-C37D-D3E4-2A1FAD094D23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1A4565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66AF395A-82AA-7467-1BEA-BCC95D30A4A3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Thank you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Shape 201">
            <a:extLst>
              <a:ext uri="{FF2B5EF4-FFF2-40B4-BE49-F238E27FC236}">
                <a16:creationId xmlns:a16="http://schemas.microsoft.com/office/drawing/2014/main" id="{47F26AB8-5F3C-FAB7-AFB2-16E674FFD58A}"/>
              </a:ext>
            </a:extLst>
          </p:cNvPr>
          <p:cNvSpPr/>
          <p:nvPr/>
        </p:nvSpPr>
        <p:spPr>
          <a:xfrm rot="20296119">
            <a:off x="5761788" y="4085591"/>
            <a:ext cx="249858" cy="1207647"/>
          </a:xfrm>
          <a:prstGeom prst="roundRect">
            <a:avLst>
              <a:gd name="adj" fmla="val 33333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02">
            <a:extLst>
              <a:ext uri="{FF2B5EF4-FFF2-40B4-BE49-F238E27FC236}">
                <a16:creationId xmlns:a16="http://schemas.microsoft.com/office/drawing/2014/main" id="{6800636D-496B-A253-DE81-EC64DEE4F73C}"/>
              </a:ext>
            </a:extLst>
          </p:cNvPr>
          <p:cNvSpPr/>
          <p:nvPr/>
        </p:nvSpPr>
        <p:spPr>
          <a:xfrm>
            <a:off x="6190747" y="5224660"/>
            <a:ext cx="1249292" cy="216544"/>
          </a:xfrm>
          <a:prstGeom prst="roundRect">
            <a:avLst>
              <a:gd name="adj" fmla="val 30769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03">
            <a:extLst>
              <a:ext uri="{FF2B5EF4-FFF2-40B4-BE49-F238E27FC236}">
                <a16:creationId xmlns:a16="http://schemas.microsoft.com/office/drawing/2014/main" id="{00E8043A-F16A-72B7-4345-544D0FB67A68}"/>
              </a:ext>
            </a:extLst>
          </p:cNvPr>
          <p:cNvSpPr/>
          <p:nvPr/>
        </p:nvSpPr>
        <p:spPr>
          <a:xfrm>
            <a:off x="6109260" y="5579091"/>
            <a:ext cx="108272" cy="491387"/>
          </a:xfrm>
          <a:prstGeom prst="rect">
            <a:avLst/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175D65CF-2EB4-AF5A-085D-86FE7BA40E42}"/>
              </a:ext>
            </a:extLst>
          </p:cNvPr>
          <p:cNvSpPr/>
          <p:nvPr/>
        </p:nvSpPr>
        <p:spPr>
          <a:xfrm rot="20435513">
            <a:off x="6043970" y="4060660"/>
            <a:ext cx="366458" cy="999432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06">
            <a:extLst>
              <a:ext uri="{FF2B5EF4-FFF2-40B4-BE49-F238E27FC236}">
                <a16:creationId xmlns:a16="http://schemas.microsoft.com/office/drawing/2014/main" id="{061EBF88-1079-11C6-FC2E-2959E730BCE9}"/>
              </a:ext>
            </a:extLst>
          </p:cNvPr>
          <p:cNvSpPr/>
          <p:nvPr/>
        </p:nvSpPr>
        <p:spPr>
          <a:xfrm>
            <a:off x="5603527" y="3611443"/>
            <a:ext cx="505939" cy="50593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207">
            <a:extLst>
              <a:ext uri="{FF2B5EF4-FFF2-40B4-BE49-F238E27FC236}">
                <a16:creationId xmlns:a16="http://schemas.microsoft.com/office/drawing/2014/main" id="{EFB847FF-F78C-31F2-9435-2C68DB538D8B}"/>
              </a:ext>
            </a:extLst>
          </p:cNvPr>
          <p:cNvSpPr/>
          <p:nvPr/>
        </p:nvSpPr>
        <p:spPr>
          <a:xfrm>
            <a:off x="6318671" y="4877103"/>
            <a:ext cx="1013094" cy="257309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208">
            <a:extLst>
              <a:ext uri="{FF2B5EF4-FFF2-40B4-BE49-F238E27FC236}">
                <a16:creationId xmlns:a16="http://schemas.microsoft.com/office/drawing/2014/main" id="{96C9915F-3210-0FDD-0EDE-8FC182E8998C}"/>
              </a:ext>
            </a:extLst>
          </p:cNvPr>
          <p:cNvSpPr/>
          <p:nvPr/>
        </p:nvSpPr>
        <p:spPr>
          <a:xfrm rot="18436926">
            <a:off x="7574019" y="4796126"/>
            <a:ext cx="230427" cy="873027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209">
            <a:extLst>
              <a:ext uri="{FF2B5EF4-FFF2-40B4-BE49-F238E27FC236}">
                <a16:creationId xmlns:a16="http://schemas.microsoft.com/office/drawing/2014/main" id="{D3617BCD-A4B5-3E1F-AA62-394D95C97704}"/>
              </a:ext>
            </a:extLst>
          </p:cNvPr>
          <p:cNvSpPr/>
          <p:nvPr/>
        </p:nvSpPr>
        <p:spPr>
          <a:xfrm>
            <a:off x="7991044" y="5432181"/>
            <a:ext cx="409517" cy="164570"/>
          </a:xfrm>
          <a:prstGeom prst="roundRect">
            <a:avLst>
              <a:gd name="adj" fmla="val 4615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210">
            <a:extLst>
              <a:ext uri="{FF2B5EF4-FFF2-40B4-BE49-F238E27FC236}">
                <a16:creationId xmlns:a16="http://schemas.microsoft.com/office/drawing/2014/main" id="{87E0C8EA-73F5-0C9E-CE88-C429C9E8A461}"/>
              </a:ext>
            </a:extLst>
          </p:cNvPr>
          <p:cNvSpPr/>
          <p:nvPr/>
        </p:nvSpPr>
        <p:spPr>
          <a:xfrm rot="20210766">
            <a:off x="6164088" y="4101244"/>
            <a:ext cx="651180" cy="148578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202">
            <a:extLst>
              <a:ext uri="{FF2B5EF4-FFF2-40B4-BE49-F238E27FC236}">
                <a16:creationId xmlns:a16="http://schemas.microsoft.com/office/drawing/2014/main" id="{2106FFC1-049E-656C-DED3-D5F871335865}"/>
              </a:ext>
            </a:extLst>
          </p:cNvPr>
          <p:cNvSpPr/>
          <p:nvPr/>
        </p:nvSpPr>
        <p:spPr>
          <a:xfrm rot="2174597">
            <a:off x="7229200" y="5505908"/>
            <a:ext cx="1087773" cy="255820"/>
          </a:xfrm>
          <a:prstGeom prst="roundRect">
            <a:avLst>
              <a:gd name="adj" fmla="val 30769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220">
            <a:extLst>
              <a:ext uri="{FF2B5EF4-FFF2-40B4-BE49-F238E27FC236}">
                <a16:creationId xmlns:a16="http://schemas.microsoft.com/office/drawing/2014/main" id="{B656E141-1DEF-B143-DBAC-FFF579DBFA92}"/>
              </a:ext>
            </a:extLst>
          </p:cNvPr>
          <p:cNvSpPr/>
          <p:nvPr/>
        </p:nvSpPr>
        <p:spPr>
          <a:xfrm rot="19621728">
            <a:off x="6232175" y="3119584"/>
            <a:ext cx="236933" cy="64004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210">
            <a:extLst>
              <a:ext uri="{FF2B5EF4-FFF2-40B4-BE49-F238E27FC236}">
                <a16:creationId xmlns:a16="http://schemas.microsoft.com/office/drawing/2014/main" id="{11F51913-0A59-EBC8-EB52-D92A3188A867}"/>
              </a:ext>
            </a:extLst>
          </p:cNvPr>
          <p:cNvSpPr/>
          <p:nvPr/>
        </p:nvSpPr>
        <p:spPr>
          <a:xfrm rot="14941019">
            <a:off x="6274613" y="3644990"/>
            <a:ext cx="608747" cy="163074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14">
            <a:extLst>
              <a:ext uri="{FF2B5EF4-FFF2-40B4-BE49-F238E27FC236}">
                <a16:creationId xmlns:a16="http://schemas.microsoft.com/office/drawing/2014/main" id="{59CB70CA-F1F3-95DD-4121-0CF52BA9F392}"/>
              </a:ext>
            </a:extLst>
          </p:cNvPr>
          <p:cNvSpPr/>
          <p:nvPr/>
        </p:nvSpPr>
        <p:spPr>
          <a:xfrm rot="5400000">
            <a:off x="6366245" y="3293361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81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MATCHER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acronyms are refused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4363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4,426 acronyms in the index. 802 name more than one disease.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08810"/>
            <a:ext cx="521208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384298"/>
            <a:ext cx="521208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" y="190881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14016" y="190881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terms it names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300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4300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14016" y="2740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14016" y="2740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14016" y="24117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72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28872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14016" y="31981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4016" y="3198114"/>
            <a:ext cx="2294510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4016" y="28689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444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33444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14016" y="36553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14016" y="3655314"/>
            <a:ext cx="18483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14016" y="33261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8016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8016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14016" y="41125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14016" y="4112514"/>
            <a:ext cx="1720883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14016" y="37833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588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" y="42588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GSD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14016" y="45697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414016" y="4569714"/>
            <a:ext cx="1561542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14016" y="42405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7160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6656" y="47160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14016" y="5026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414016" y="5026914"/>
            <a:ext cx="11472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14016" y="46977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643634"/>
            <a:ext cx="5303520" cy="3529584"/>
          </a:xfrm>
          <a:prstGeom prst="roundRect">
            <a:avLst>
              <a:gd name="adj" fmla="val 155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83680" y="184480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an acronym is still allowed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0" y="232943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Complete-name list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966960" y="231114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66960" y="2311146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3322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never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262204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acronym is not a spelled-out name, so it never reaches this list. No exception exists.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312496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Single-word list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966960" y="310667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966960" y="310667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four only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50901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39712" y="343585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HUMAN REVIEW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0" y="369189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HIV, SARS, HSE and MSUD, each mapped by hand to one disease. Nothing joins automatically.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83680" y="413080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Template slot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66960" y="411251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966960" y="411251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6B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always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451485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39712" y="444169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THE LABEL ITSELF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469773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ABCC6 causes PXE. The sentence proves the slot holds a disease before the acronym is read.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55955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" y="569671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22960" y="569671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468880" y="5559552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Searching acronyms freely was tested: 10 more correct links, 61 wrong ones. It stays off.</a:t>
            </a:r>
            <a:endParaRPr lang="en-US" sz="1400" dirty="0"/>
          </a:p>
        </p:txBody>
      </p:sp>
      <p:pic>
        <p:nvPicPr>
          <p:cNvPr id="6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ONE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AEXS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CYP19A1 causes AEXS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aromatase excess syndrome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pseudohermaphroditism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8529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CDG-1I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ALG2 causes CDG-1i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ALG2-congenital disorder of glycosylation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3310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ALG14 causes ALG14-CMS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DRTA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SLC4A1 causes hereditary spherocytosis type 4 (HSP4) ... dRTA with hemolytic anemia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distal renal tubular acidosis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non-autoimmune hemolytic anemia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42245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FFDD4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CYP26C1 causes FFDD4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focal facial dermal dysplasia type IV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skin neoplasm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681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(duodenum)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5138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(macrophages)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5596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99616" y="5596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37376" y="5596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intrinsic factor deficiency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72016" y="5596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5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TWO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intrinsic factor deficiency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8529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AMN causes MGA1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33101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CUBN causes MGA1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SLC6A2 causes orthostatic intolerance (OI)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osteogenesis imperfecta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Sensorineural hearing impairment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42245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B3GALTL causes PpS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popliteal pterygium syndrome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Peters plus syndrome, orofacial cleft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6817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Autosomal dominant spastic paraplegia type 42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51389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spastic paraplegia 42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48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HOW THE LIBRARIES WERE CHOSEN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Twelve more public pathway libraries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228 Enrichr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36392" y="1572768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36392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Pathways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88152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9904" y="1572768"/>
            <a:ext cx="365760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9904" y="1572768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 version, no Reactome, GO or mouse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47504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49256" y="1572768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49256" y="1572768"/>
            <a:ext cx="14630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12 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06654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and gene sets ship in one GMT file, so gene membership needs no target-to-pathway join.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871216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2395728"/>
            <a:ext cx="2944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Library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77056" y="2395728"/>
            <a:ext cx="5870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03536" y="239572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Labels 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2916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Elsevier_Pathway_Collection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77056" y="2916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commercially curated disease-mechanism pathways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03536" y="29992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03536" y="29992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374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KEGG_2026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3374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metabolic, signalling and human-disease pathways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03536" y="34564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03536" y="34564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8313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38313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WikiPathways_2024_Human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77056" y="38313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community-curated biological pathways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03536" y="39136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03536" y="39136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885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BioPlanet_2019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77056" y="42885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NCATS, integrated and deduplicated human pathways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03536" y="43708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03536" y="43708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47457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47457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 / NCI-Nature / Panther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77056" y="47457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maps, PID signalling, PANTHER classification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003536" y="48280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03536" y="48280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029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5202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HumanCyc / PFOCR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77056" y="5202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metabolic pathways, gene sets mined from figures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003536" y="52852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03536" y="5285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6601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76656" y="5660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 (3 collections)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77056" y="5660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hallmark states, computational modules, oncogenic signatures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003536" y="57424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003536" y="5742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maayanlab.cloud/Enrichr</a:t>
            </a:r>
            <a:endParaRPr lang="en-US" sz="1200" dirty="0"/>
          </a:p>
        </p:txBody>
      </p:sp>
      <p:pic>
        <p:nvPicPr>
          <p:cNvPr id="58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HAIKU, SONNET, OPUS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is the one non-deterministic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39" y="1572768"/>
            <a:ext cx="1180639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stage is string work and arithmetic, identical in every run. Three models were given the same candidates and the same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11296" y="201168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 rejects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2297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False rejects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033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rejects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976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692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" y="25328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Haiku 4.5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1296" y="25328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297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033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692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9008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29900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Sonnet 5 (default)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1296" y="29900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2297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033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976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92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" y="34472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Opus 4.8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11296" y="34472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033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976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692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3502152" cy="137160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agree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" y="4581144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Reactome: 137 of 151 (91%)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60 of 77 (78%)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4069080"/>
            <a:ext cx="3502152" cy="137160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split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727448" y="4581144"/>
            <a:ext cx="3502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"sars" alias, hypoxia as process or disease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Haiku strictest, rejecting on tissue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21040" y="4069080"/>
            <a:ext cx="3502152" cy="137160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Safeguard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13648" y="4581144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False-reject check against curated evidence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review of every candidate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2960" y="566013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660136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40280" y="548640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model shifts a handful of borderline calls, not the result. Sonnet 5 is the default.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68630" y="6253531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list prices, USD per 1M tokens. Sonnet 5 has an introductory rate to 2026-08-31.</a:t>
            </a:r>
            <a:endParaRPr lang="en-US" sz="1200" dirty="0"/>
          </a:p>
        </p:txBody>
      </p:sp>
      <p:pic>
        <p:nvPicPr>
          <p:cNvPr id="49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</TotalTime>
  <Words>1972</Words>
  <Application>Microsoft Macintosh PowerPoint</Application>
  <PresentationFormat>Widescreen</PresentationFormat>
  <Paragraphs>525</Paragraphs>
  <Slides>22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Trebuchet MS</vt:lpstr>
      <vt:lpstr>Roboto Medium</vt:lpstr>
      <vt:lpstr>Menlo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curation of disease pathways</dc:title>
  <dc:subject>PptxGenJS Presentation</dc:subject>
  <dc:creator>Polina Rusina</dc:creator>
  <cp:lastModifiedBy>Polina Rusina</cp:lastModifiedBy>
  <cp:revision>34</cp:revision>
  <dcterms:created xsi:type="dcterms:W3CDTF">2026-08-28T21:43:57Z</dcterms:created>
  <dcterms:modified xsi:type="dcterms:W3CDTF">2026-09-02T14:39:26Z</dcterms:modified>
</cp:coreProperties>
</file>