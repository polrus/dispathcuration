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65" r:id="rId3"/>
    <p:sldId id="266" r:id="rId4"/>
    <p:sldId id="267" r:id="rId5"/>
    <p:sldId id="268" r:id="rId6"/>
    <p:sldId id="273" r:id="rId7"/>
    <p:sldId id="274" r:id="rId8"/>
    <p:sldId id="275" r:id="rId9"/>
    <p:sldId id="283" r:id="rId10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Oxygen" panose="02000503000000000000" pitchFamily="2" charset="77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Trebuchet MS" panose="020B0703020202090204" pitchFamily="34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hQVUkvYVEAJKW9ZH7GvIlyQ4uZ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05005C-9B28-4404-9B5B-EB97E9EB27D1}">
  <a:tblStyle styleId="{9B05005C-9B28-4404-9B5B-EB97E9EB2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>
      <p:cViewPr varScale="1">
        <p:scale>
          <a:sx n="141" d="100"/>
          <a:sy n="141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c125ed16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c125ed16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easiest way is semantic annotation.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 this Reactome pathway: 'Deregulated CDK5 triggers multiple neurodegenerative pathways in Alzheimer's disease models.'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disease is explicitly mentioned, so we can assign all genes in this pathway to Alzheimer's.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c125ed16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ec125ed16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This is exactly the approach we used for NeuroFlux.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Lewis had about 3,000 hits from primary screens and needed to decide which to validate.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He already had MAGeCK-based criteria, and we layered on pathway prioritization.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looked for genes with both curated pathway annotations - querying 9 databases for 'Alzheimer's' or 'Parkinson's' terms - and genetic evidence from Open Targets.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Pathways give us mechanism, genetics gives us disease validation - together they identify high-confidence targets.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That brought us from 3,000 down to 20 genes for secondary screens.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c125ed16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ec125ed16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how did they perform?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secondary screens tested our 20 targets across multiple genotypes - 3 for Alzheimer's, 2 for Parkinson's, 3 for LSDs.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c125ed16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ec125ed16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And we saw really good validation: 18 out of 20 were significant in at least one screen.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figure, the bigger and more colored the point, the more screens that target validated in.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ec125ed16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ec125ed16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13 out of 20 showed disease-genotype concordance - meaning they validated specifically in the disease context they were nominated for.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example, if we nominated a gene based on Alzheimer's pathways and genetics, it showed significance in the AD genotype screens.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Interestingly, several targets also validated in LSD models, which is particularly valuable since there's limited genetic data and no curated pathways for LSDs.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c125ed16e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ec125ed16e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We developed an approach using </a:t>
            </a:r>
            <a:r>
              <a:rPr lang="en-GB" b="1">
                <a:solidFill>
                  <a:schemeClr val="dk1"/>
                </a:solidFill>
              </a:rPr>
              <a:t>disease genetics + GSEA</a:t>
            </a:r>
            <a:r>
              <a:rPr lang="en-GB">
                <a:solidFill>
                  <a:schemeClr val="dk1"/>
                </a:solidFill>
              </a:rPr>
              <a:t> to infer disease-relevant pathways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 it works: use GWAS/genetic data, run GSEA to identify pathways enriched in disease genetics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gives us </a:t>
            </a:r>
            <a:r>
              <a:rPr lang="en-GB" b="1">
                <a:solidFill>
                  <a:schemeClr val="dk1"/>
                </a:solidFill>
              </a:rPr>
              <a:t>indirect evidence</a:t>
            </a:r>
            <a:r>
              <a:rPr lang="en-GB">
                <a:solidFill>
                  <a:schemeClr val="dk1"/>
                </a:solidFill>
              </a:rPr>
              <a:t> for disease association - pathways that genetics points to, even if not yet curated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expands beyond the curated pathway universe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ec125ed16e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ec125ed16e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"Looking retrospectively at NeuroFlux: this approach would have identified </a:t>
            </a:r>
            <a:r>
              <a:rPr lang="en-GB" b="1">
                <a:solidFill>
                  <a:schemeClr val="dk1"/>
                </a:solidFill>
              </a:rPr>
              <a:t>75 additional candidates</a:t>
            </a:r>
            <a:r>
              <a:rPr lang="en-GB">
                <a:solidFill>
                  <a:schemeClr val="dk1"/>
                </a:solidFill>
              </a:rPr>
              <a:t> from the secondary screens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</a:rPr>
              <a:t>[If you calculate overlap]:</a:t>
            </a:r>
            <a:r>
              <a:rPr lang="en-GB">
                <a:solidFill>
                  <a:schemeClr val="dk1"/>
                </a:solidFill>
              </a:rPr>
              <a:t> "Of these, Y overlap with our current nominated set, and Z would be new additions"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</a:rPr>
              <a:t>[If you calculate significance]:</a:t>
            </a:r>
            <a:r>
              <a:rPr lang="en-GB">
                <a:solidFill>
                  <a:schemeClr val="dk1"/>
                </a:solidFill>
              </a:rPr>
              <a:t> "X of these were significant in the secondary screens"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"At that stage Lewis already had the targets he needed, but this shows the potential to expand the discovery space"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sunburst shows all Alzheimer's disease-inferred pathways from genetics - a much broader universe than curated databases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Beyond just discovery, you can also use disease pathways to EXPLORE and understand the targets you've already selected. Here's how.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c125ed16e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ec125ed16e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"Looking retrospectively at NeuroFlux: this approach would have identified </a:t>
            </a:r>
            <a:r>
              <a:rPr lang="en-GB" b="1">
                <a:solidFill>
                  <a:schemeClr val="dk1"/>
                </a:solidFill>
              </a:rPr>
              <a:t>75 additional candidates</a:t>
            </a:r>
            <a:r>
              <a:rPr lang="en-GB">
                <a:solidFill>
                  <a:schemeClr val="dk1"/>
                </a:solidFill>
              </a:rPr>
              <a:t> from the secondary screens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</a:rPr>
              <a:t>[If you calculate overlap]:</a:t>
            </a:r>
            <a:r>
              <a:rPr lang="en-GB">
                <a:solidFill>
                  <a:schemeClr val="dk1"/>
                </a:solidFill>
              </a:rPr>
              <a:t> "Of these, Y overlap with our current nominated set, and Z would be new additions"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solidFill>
                  <a:schemeClr val="dk1"/>
                </a:solidFill>
              </a:rPr>
              <a:t>[If you calculate significance]:</a:t>
            </a:r>
            <a:r>
              <a:rPr lang="en-GB">
                <a:solidFill>
                  <a:schemeClr val="dk1"/>
                </a:solidFill>
              </a:rPr>
              <a:t> "X of these were significant in the secondary screens"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"At that stage Lewis already had the targets he needed, but this shows the potential to expand the discovery space"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sunburst shows all Alzheimer's disease-inferred pathways from genetics - a much broader universe than curated databases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Beyond just discovery, you can also use disease pathways to EXPLORE and understand the targets you've already selected. Here's how.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bb87fa4af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ebb87fa4af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Score each gene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Adjust for total appearances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Normalise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Use as model features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Dark">
  <p:cSld name="BIG_NUMBER_1">
    <p:bg>
      <p:bgPr>
        <a:solidFill>
          <a:srgbClr val="1A4565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0"/>
              <a:buNone/>
              <a:defRPr sz="120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Roboto"/>
              <a:buChar char="●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○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■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●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○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■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●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○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Font typeface="Roboto"/>
              <a:buChar char="■"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21" name="Google Shape;2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" name="Google Shape;2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df97550135_0_18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g2df97550135_0_18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g2df97550135_0_1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dark">
  <p:cSld name="TITLE_AND_TWO_COLUMNS_1">
    <p:bg>
      <p:bgPr>
        <a:solidFill>
          <a:srgbClr val="1A4565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 sz="1400">
                <a:solidFill>
                  <a:srgbClr val="EFEFEF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 sz="1400">
                <a:solidFill>
                  <a:srgbClr val="EFEFEF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pic>
        <p:nvPicPr>
          <p:cNvPr id="39" name="Google Shape;3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ith triangles">
  <p:cSld name="SECTION_HEADER_2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634200" y="2150850"/>
            <a:ext cx="4392300" cy="1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22"/>
          <p:cNvCxnSpPr/>
          <p:nvPr/>
        </p:nvCxnSpPr>
        <p:spPr>
          <a:xfrm>
            <a:off x="725917" y="2150850"/>
            <a:ext cx="4338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2"/>
          <p:cNvSpPr txBox="1">
            <a:spLocks noGrp="1"/>
          </p:cNvSpPr>
          <p:nvPr>
            <p:ph type="subTitle" idx="1"/>
          </p:nvPr>
        </p:nvSpPr>
        <p:spPr>
          <a:xfrm>
            <a:off x="634200" y="1561825"/>
            <a:ext cx="35793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/>
          <p:nvPr/>
        </p:nvSpPr>
        <p:spPr>
          <a:xfrm rot="10800000">
            <a:off x="3985200" y="75"/>
            <a:ext cx="5158800" cy="5158800"/>
          </a:xfrm>
          <a:prstGeom prst="rtTriangle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2"/>
          <p:cNvSpPr/>
          <p:nvPr/>
        </p:nvSpPr>
        <p:spPr>
          <a:xfrm flipH="1">
            <a:off x="5584800" y="1576300"/>
            <a:ext cx="3559200" cy="3559200"/>
          </a:xfrm>
          <a:prstGeom prst="rtTriangle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32e418c1ed_2_15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32e418c1ed_2_15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g232e418c1ed_2_1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232e418c1ed_2_1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g232e418c1ed_2_1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ith subtitle">
  <p:cSld name="SECTION_HEADER_2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>
            <a:spLocks noGrp="1"/>
          </p:cNvSpPr>
          <p:nvPr>
            <p:ph type="title"/>
          </p:nvPr>
        </p:nvSpPr>
        <p:spPr>
          <a:xfrm>
            <a:off x="634200" y="2150850"/>
            <a:ext cx="4392300" cy="1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25"/>
          <p:cNvCxnSpPr/>
          <p:nvPr/>
        </p:nvCxnSpPr>
        <p:spPr>
          <a:xfrm>
            <a:off x="725917" y="2150850"/>
            <a:ext cx="4338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25"/>
          <p:cNvSpPr txBox="1">
            <a:spLocks noGrp="1"/>
          </p:cNvSpPr>
          <p:nvPr>
            <p:ph type="subTitle" idx="1"/>
          </p:nvPr>
        </p:nvSpPr>
        <p:spPr>
          <a:xfrm>
            <a:off x="634200" y="1561825"/>
            <a:ext cx="35793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dark">
  <p:cSld name="TITLE_AND_BODY_1">
    <p:bg>
      <p:bgPr>
        <a:solidFill>
          <a:srgbClr val="1A4565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>
                <a:solidFill>
                  <a:srgbClr val="EFEFEF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pic>
        <p:nvPicPr>
          <p:cNvPr id="64" name="Google Shape;6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 Dark">
  <p:cSld name="BLANK_1_1">
    <p:bg>
      <p:bgPr>
        <a:solidFill>
          <a:srgbClr val="1A456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7"/>
          <p:cNvSpPr/>
          <p:nvPr/>
        </p:nvSpPr>
        <p:spPr>
          <a:xfrm>
            <a:off x="2593650" y="0"/>
            <a:ext cx="7847400" cy="5143500"/>
          </a:xfrm>
          <a:prstGeom prst="parallelogram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7"/>
          <p:cNvSpPr/>
          <p:nvPr/>
        </p:nvSpPr>
        <p:spPr>
          <a:xfrm>
            <a:off x="3505200" y="904150"/>
            <a:ext cx="2111100" cy="426000"/>
          </a:xfrm>
          <a:prstGeom prst="rect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7"/>
          <p:cNvSpPr/>
          <p:nvPr/>
        </p:nvSpPr>
        <p:spPr>
          <a:xfrm>
            <a:off x="2834075" y="3575450"/>
            <a:ext cx="2782200" cy="426000"/>
          </a:xfrm>
          <a:prstGeom prst="rect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7"/>
          <p:cNvSpPr/>
          <p:nvPr/>
        </p:nvSpPr>
        <p:spPr>
          <a:xfrm>
            <a:off x="3408000" y="867400"/>
            <a:ext cx="499200" cy="499500"/>
          </a:xfrm>
          <a:prstGeom prst="ellipse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7"/>
          <p:cNvSpPr/>
          <p:nvPr/>
        </p:nvSpPr>
        <p:spPr>
          <a:xfrm>
            <a:off x="3142975" y="2258175"/>
            <a:ext cx="2473200" cy="426000"/>
          </a:xfrm>
          <a:prstGeom prst="rect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7"/>
          <p:cNvSpPr/>
          <p:nvPr/>
        </p:nvSpPr>
        <p:spPr>
          <a:xfrm>
            <a:off x="3045775" y="2221425"/>
            <a:ext cx="499200" cy="499500"/>
          </a:xfrm>
          <a:prstGeom prst="ellipse">
            <a:avLst/>
          </a:prstGeom>
          <a:solidFill>
            <a:srgbClr val="71AC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7"/>
          <p:cNvSpPr/>
          <p:nvPr/>
        </p:nvSpPr>
        <p:spPr>
          <a:xfrm>
            <a:off x="2701550" y="3538700"/>
            <a:ext cx="499200" cy="499500"/>
          </a:xfrm>
          <a:prstGeom prst="ellipse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7"/>
          <p:cNvSpPr txBox="1">
            <a:spLocks noGrp="1"/>
          </p:cNvSpPr>
          <p:nvPr>
            <p:ph type="title"/>
          </p:nvPr>
        </p:nvSpPr>
        <p:spPr>
          <a:xfrm>
            <a:off x="340775" y="511150"/>
            <a:ext cx="27051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5954000" y="867400"/>
            <a:ext cx="26409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2"/>
          </p:nvPr>
        </p:nvSpPr>
        <p:spPr>
          <a:xfrm>
            <a:off x="5954000" y="2221400"/>
            <a:ext cx="26409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3"/>
          </p:nvPr>
        </p:nvSpPr>
        <p:spPr>
          <a:xfrm>
            <a:off x="5954000" y="3497925"/>
            <a:ext cx="26409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82" name="Google Shape;8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Dark">
  <p:cSld name="SECTION_HEADER_1">
    <p:bg>
      <p:bgPr>
        <a:solidFill>
          <a:srgbClr val="1A456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600"/>
              <a:buNone/>
              <a:defRPr sz="36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85" name="Google Shape;85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tline">
  <p:cSld name="TITLE_AND_BODY_2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3"/>
          <p:cNvSpPr txBox="1"/>
          <p:nvPr/>
        </p:nvSpPr>
        <p:spPr>
          <a:xfrm>
            <a:off x="913750" y="815463"/>
            <a:ext cx="193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1" i="0" u="none" strike="noStrike" cap="none">
                <a:solidFill>
                  <a:srgbClr val="1A4565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3500" b="1" i="0" u="none" strike="noStrike" cap="none">
              <a:solidFill>
                <a:srgbClr val="1A456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0" y="3568500"/>
            <a:ext cx="1575000" cy="1575000"/>
          </a:xfrm>
          <a:prstGeom prst="rtTriangle">
            <a:avLst/>
          </a:prstGeom>
          <a:solidFill>
            <a:srgbClr val="71AC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diagonal">
  <p:cSld name="TITLE_AND_TWO_COLUMNS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>
            <a:spLocks noGrp="1"/>
          </p:cNvSpPr>
          <p:nvPr>
            <p:ph type="body" idx="1"/>
          </p:nvPr>
        </p:nvSpPr>
        <p:spPr>
          <a:xfrm>
            <a:off x="965425" y="1303275"/>
            <a:ext cx="2925000" cy="20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92" name="Google Shape;9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5"/>
          <p:cNvSpPr/>
          <p:nvPr/>
        </p:nvSpPr>
        <p:spPr>
          <a:xfrm rot="10800000">
            <a:off x="2177100" y="0"/>
            <a:ext cx="6966900" cy="3682200"/>
          </a:xfrm>
          <a:prstGeom prst="rtTriangle">
            <a:avLst/>
          </a:prstGeom>
          <a:solidFill>
            <a:srgbClr val="71AC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5"/>
          <p:cNvSpPr/>
          <p:nvPr/>
        </p:nvSpPr>
        <p:spPr>
          <a:xfrm rot="5400000" flipH="1">
            <a:off x="1035625" y="1768050"/>
            <a:ext cx="2339700" cy="4411200"/>
          </a:xfrm>
          <a:prstGeom prst="rtTriangle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5"/>
          <p:cNvSpPr/>
          <p:nvPr/>
        </p:nvSpPr>
        <p:spPr>
          <a:xfrm>
            <a:off x="3527434" y="547743"/>
            <a:ext cx="673480" cy="673480"/>
          </a:xfrm>
          <a:prstGeom prst="ellipse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5"/>
          <p:cNvSpPr/>
          <p:nvPr/>
        </p:nvSpPr>
        <p:spPr>
          <a:xfrm>
            <a:off x="7184109" y="2516443"/>
            <a:ext cx="673500" cy="673500"/>
          </a:xfrm>
          <a:prstGeom prst="ellipse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5"/>
          <p:cNvSpPr txBox="1">
            <a:spLocks noGrp="1"/>
          </p:cNvSpPr>
          <p:nvPr>
            <p:ph type="title"/>
          </p:nvPr>
        </p:nvSpPr>
        <p:spPr>
          <a:xfrm>
            <a:off x="4912775" y="445025"/>
            <a:ext cx="39195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xygen"/>
              <a:buNone/>
              <a:defRPr b="1"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subTitle" idx="2"/>
          </p:nvPr>
        </p:nvSpPr>
        <p:spPr>
          <a:xfrm>
            <a:off x="965425" y="629475"/>
            <a:ext cx="2480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5"/>
          <p:cNvSpPr txBox="1">
            <a:spLocks noGrp="1"/>
          </p:cNvSpPr>
          <p:nvPr>
            <p:ph type="body" idx="3"/>
          </p:nvPr>
        </p:nvSpPr>
        <p:spPr>
          <a:xfrm>
            <a:off x="4571700" y="3345075"/>
            <a:ext cx="2925000" cy="20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subTitle" idx="4"/>
          </p:nvPr>
        </p:nvSpPr>
        <p:spPr>
          <a:xfrm>
            <a:off x="4571700" y="2671275"/>
            <a:ext cx="24801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Dark">
  <p:cSld name="TITLE_ONLY_1">
    <p:bg>
      <p:bgPr>
        <a:solidFill>
          <a:srgbClr val="1A4565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pic>
        <p:nvPicPr>
          <p:cNvPr id="103" name="Google Shape;10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07" name="Google Shape;10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column text Dark">
  <p:cSld name="ONE_COLUMN_TEXT_1">
    <p:bg>
      <p:bgPr>
        <a:solidFill>
          <a:srgbClr val="1A4565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None/>
              <a:defRPr sz="24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3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pic>
        <p:nvPicPr>
          <p:cNvPr id="111" name="Google Shape;11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114" name="Google Shape;11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20" name="Google Shape;120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Dark">
  <p:cSld name="SECTION_TITLE_AND_DESCRIPTION_1">
    <p:bg>
      <p:bgPr>
        <a:solidFill>
          <a:srgbClr val="1A4565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200"/>
              <a:buNone/>
              <a:defRPr sz="42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26" name="Google Shape;12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endParaRPr/>
          </a:p>
        </p:txBody>
      </p:sp>
      <p:pic>
        <p:nvPicPr>
          <p:cNvPr id="129" name="Google Shape;129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Dark">
  <p:cSld name="CAPTION_ONLY_1">
    <p:bg>
      <p:bgPr>
        <a:solidFill>
          <a:srgbClr val="1A456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Roboto"/>
              <a:buNone/>
              <a:defRPr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32" name="Google Shape;132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5" name="Google Shape;135;p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136" name="Google Shape;136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8000" y="4774450"/>
            <a:ext cx="832998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rgbClr val="1A4565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77977" y="4774450"/>
            <a:ext cx="833050" cy="2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2800"/>
              <a:buFont typeface="Trebuchet MS"/>
              <a:buNone/>
              <a:defRPr sz="2800" b="1" i="0" u="none" strike="noStrike" cap="none">
                <a:solidFill>
                  <a:srgbClr val="1A456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4565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1A456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g3ec125ed16e_0_16" title="illustration_deregulated_CDK5_triggers_multiple_neurodegenerative_pathways_72 (1).png"/>
          <p:cNvPicPr preferRelativeResize="0"/>
          <p:nvPr/>
        </p:nvPicPr>
        <p:blipFill rotWithShape="1">
          <a:blip r:embed="rId3">
            <a:alphaModFix/>
          </a:blip>
          <a:srcRect l="1725" t="3882" r="1338" b="961"/>
          <a:stretch/>
        </p:blipFill>
        <p:spPr>
          <a:xfrm>
            <a:off x="468250" y="1088850"/>
            <a:ext cx="3756227" cy="3622576"/>
          </a:xfrm>
          <a:prstGeom prst="rect">
            <a:avLst/>
          </a:prstGeom>
          <a:noFill/>
          <a:ln w="19050" cap="flat" cmpd="sng">
            <a:solidFill>
              <a:srgbClr val="3182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52" name="Google Shape;452;g3ec125ed16e_0_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Connecting pathway and phenotype</a:t>
            </a:r>
            <a:endParaRPr/>
          </a:p>
        </p:txBody>
      </p:sp>
      <p:sp>
        <p:nvSpPr>
          <p:cNvPr id="453" name="Google Shape;453;g3ec125ed16e_0_16"/>
          <p:cNvSpPr/>
          <p:nvPr/>
        </p:nvSpPr>
        <p:spPr>
          <a:xfrm>
            <a:off x="4224475" y="1071200"/>
            <a:ext cx="4488300" cy="882000"/>
          </a:xfrm>
          <a:prstGeom prst="rect">
            <a:avLst/>
          </a:prstGeom>
          <a:solidFill>
            <a:srgbClr val="3182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Deregulated CDK5 triggers multiple neurodegenerative pathways </a:t>
            </a:r>
            <a:endParaRPr sz="16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in </a:t>
            </a: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Alzheimer's disease</a:t>
            </a:r>
            <a:r>
              <a:rPr lang="en-GB" sz="1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models</a:t>
            </a:r>
            <a:endParaRPr sz="16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54" name="Google Shape;454;g3ec125ed16e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7325" y="1996901"/>
            <a:ext cx="1185449" cy="2765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g3ec125ed16e_0_16"/>
          <p:cNvCxnSpPr>
            <a:stCxn id="453" idx="2"/>
            <a:endCxn id="456" idx="0"/>
          </p:cNvCxnSpPr>
          <p:nvPr/>
        </p:nvCxnSpPr>
        <p:spPr>
          <a:xfrm>
            <a:off x="6468625" y="1953200"/>
            <a:ext cx="3600" cy="1075200"/>
          </a:xfrm>
          <a:prstGeom prst="straightConnector1">
            <a:avLst/>
          </a:prstGeom>
          <a:noFill/>
          <a:ln w="19050" cap="flat" cmpd="sng">
            <a:solidFill>
              <a:srgbClr val="1A4565"/>
            </a:solidFill>
            <a:prstDash val="dash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456" name="Google Shape;456;g3ec125ed16e_0_16"/>
          <p:cNvSpPr/>
          <p:nvPr/>
        </p:nvSpPr>
        <p:spPr>
          <a:xfrm>
            <a:off x="5184100" y="3028550"/>
            <a:ext cx="2431500" cy="1193400"/>
          </a:xfrm>
          <a:prstGeom prst="cube">
            <a:avLst>
              <a:gd name="adj" fmla="val 12123"/>
            </a:avLst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Alzheimer's disease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g3ec125ed16e_0_16"/>
          <p:cNvSpPr/>
          <p:nvPr/>
        </p:nvSpPr>
        <p:spPr>
          <a:xfrm rot="5400000">
            <a:off x="4519675" y="3223708"/>
            <a:ext cx="212700" cy="803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c125ed16e_0_26"/>
          <p:cNvSpPr/>
          <p:nvPr/>
        </p:nvSpPr>
        <p:spPr>
          <a:xfrm rot="5400000">
            <a:off x="6278975" y="2567550"/>
            <a:ext cx="3082800" cy="828600"/>
          </a:xfrm>
          <a:prstGeom prst="trapezoid">
            <a:avLst>
              <a:gd name="adj" fmla="val 127236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g3ec125ed16e_0_26"/>
          <p:cNvSpPr/>
          <p:nvPr/>
        </p:nvSpPr>
        <p:spPr>
          <a:xfrm>
            <a:off x="1255825" y="1440450"/>
            <a:ext cx="6158100" cy="3075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g3ec125ed16e_0_26"/>
          <p:cNvSpPr/>
          <p:nvPr/>
        </p:nvSpPr>
        <p:spPr>
          <a:xfrm>
            <a:off x="-2213050" y="1017725"/>
            <a:ext cx="4423200" cy="4070700"/>
          </a:xfrm>
          <a:prstGeom prst="ellipse">
            <a:avLst/>
          </a:prstGeom>
          <a:solidFill>
            <a:srgbClr val="1A45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g3ec125ed16e_0_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Target prioritisation for </a:t>
            </a:r>
            <a:r>
              <a:rPr lang="en-GB">
                <a:solidFill>
                  <a:srgbClr val="3489CA"/>
                </a:solidFill>
                <a:highlight>
                  <a:srgbClr val="3489CA"/>
                </a:highlight>
              </a:rPr>
              <a:t>?</a:t>
            </a:r>
            <a:r>
              <a:rPr lang="en-GB">
                <a:solidFill>
                  <a:srgbClr val="FFFFFF"/>
                </a:solidFill>
                <a:highlight>
                  <a:srgbClr val="3489CA"/>
                </a:highlight>
              </a:rPr>
              <a:t>NeuroFlux </a:t>
            </a:r>
            <a:r>
              <a:rPr lang="en-GB"/>
              <a:t> validation screens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g3ec125ed16e_0_26"/>
          <p:cNvSpPr txBox="1"/>
          <p:nvPr/>
        </p:nvSpPr>
        <p:spPr>
          <a:xfrm>
            <a:off x="-116125" y="2066425"/>
            <a:ext cx="20163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2,919 hits</a:t>
            </a:r>
            <a:endParaRPr sz="2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 disease groups</a:t>
            </a:r>
            <a:endParaRPr sz="1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prioritised by 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MAGeCK criteria</a:t>
            </a:r>
            <a:endParaRPr sz="28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g3ec125ed16e_0_26"/>
          <p:cNvSpPr txBox="1"/>
          <p:nvPr/>
        </p:nvSpPr>
        <p:spPr>
          <a:xfrm>
            <a:off x="2133600" y="3026237"/>
            <a:ext cx="2591400" cy="1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 Genetic evidence</a:t>
            </a:r>
            <a:r>
              <a:rPr lang="en-GB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Alzheimer, Parkinson, or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Lysosomal Storage Diseases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GB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 Targets Platform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g3ec125ed16e_0_26"/>
          <p:cNvSpPr txBox="1"/>
          <p:nvPr/>
        </p:nvSpPr>
        <p:spPr>
          <a:xfrm>
            <a:off x="1955400" y="1539950"/>
            <a:ext cx="27696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155 pathways</a:t>
            </a:r>
            <a:r>
              <a:rPr lang="en-GB" sz="1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annotated with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"Alzheimer" 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 </a:t>
            </a:r>
            <a:r>
              <a:rPr lang="en-GB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"Parkinson" 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</a:t>
            </a:r>
            <a:r>
              <a:rPr lang="en-GB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databases</a:t>
            </a:r>
            <a:endParaRPr sz="1200"/>
          </a:p>
        </p:txBody>
      </p:sp>
      <p:sp>
        <p:nvSpPr>
          <p:cNvPr id="469" name="Google Shape;469;g3ec125ed16e_0_26"/>
          <p:cNvSpPr/>
          <p:nvPr/>
        </p:nvSpPr>
        <p:spPr>
          <a:xfrm>
            <a:off x="7783100" y="2295225"/>
            <a:ext cx="1320000" cy="1320300"/>
          </a:xfrm>
          <a:prstGeom prst="ellipse">
            <a:avLst/>
          </a:prstGeom>
          <a:solidFill>
            <a:srgbClr val="6BAE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sz="3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targets</a:t>
            </a:r>
            <a:endParaRPr sz="35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g3ec125ed16e_0_26" title="pathway_terms_per_libr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375" y="1539950"/>
            <a:ext cx="2462873" cy="28760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c125ed16e_0_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18/20 genes were significant in secondary screens</a:t>
            </a:r>
            <a:endParaRPr/>
          </a:p>
        </p:txBody>
      </p:sp>
      <p:pic>
        <p:nvPicPr>
          <p:cNvPr id="476" name="Google Shape;476;g3ec125ed16e_0_38"/>
          <p:cNvPicPr preferRelativeResize="0"/>
          <p:nvPr/>
        </p:nvPicPr>
        <p:blipFill rotWithShape="1">
          <a:blip r:embed="rId3">
            <a:alphaModFix/>
          </a:blip>
          <a:srcRect l="8903" t="4473" r="25394" b="4436"/>
          <a:stretch/>
        </p:blipFill>
        <p:spPr>
          <a:xfrm>
            <a:off x="495100" y="1017725"/>
            <a:ext cx="3928448" cy="38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ec125ed16e_0_38"/>
          <p:cNvPicPr preferRelativeResize="0"/>
          <p:nvPr/>
        </p:nvPicPr>
        <p:blipFill rotWithShape="1">
          <a:blip r:embed="rId3">
            <a:alphaModFix/>
          </a:blip>
          <a:srcRect l="74489" t="44049" r="4733" b="44704"/>
          <a:stretch/>
        </p:blipFill>
        <p:spPr>
          <a:xfrm>
            <a:off x="4619100" y="3817575"/>
            <a:ext cx="2406323" cy="930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ec125ed16e_0_38"/>
          <p:cNvSpPr txBox="1">
            <a:spLocks noGrp="1"/>
          </p:cNvSpPr>
          <p:nvPr>
            <p:ph type="body" idx="1"/>
          </p:nvPr>
        </p:nvSpPr>
        <p:spPr>
          <a:xfrm>
            <a:off x="4619100" y="1125710"/>
            <a:ext cx="4052100" cy="2583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/>
              <a:t>10</a:t>
            </a:r>
            <a:r>
              <a:rPr lang="en-GB" sz="2000" b="1"/>
              <a:t> secondary screens </a:t>
            </a:r>
            <a:endParaRPr sz="2000" b="1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/>
              <a:t>8 </a:t>
            </a:r>
            <a:r>
              <a:rPr lang="en-GB" sz="2000" b="1"/>
              <a:t>causal genotypes:</a:t>
            </a:r>
            <a:endParaRPr sz="2000" b="1"/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b="1">
                <a:solidFill>
                  <a:srgbClr val="CC3034"/>
                </a:solidFill>
              </a:rPr>
              <a:t>AD</a:t>
            </a:r>
            <a:r>
              <a:rPr lang="en-GB" sz="2000" b="1"/>
              <a:t>: APP</a:t>
            </a:r>
            <a:r>
              <a:rPr lang="en-GB" sz="2000" b="1" baseline="30000"/>
              <a:t>V717I</a:t>
            </a:r>
            <a:r>
              <a:rPr lang="en-GB" sz="2000" b="1"/>
              <a:t>, PSEN1</a:t>
            </a:r>
            <a:r>
              <a:rPr lang="en-GB" sz="2000" b="1" baseline="30000"/>
              <a:t>I4</a:t>
            </a:r>
            <a:r>
              <a:rPr lang="en-GB" sz="2000" b="1"/>
              <a:t>,SORL1</a:t>
            </a:r>
            <a:endParaRPr sz="2000" b="1"/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b="1">
                <a:solidFill>
                  <a:srgbClr val="CC3034"/>
                </a:solidFill>
              </a:rPr>
              <a:t>PD</a:t>
            </a:r>
            <a:r>
              <a:rPr lang="en-GB" sz="2000" b="1"/>
              <a:t>: LRRK2</a:t>
            </a:r>
            <a:r>
              <a:rPr lang="en-GB" sz="2000" b="1" baseline="30000"/>
              <a:t>G2019S</a:t>
            </a:r>
            <a:r>
              <a:rPr lang="en-GB" sz="2000" b="1"/>
              <a:t>, SNCA </a:t>
            </a:r>
            <a:endParaRPr sz="2000" b="1"/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 b="1">
                <a:solidFill>
                  <a:srgbClr val="CC3034"/>
                </a:solidFill>
              </a:rPr>
              <a:t>LSD</a:t>
            </a:r>
            <a:r>
              <a:rPr lang="en-GB" sz="2000" b="1"/>
              <a:t>: GBA</a:t>
            </a:r>
            <a:r>
              <a:rPr lang="en-GB" sz="2000" b="1" baseline="30000"/>
              <a:t>D448H</a:t>
            </a:r>
            <a:r>
              <a:rPr lang="en-GB" sz="2000" b="1"/>
              <a:t>, NPC1, SMPD1</a:t>
            </a:r>
            <a:endParaRPr sz="2000"/>
          </a:p>
        </p:txBody>
      </p:sp>
      <p:sp>
        <p:nvSpPr>
          <p:cNvPr id="479" name="Google Shape;479;g3ec125ed16e_0_38"/>
          <p:cNvSpPr txBox="1"/>
          <p:nvPr/>
        </p:nvSpPr>
        <p:spPr>
          <a:xfrm>
            <a:off x="7653900" y="0"/>
            <a:ext cx="1490100" cy="492600"/>
          </a:xfrm>
          <a:prstGeom prst="rect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highlight>
                  <a:srgbClr val="3489CA"/>
                </a:highlight>
                <a:latin typeface="Trebuchet MS"/>
                <a:ea typeface="Trebuchet MS"/>
                <a:cs typeface="Trebuchet MS"/>
                <a:sym typeface="Trebuchet MS"/>
              </a:rPr>
              <a:t>NeuroFlux </a:t>
            </a:r>
            <a:endParaRPr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g3ec125ed16e_0_45" title="packed_bubble_green.png"/>
          <p:cNvPicPr preferRelativeResize="0"/>
          <p:nvPr/>
        </p:nvPicPr>
        <p:blipFill rotWithShape="1">
          <a:blip r:embed="rId3">
            <a:alphaModFix/>
          </a:blip>
          <a:srcRect l="5008" t="1797" r="-573" b="5550"/>
          <a:stretch/>
        </p:blipFill>
        <p:spPr>
          <a:xfrm>
            <a:off x="0" y="80000"/>
            <a:ext cx="9720900" cy="53847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485" name="Google Shape;485;g3ec125ed16e_0_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18/20 genes were significant in secondary screens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g3ec125ed16e_0_50" title="packed_bubble_blue.png"/>
          <p:cNvPicPr preferRelativeResize="0"/>
          <p:nvPr/>
        </p:nvPicPr>
        <p:blipFill rotWithShape="1">
          <a:blip r:embed="rId3">
            <a:alphaModFix/>
          </a:blip>
          <a:srcRect l="5366"/>
          <a:stretch/>
        </p:blipFill>
        <p:spPr>
          <a:xfrm>
            <a:off x="26075" y="-32823"/>
            <a:ext cx="9649500" cy="58254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491" name="Google Shape;491;g3ec125ed16e_0_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..and 13/20 showed disease-genotype concordance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c125ed16e_0_192"/>
          <p:cNvSpPr/>
          <p:nvPr/>
        </p:nvSpPr>
        <p:spPr>
          <a:xfrm>
            <a:off x="4119849" y="2755295"/>
            <a:ext cx="313800" cy="313800"/>
          </a:xfrm>
          <a:prstGeom prst="ellipse">
            <a:avLst/>
          </a:prstGeom>
          <a:solidFill>
            <a:srgbClr val="E2E2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g3ec125ed16e_0_192"/>
          <p:cNvSpPr txBox="1"/>
          <p:nvPr/>
        </p:nvSpPr>
        <p:spPr>
          <a:xfrm>
            <a:off x="4104645" y="2696656"/>
            <a:ext cx="41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GB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g3ec125ed16e_0_1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Genetically-inferred disease pathways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9" name="Google Shape;639;g3ec125ed16e_0_192"/>
          <p:cNvGrpSpPr/>
          <p:nvPr/>
        </p:nvGrpSpPr>
        <p:grpSpPr>
          <a:xfrm>
            <a:off x="230195" y="1370900"/>
            <a:ext cx="1980000" cy="3160210"/>
            <a:chOff x="230195" y="1370900"/>
            <a:chExt cx="1980000" cy="3160210"/>
          </a:xfrm>
        </p:grpSpPr>
        <p:sp>
          <p:nvSpPr>
            <p:cNvPr id="640" name="Google Shape;640;g3ec125ed16e_0_192"/>
            <p:cNvSpPr/>
            <p:nvPr/>
          </p:nvSpPr>
          <p:spPr>
            <a:xfrm>
              <a:off x="230195" y="1370900"/>
              <a:ext cx="1980000" cy="720000"/>
            </a:xfrm>
            <a:prstGeom prst="rect">
              <a:avLst/>
            </a:prstGeom>
            <a:solidFill>
              <a:srgbClr val="71ACDA"/>
            </a:solidFill>
            <a:ln w="1905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Genetic</a:t>
              </a:r>
              <a:endParaRPr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    evidence*</a:t>
              </a:r>
              <a:endParaRPr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41" name="Google Shape;641;g3ec125ed16e_0_192"/>
            <p:cNvSpPr/>
            <p:nvPr/>
          </p:nvSpPr>
          <p:spPr>
            <a:xfrm rot="10800000" flipH="1">
              <a:off x="317324" y="1541567"/>
              <a:ext cx="237600" cy="3834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dk1"/>
                </a:gs>
                <a:gs pos="39000">
                  <a:srgbClr val="3489CA"/>
                </a:gs>
                <a:gs pos="70000">
                  <a:srgbClr val="95C3E6"/>
                </a:gs>
                <a:gs pos="100000">
                  <a:srgbClr val="E5ECF6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7900" tIns="67900" rIns="67900" bIns="67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4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42" name="Google Shape;642;g3ec125ed16e_0_192"/>
            <p:cNvGrpSpPr/>
            <p:nvPr/>
          </p:nvGrpSpPr>
          <p:grpSpPr>
            <a:xfrm>
              <a:off x="499556" y="2306243"/>
              <a:ext cx="1441281" cy="1196313"/>
              <a:chOff x="3327746" y="2153186"/>
              <a:chExt cx="1441281" cy="1196313"/>
            </a:xfrm>
          </p:grpSpPr>
          <p:sp>
            <p:nvSpPr>
              <p:cNvPr id="643" name="Google Shape;643;g3ec125ed16e_0_192"/>
              <p:cNvSpPr/>
              <p:nvPr/>
            </p:nvSpPr>
            <p:spPr>
              <a:xfrm>
                <a:off x="3336221" y="2214688"/>
                <a:ext cx="313800" cy="313800"/>
              </a:xfrm>
              <a:prstGeom prst="ellipse">
                <a:avLst/>
              </a:prstGeom>
              <a:solidFill>
                <a:srgbClr val="1A45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4" name="Google Shape;644;g3ec125ed16e_0_192"/>
              <p:cNvSpPr/>
              <p:nvPr/>
            </p:nvSpPr>
            <p:spPr>
              <a:xfrm>
                <a:off x="3336221" y="2595851"/>
                <a:ext cx="313800" cy="313800"/>
              </a:xfrm>
              <a:prstGeom prst="ellipse">
                <a:avLst/>
              </a:prstGeom>
              <a:solidFill>
                <a:srgbClr val="3182B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1A456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5" name="Google Shape;645;g3ec125ed16e_0_192"/>
              <p:cNvSpPr/>
              <p:nvPr/>
            </p:nvSpPr>
            <p:spPr>
              <a:xfrm>
                <a:off x="3336221" y="2977038"/>
                <a:ext cx="313800" cy="313800"/>
              </a:xfrm>
              <a:prstGeom prst="ellipse">
                <a:avLst/>
              </a:prstGeom>
              <a:solidFill>
                <a:srgbClr val="71AC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6" name="Google Shape;646;g3ec125ed16e_0_192"/>
              <p:cNvSpPr txBox="1"/>
              <p:nvPr/>
            </p:nvSpPr>
            <p:spPr>
              <a:xfrm>
                <a:off x="3650026" y="2156038"/>
                <a:ext cx="111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5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Target 1</a:t>
                </a:r>
                <a:endParaRPr sz="15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7" name="Google Shape;647;g3ec125ed16e_0_192"/>
              <p:cNvSpPr txBox="1"/>
              <p:nvPr/>
            </p:nvSpPr>
            <p:spPr>
              <a:xfrm>
                <a:off x="3650026" y="2537213"/>
                <a:ext cx="111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5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Target 2</a:t>
                </a:r>
                <a:endParaRPr sz="15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8" name="Google Shape;648;g3ec125ed16e_0_192"/>
              <p:cNvSpPr txBox="1"/>
              <p:nvPr/>
            </p:nvSpPr>
            <p:spPr>
              <a:xfrm>
                <a:off x="3650026" y="2915138"/>
                <a:ext cx="111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5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Target 3</a:t>
                </a:r>
                <a:endParaRPr sz="15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49" name="Google Shape;649;g3ec125ed16e_0_192"/>
              <p:cNvSpPr txBox="1"/>
              <p:nvPr/>
            </p:nvSpPr>
            <p:spPr>
              <a:xfrm>
                <a:off x="3336218" y="2153186"/>
                <a:ext cx="41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</a:t>
                </a:r>
                <a:r>
                  <a:rPr lang="en-GB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50" name="Google Shape;650;g3ec125ed16e_0_192"/>
              <p:cNvSpPr txBox="1"/>
              <p:nvPr/>
            </p:nvSpPr>
            <p:spPr>
              <a:xfrm>
                <a:off x="3327746" y="2543524"/>
                <a:ext cx="41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</a:t>
                </a:r>
                <a:r>
                  <a:rPr lang="en-GB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51" name="Google Shape;651;g3ec125ed16e_0_192"/>
              <p:cNvSpPr txBox="1"/>
              <p:nvPr/>
            </p:nvSpPr>
            <p:spPr>
              <a:xfrm>
                <a:off x="3328486" y="2918399"/>
                <a:ext cx="41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</a:t>
                </a:r>
                <a:r>
                  <a:rPr lang="en-GB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652" name="Google Shape;652;g3ec125ed16e_0_192"/>
            <p:cNvSpPr/>
            <p:nvPr/>
          </p:nvSpPr>
          <p:spPr>
            <a:xfrm>
              <a:off x="230345" y="3811110"/>
              <a:ext cx="1979700" cy="720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* 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Genes linked to diseases  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 ranked by</a:t>
              </a:r>
              <a:r>
                <a:rPr lang="en-GB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genetic 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   </a:t>
              </a: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Association Score</a:t>
              </a:r>
              <a:endParaRPr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  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from </a:t>
              </a: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OT Platform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653" name="Google Shape;653;g3ec125ed16e_0_192"/>
            <p:cNvSpPr txBox="1"/>
            <p:nvPr/>
          </p:nvSpPr>
          <p:spPr>
            <a:xfrm>
              <a:off x="877920" y="3286600"/>
              <a:ext cx="789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600">
                  <a:solidFill>
                    <a:srgbClr val="5A5F5F"/>
                  </a:solidFill>
                  <a:latin typeface="Roboto"/>
                  <a:ea typeface="Roboto"/>
                  <a:cs typeface="Roboto"/>
                  <a:sym typeface="Roboto"/>
                </a:rPr>
                <a:t>…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4" name="Google Shape;654;g3ec125ed16e_0_192"/>
          <p:cNvGrpSpPr/>
          <p:nvPr/>
        </p:nvGrpSpPr>
        <p:grpSpPr>
          <a:xfrm>
            <a:off x="4631463" y="1370900"/>
            <a:ext cx="2054096" cy="3246298"/>
            <a:chOff x="4574879" y="1370900"/>
            <a:chExt cx="2054096" cy="3246298"/>
          </a:xfrm>
        </p:grpSpPr>
        <p:sp>
          <p:nvSpPr>
            <p:cNvPr id="655" name="Google Shape;655;g3ec125ed16e_0_192"/>
            <p:cNvSpPr/>
            <p:nvPr/>
          </p:nvSpPr>
          <p:spPr>
            <a:xfrm rot="-5400000">
              <a:off x="5278975" y="740900"/>
              <a:ext cx="720000" cy="1980000"/>
            </a:xfrm>
            <a:prstGeom prst="flowChartOffpageConnector">
              <a:avLst/>
            </a:prstGeom>
            <a:solidFill>
              <a:srgbClr val="CC3034">
                <a:alpha val="62660"/>
              </a:srgbClr>
            </a:solidFill>
            <a:ln w="1905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6" name="Google Shape;656;g3ec125ed16e_0_192"/>
            <p:cNvSpPr txBox="1"/>
            <p:nvPr/>
          </p:nvSpPr>
          <p:spPr>
            <a:xfrm>
              <a:off x="4687350" y="1453850"/>
              <a:ext cx="1584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GSEA</a:t>
              </a:r>
              <a:endParaRPr sz="2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57" name="Google Shape;657;g3ec125ed16e_0_192"/>
            <p:cNvSpPr/>
            <p:nvPr/>
          </p:nvSpPr>
          <p:spPr>
            <a:xfrm>
              <a:off x="4574879" y="3897198"/>
              <a:ext cx="1979700" cy="720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finds </a:t>
              </a: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pathways 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where </a:t>
              </a: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genes </a:t>
              </a:r>
              <a:r>
                <a:rPr lang="en-GB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occur </a:t>
              </a:r>
              <a:r>
                <a:rPr lang="en-GB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more often than expected by chance</a:t>
              </a:r>
              <a:endParaRPr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58" name="Google Shape;658;g3ec125ed16e_0_1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00336" y="2357713"/>
              <a:ext cx="1804035" cy="1272675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pic>
      </p:grpSp>
      <p:grpSp>
        <p:nvGrpSpPr>
          <p:cNvPr id="659" name="Google Shape;659;g3ec125ed16e_0_192"/>
          <p:cNvGrpSpPr/>
          <p:nvPr/>
        </p:nvGrpSpPr>
        <p:grpSpPr>
          <a:xfrm>
            <a:off x="2374299" y="1370900"/>
            <a:ext cx="2160672" cy="3184950"/>
            <a:chOff x="2374299" y="1370900"/>
            <a:chExt cx="2160672" cy="3184950"/>
          </a:xfrm>
        </p:grpSpPr>
        <p:grpSp>
          <p:nvGrpSpPr>
            <p:cNvPr id="660" name="Google Shape;660;g3ec125ed16e_0_192"/>
            <p:cNvGrpSpPr/>
            <p:nvPr/>
          </p:nvGrpSpPr>
          <p:grpSpPr>
            <a:xfrm>
              <a:off x="2391098" y="1370900"/>
              <a:ext cx="2143872" cy="3184950"/>
              <a:chOff x="2302493" y="1370900"/>
              <a:chExt cx="2143872" cy="3184950"/>
            </a:xfrm>
          </p:grpSpPr>
          <p:grpSp>
            <p:nvGrpSpPr>
              <p:cNvPr id="661" name="Google Shape;661;g3ec125ed16e_0_192"/>
              <p:cNvGrpSpPr/>
              <p:nvPr/>
            </p:nvGrpSpPr>
            <p:grpSpPr>
              <a:xfrm>
                <a:off x="3310432" y="2370791"/>
                <a:ext cx="1036715" cy="1078271"/>
                <a:chOff x="3420232" y="2306133"/>
                <a:chExt cx="1036715" cy="1078271"/>
              </a:xfrm>
            </p:grpSpPr>
            <p:sp>
              <p:nvSpPr>
                <p:cNvPr id="662" name="Google Shape;662;g3ec125ed16e_0_192"/>
                <p:cNvSpPr/>
                <p:nvPr/>
              </p:nvSpPr>
              <p:spPr>
                <a:xfrm>
                  <a:off x="3420232" y="2308254"/>
                  <a:ext cx="313800" cy="313800"/>
                </a:xfrm>
                <a:prstGeom prst="ellipse">
                  <a:avLst/>
                </a:prstGeom>
                <a:solidFill>
                  <a:srgbClr val="1A456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63" name="Google Shape;663;g3ec125ed16e_0_192"/>
                <p:cNvSpPr/>
                <p:nvPr/>
              </p:nvSpPr>
              <p:spPr>
                <a:xfrm>
                  <a:off x="3420232" y="2689417"/>
                  <a:ext cx="313800" cy="313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>
                    <a:solidFill>
                      <a:srgbClr val="1A456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64" name="Google Shape;664;g3ec125ed16e_0_192"/>
                <p:cNvSpPr/>
                <p:nvPr/>
              </p:nvSpPr>
              <p:spPr>
                <a:xfrm>
                  <a:off x="3420232" y="3070604"/>
                  <a:ext cx="313800" cy="313800"/>
                </a:xfrm>
                <a:prstGeom prst="ellipse">
                  <a:avLst/>
                </a:prstGeom>
                <a:solidFill>
                  <a:srgbClr val="71ACD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65" name="Google Shape;665;g3ec125ed16e_0_192"/>
                <p:cNvSpPr/>
                <p:nvPr/>
              </p:nvSpPr>
              <p:spPr>
                <a:xfrm>
                  <a:off x="3781690" y="2306133"/>
                  <a:ext cx="313800" cy="313800"/>
                </a:xfrm>
                <a:prstGeom prst="ellipse">
                  <a:avLst/>
                </a:prstGeom>
                <a:solidFill>
                  <a:srgbClr val="3489C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66" name="Google Shape;666;g3ec125ed16e_0_192"/>
                <p:cNvSpPr/>
                <p:nvPr/>
              </p:nvSpPr>
              <p:spPr>
                <a:xfrm>
                  <a:off x="3781690" y="2687296"/>
                  <a:ext cx="313800" cy="313800"/>
                </a:xfrm>
                <a:prstGeom prst="ellipse">
                  <a:avLst/>
                </a:prstGeom>
                <a:solidFill>
                  <a:srgbClr val="71ACD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>
                    <a:solidFill>
                      <a:srgbClr val="1A456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67" name="Google Shape;667;g3ec125ed16e_0_192"/>
                <p:cNvSpPr/>
                <p:nvPr/>
              </p:nvSpPr>
              <p:spPr>
                <a:xfrm>
                  <a:off x="3781690" y="3068483"/>
                  <a:ext cx="313800" cy="313800"/>
                </a:xfrm>
                <a:prstGeom prst="ellipse">
                  <a:avLst/>
                </a:pr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68" name="Google Shape;668;g3ec125ed16e_0_192"/>
                <p:cNvSpPr/>
                <p:nvPr/>
              </p:nvSpPr>
              <p:spPr>
                <a:xfrm>
                  <a:off x="4143147" y="3066363"/>
                  <a:ext cx="313800" cy="313800"/>
                </a:xfrm>
                <a:prstGeom prst="ellipse">
                  <a:avLst/>
                </a:prstGeom>
                <a:solidFill>
                  <a:srgbClr val="E2E2E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669" name="Google Shape;669;g3ec125ed16e_0_192"/>
              <p:cNvGrpSpPr/>
              <p:nvPr/>
            </p:nvGrpSpPr>
            <p:grpSpPr>
              <a:xfrm>
                <a:off x="3301956" y="2309289"/>
                <a:ext cx="1144409" cy="1200480"/>
                <a:chOff x="3411757" y="2244631"/>
                <a:chExt cx="1144409" cy="1200480"/>
              </a:xfrm>
            </p:grpSpPr>
            <p:sp>
              <p:nvSpPr>
                <p:cNvPr id="670" name="Google Shape;670;g3ec125ed16e_0_192"/>
                <p:cNvSpPr txBox="1"/>
                <p:nvPr/>
              </p:nvSpPr>
              <p:spPr>
                <a:xfrm>
                  <a:off x="3420229" y="2246752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1</a:t>
                  </a:r>
                  <a:endParaRPr sz="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71" name="Google Shape;671;g3ec125ed16e_0_192"/>
                <p:cNvSpPr txBox="1"/>
                <p:nvPr/>
              </p:nvSpPr>
              <p:spPr>
                <a:xfrm>
                  <a:off x="3411757" y="2637090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1</a:t>
                  </a:r>
                  <a:endParaRPr sz="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72" name="Google Shape;672;g3ec125ed16e_0_192"/>
                <p:cNvSpPr txBox="1"/>
                <p:nvPr/>
              </p:nvSpPr>
              <p:spPr>
                <a:xfrm>
                  <a:off x="3412497" y="3011965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3</a:t>
                  </a:r>
                  <a:endParaRPr sz="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73" name="Google Shape;673;g3ec125ed16e_0_192"/>
                <p:cNvSpPr txBox="1"/>
                <p:nvPr/>
              </p:nvSpPr>
              <p:spPr>
                <a:xfrm>
                  <a:off x="3775879" y="2244631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2</a:t>
                  </a:r>
                  <a:endParaRPr sz="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74" name="Google Shape;674;g3ec125ed16e_0_192"/>
                <p:cNvSpPr txBox="1"/>
                <p:nvPr/>
              </p:nvSpPr>
              <p:spPr>
                <a:xfrm>
                  <a:off x="3773215" y="2634969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3</a:t>
                  </a:r>
                  <a:endParaRPr sz="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75" name="Google Shape;675;g3ec125ed16e_0_192"/>
                <p:cNvSpPr txBox="1"/>
                <p:nvPr/>
              </p:nvSpPr>
              <p:spPr>
                <a:xfrm>
                  <a:off x="3773955" y="3009844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4</a:t>
                  </a:r>
                  <a:endParaRPr sz="600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676" name="Google Shape;676;g3ec125ed16e_0_192"/>
                <p:cNvSpPr txBox="1"/>
                <p:nvPr/>
              </p:nvSpPr>
              <p:spPr>
                <a:xfrm>
                  <a:off x="4138266" y="3014011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5</a:t>
                  </a:r>
                  <a:endParaRPr sz="600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677" name="Google Shape;677;g3ec125ed16e_0_192"/>
              <p:cNvSpPr txBox="1"/>
              <p:nvPr/>
            </p:nvSpPr>
            <p:spPr>
              <a:xfrm>
                <a:off x="3118145" y="1383325"/>
                <a:ext cx="1168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g3ec125ed16e_0_192"/>
              <p:cNvSpPr/>
              <p:nvPr/>
            </p:nvSpPr>
            <p:spPr>
              <a:xfrm>
                <a:off x="2373558" y="1370900"/>
                <a:ext cx="1980000" cy="720000"/>
              </a:xfrm>
              <a:prstGeom prst="rect">
                <a:avLst/>
              </a:prstGeom>
              <a:solidFill>
                <a:srgbClr val="3182BD"/>
              </a:solidFill>
              <a:ln w="19050" cap="flat" cmpd="sng">
                <a:solidFill>
                  <a:srgbClr val="FFFF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Canonical pathways</a:t>
                </a:r>
                <a:endParaRPr sz="1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679" name="Google Shape;679;g3ec125ed16e_0_192"/>
              <p:cNvSpPr txBox="1"/>
              <p:nvPr/>
            </p:nvSpPr>
            <p:spPr>
              <a:xfrm>
                <a:off x="2302493" y="2314630"/>
                <a:ext cx="1227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5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Pathway 1</a:t>
                </a:r>
                <a:endParaRPr sz="15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80" name="Google Shape;680;g3ec125ed16e_0_192"/>
              <p:cNvSpPr txBox="1"/>
              <p:nvPr/>
            </p:nvSpPr>
            <p:spPr>
              <a:xfrm>
                <a:off x="2302494" y="2695805"/>
                <a:ext cx="13086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5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Pathway 2</a:t>
                </a:r>
                <a:endParaRPr sz="15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81" name="Google Shape;681;g3ec125ed16e_0_192"/>
              <p:cNvSpPr txBox="1"/>
              <p:nvPr/>
            </p:nvSpPr>
            <p:spPr>
              <a:xfrm>
                <a:off x="2302494" y="3073730"/>
                <a:ext cx="13086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5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Pathway 3</a:t>
                </a:r>
                <a:endParaRPr sz="15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682" name="Google Shape;682;g3ec125ed16e_0_192"/>
              <p:cNvGrpSpPr/>
              <p:nvPr/>
            </p:nvGrpSpPr>
            <p:grpSpPr>
              <a:xfrm>
                <a:off x="2373506" y="3959058"/>
                <a:ext cx="1980124" cy="596262"/>
                <a:chOff x="302678" y="1887378"/>
                <a:chExt cx="3430569" cy="1033024"/>
              </a:xfrm>
            </p:grpSpPr>
            <p:pic>
              <p:nvPicPr>
                <p:cNvPr id="683" name="Google Shape;683;g3ec125ed16e_0_192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2104850" y="1941770"/>
                  <a:ext cx="1628397" cy="4196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84" name="Google Shape;684;g3ec125ed16e_0_192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446228" y="1887378"/>
                  <a:ext cx="1552380" cy="4741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85" name="Google Shape;685;g3ec125ed16e_0_192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302678" y="2500718"/>
                  <a:ext cx="1839508" cy="41968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686" name="Google Shape;686;g3ec125ed16e_0_19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480044" y="4312346"/>
                <a:ext cx="797739" cy="243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7" name="Google Shape;687;g3ec125ed16e_0_192"/>
              <p:cNvSpPr/>
              <p:nvPr/>
            </p:nvSpPr>
            <p:spPr>
              <a:xfrm>
                <a:off x="4033339" y="2373278"/>
                <a:ext cx="313800" cy="313800"/>
              </a:xfrm>
              <a:prstGeom prst="ellipse">
                <a:avLst/>
              </a:prstGeom>
              <a:solidFill>
                <a:srgbClr val="71AC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1A456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88" name="Google Shape;688;g3ec125ed16e_0_192"/>
              <p:cNvSpPr txBox="1"/>
              <p:nvPr/>
            </p:nvSpPr>
            <p:spPr>
              <a:xfrm>
                <a:off x="4010329" y="2314627"/>
                <a:ext cx="41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</a:t>
                </a:r>
                <a:r>
                  <a:rPr lang="en-GB" sz="8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sz="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89" name="Google Shape;689;g3ec125ed16e_0_192"/>
              <p:cNvSpPr txBox="1"/>
              <p:nvPr/>
            </p:nvSpPr>
            <p:spPr>
              <a:xfrm>
                <a:off x="2363774" y="3290707"/>
                <a:ext cx="9195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600">
                    <a:solidFill>
                      <a:srgbClr val="5A5F5F"/>
                    </a:solidFill>
                    <a:latin typeface="Roboto"/>
                    <a:ea typeface="Roboto"/>
                    <a:cs typeface="Roboto"/>
                    <a:sym typeface="Roboto"/>
                  </a:rPr>
                  <a:t>…</a:t>
                </a:r>
                <a:endParaRPr sz="16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690" name="Google Shape;690;g3ec125ed16e_0_192"/>
            <p:cNvSpPr/>
            <p:nvPr/>
          </p:nvSpPr>
          <p:spPr>
            <a:xfrm>
              <a:off x="2374299" y="2514650"/>
              <a:ext cx="69900" cy="10614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1" name="Google Shape;691;g3ec125ed16e_0_192"/>
            <p:cNvSpPr/>
            <p:nvPr/>
          </p:nvSpPr>
          <p:spPr>
            <a:xfrm>
              <a:off x="2390503" y="2514650"/>
              <a:ext cx="53700" cy="3972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2" name="Google Shape;692;g3ec125ed16e_0_192"/>
          <p:cNvGrpSpPr/>
          <p:nvPr/>
        </p:nvGrpSpPr>
        <p:grpSpPr>
          <a:xfrm>
            <a:off x="6771793" y="1370900"/>
            <a:ext cx="2130007" cy="3246300"/>
            <a:chOff x="6771793" y="1370900"/>
            <a:chExt cx="2130007" cy="3246300"/>
          </a:xfrm>
        </p:grpSpPr>
        <p:grpSp>
          <p:nvGrpSpPr>
            <p:cNvPr id="693" name="Google Shape;693;g3ec125ed16e_0_192"/>
            <p:cNvGrpSpPr/>
            <p:nvPr/>
          </p:nvGrpSpPr>
          <p:grpSpPr>
            <a:xfrm>
              <a:off x="6771793" y="1370900"/>
              <a:ext cx="2130007" cy="3246300"/>
              <a:chOff x="6771793" y="1370900"/>
              <a:chExt cx="2130007" cy="3246300"/>
            </a:xfrm>
          </p:grpSpPr>
          <p:sp>
            <p:nvSpPr>
              <p:cNvPr id="694" name="Google Shape;694;g3ec125ed16e_0_192"/>
              <p:cNvSpPr/>
              <p:nvPr/>
            </p:nvSpPr>
            <p:spPr>
              <a:xfrm>
                <a:off x="6852300" y="1370900"/>
                <a:ext cx="1980000" cy="720000"/>
              </a:xfrm>
              <a:prstGeom prst="rect">
                <a:avLst/>
              </a:prstGeom>
              <a:solidFill>
                <a:schemeClr val="dk1"/>
              </a:solidFill>
              <a:ln w="19050" cap="flat" cmpd="sng">
                <a:solidFill>
                  <a:srgbClr val="FFFF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Disease pathways</a:t>
                </a:r>
                <a:endParaRPr sz="1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695" name="Google Shape;695;g3ec125ed16e_0_192"/>
              <p:cNvGrpSpPr/>
              <p:nvPr/>
            </p:nvGrpSpPr>
            <p:grpSpPr>
              <a:xfrm>
                <a:off x="6771793" y="1383325"/>
                <a:ext cx="2129932" cy="2027269"/>
                <a:chOff x="2302493" y="1383325"/>
                <a:chExt cx="2129932" cy="2027269"/>
              </a:xfrm>
            </p:grpSpPr>
            <p:grpSp>
              <p:nvGrpSpPr>
                <p:cNvPr id="696" name="Google Shape;696;g3ec125ed16e_0_192"/>
                <p:cNvGrpSpPr/>
                <p:nvPr/>
              </p:nvGrpSpPr>
              <p:grpSpPr>
                <a:xfrm>
                  <a:off x="3310432" y="2370791"/>
                  <a:ext cx="1036740" cy="697083"/>
                  <a:chOff x="3420232" y="2306133"/>
                  <a:chExt cx="1036740" cy="697083"/>
                </a:xfrm>
              </p:grpSpPr>
              <p:sp>
                <p:nvSpPr>
                  <p:cNvPr id="697" name="Google Shape;697;g3ec125ed16e_0_192"/>
                  <p:cNvSpPr/>
                  <p:nvPr/>
                </p:nvSpPr>
                <p:spPr>
                  <a:xfrm>
                    <a:off x="3420232" y="2308254"/>
                    <a:ext cx="313800" cy="313800"/>
                  </a:xfrm>
                  <a:prstGeom prst="ellipse">
                    <a:avLst/>
                  </a:prstGeom>
                  <a:solidFill>
                    <a:srgbClr val="1A456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698" name="Google Shape;698;g3ec125ed16e_0_192"/>
                  <p:cNvSpPr/>
                  <p:nvPr/>
                </p:nvSpPr>
                <p:spPr>
                  <a:xfrm>
                    <a:off x="3420232" y="2689417"/>
                    <a:ext cx="313800" cy="313800"/>
                  </a:xfrm>
                  <a:prstGeom prst="ellipse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>
                      <a:solidFill>
                        <a:srgbClr val="1A4565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699" name="Google Shape;699;g3ec125ed16e_0_192"/>
                  <p:cNvSpPr/>
                  <p:nvPr/>
                </p:nvSpPr>
                <p:spPr>
                  <a:xfrm>
                    <a:off x="3781690" y="2306133"/>
                    <a:ext cx="313800" cy="313800"/>
                  </a:xfrm>
                  <a:prstGeom prst="ellipse">
                    <a:avLst/>
                  </a:prstGeom>
                  <a:solidFill>
                    <a:srgbClr val="3489C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00" name="Google Shape;700;g3ec125ed16e_0_192"/>
                  <p:cNvSpPr/>
                  <p:nvPr/>
                </p:nvSpPr>
                <p:spPr>
                  <a:xfrm>
                    <a:off x="3781690" y="2687296"/>
                    <a:ext cx="313800" cy="313800"/>
                  </a:xfrm>
                  <a:prstGeom prst="ellipse">
                    <a:avLst/>
                  </a:prstGeom>
                  <a:solidFill>
                    <a:srgbClr val="71ACD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100">
                      <a:solidFill>
                        <a:srgbClr val="1A4565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01" name="Google Shape;701;g3ec125ed16e_0_192"/>
                  <p:cNvSpPr/>
                  <p:nvPr/>
                </p:nvSpPr>
                <p:spPr>
                  <a:xfrm>
                    <a:off x="4143172" y="2681988"/>
                    <a:ext cx="313800" cy="313800"/>
                  </a:xfrm>
                  <a:prstGeom prst="ellipse">
                    <a:avLst/>
                  </a:prstGeom>
                  <a:solidFill>
                    <a:srgbClr val="E2E2E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grpSp>
              <p:nvGrpSpPr>
                <p:cNvPr id="702" name="Google Shape;702;g3ec125ed16e_0_192"/>
                <p:cNvGrpSpPr/>
                <p:nvPr/>
              </p:nvGrpSpPr>
              <p:grpSpPr>
                <a:xfrm>
                  <a:off x="3301956" y="2309289"/>
                  <a:ext cx="1130469" cy="823559"/>
                  <a:chOff x="3411757" y="2244631"/>
                  <a:chExt cx="1130469" cy="823559"/>
                </a:xfrm>
              </p:grpSpPr>
              <p:sp>
                <p:nvSpPr>
                  <p:cNvPr id="703" name="Google Shape;703;g3ec125ed16e_0_192"/>
                  <p:cNvSpPr txBox="1"/>
                  <p:nvPr/>
                </p:nvSpPr>
                <p:spPr>
                  <a:xfrm>
                    <a:off x="3420229" y="2246752"/>
                    <a:ext cx="417900" cy="431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</a:t>
                    </a:r>
                    <a:r>
                      <a:rPr lang="en-GB" sz="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1</a:t>
                    </a:r>
                    <a:endParaRPr sz="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04" name="Google Shape;704;g3ec125ed16e_0_192"/>
                  <p:cNvSpPr txBox="1"/>
                  <p:nvPr/>
                </p:nvSpPr>
                <p:spPr>
                  <a:xfrm>
                    <a:off x="3411757" y="2637090"/>
                    <a:ext cx="417900" cy="431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</a:t>
                    </a:r>
                    <a:r>
                      <a:rPr lang="en-GB" sz="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1</a:t>
                    </a:r>
                    <a:endParaRPr sz="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05" name="Google Shape;705;g3ec125ed16e_0_192"/>
                  <p:cNvSpPr txBox="1"/>
                  <p:nvPr/>
                </p:nvSpPr>
                <p:spPr>
                  <a:xfrm>
                    <a:off x="3775879" y="2244631"/>
                    <a:ext cx="417900" cy="431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</a:t>
                    </a:r>
                    <a:r>
                      <a:rPr lang="en-GB" sz="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2</a:t>
                    </a:r>
                    <a:endParaRPr sz="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06" name="Google Shape;706;g3ec125ed16e_0_192"/>
                  <p:cNvSpPr txBox="1"/>
                  <p:nvPr/>
                </p:nvSpPr>
                <p:spPr>
                  <a:xfrm>
                    <a:off x="3773215" y="2634969"/>
                    <a:ext cx="417900" cy="431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</a:t>
                    </a:r>
                    <a:r>
                      <a:rPr lang="en-GB" sz="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3</a:t>
                    </a:r>
                    <a:endParaRPr sz="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707" name="Google Shape;707;g3ec125ed16e_0_192"/>
                  <p:cNvSpPr txBox="1"/>
                  <p:nvPr/>
                </p:nvSpPr>
                <p:spPr>
                  <a:xfrm>
                    <a:off x="4124326" y="2623348"/>
                    <a:ext cx="417900" cy="431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6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T</a:t>
                    </a:r>
                    <a:r>
                      <a:rPr lang="en-GB" sz="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rPr>
                      <a:t>5</a:t>
                    </a:r>
                    <a:endParaRPr sz="600">
                      <a:solidFill>
                        <a:schemeClr val="dk2"/>
                      </a:solidFill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708" name="Google Shape;708;g3ec125ed16e_0_192"/>
                <p:cNvSpPr txBox="1"/>
                <p:nvPr/>
              </p:nvSpPr>
              <p:spPr>
                <a:xfrm>
                  <a:off x="3118145" y="1383325"/>
                  <a:ext cx="1168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g3ec125ed16e_0_192"/>
                <p:cNvSpPr txBox="1"/>
                <p:nvPr/>
              </p:nvSpPr>
              <p:spPr>
                <a:xfrm>
                  <a:off x="2302493" y="2314630"/>
                  <a:ext cx="1227000" cy="4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500">
                      <a:solidFill>
                        <a:srgbClr val="5A5F5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Pathway 1</a:t>
                  </a:r>
                  <a:endParaRPr sz="15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710" name="Google Shape;710;g3ec125ed16e_0_192"/>
                <p:cNvSpPr txBox="1"/>
                <p:nvPr/>
              </p:nvSpPr>
              <p:spPr>
                <a:xfrm>
                  <a:off x="2302494" y="2695805"/>
                  <a:ext cx="1308600" cy="415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500">
                      <a:solidFill>
                        <a:srgbClr val="5A5F5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Pathway 2</a:t>
                  </a:r>
                  <a:endParaRPr sz="15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711" name="Google Shape;711;g3ec125ed16e_0_192"/>
                <p:cNvSpPr/>
                <p:nvPr/>
              </p:nvSpPr>
              <p:spPr>
                <a:xfrm>
                  <a:off x="4033339" y="2373278"/>
                  <a:ext cx="313800" cy="313800"/>
                </a:xfrm>
                <a:prstGeom prst="ellipse">
                  <a:avLst/>
                </a:prstGeom>
                <a:solidFill>
                  <a:srgbClr val="71ACD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>
                    <a:solidFill>
                      <a:srgbClr val="1A4565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712" name="Google Shape;712;g3ec125ed16e_0_192"/>
                <p:cNvSpPr txBox="1"/>
                <p:nvPr/>
              </p:nvSpPr>
              <p:spPr>
                <a:xfrm>
                  <a:off x="4010329" y="2314627"/>
                  <a:ext cx="417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6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T</a:t>
                  </a:r>
                  <a:r>
                    <a:rPr lang="en-GB" sz="800">
                      <a:solidFill>
                        <a:srgbClr val="FFFFF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3</a:t>
                  </a:r>
                  <a:endParaRPr sz="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713" name="Google Shape;713;g3ec125ed16e_0_192"/>
                <p:cNvSpPr txBox="1"/>
                <p:nvPr/>
              </p:nvSpPr>
              <p:spPr>
                <a:xfrm>
                  <a:off x="2363774" y="2979494"/>
                  <a:ext cx="9195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600">
                      <a:solidFill>
                        <a:srgbClr val="5A5F5F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…</a:t>
                  </a:r>
                  <a:endParaRPr sz="160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714" name="Google Shape;714;g3ec125ed16e_0_192"/>
              <p:cNvSpPr/>
              <p:nvPr/>
            </p:nvSpPr>
            <p:spPr>
              <a:xfrm>
                <a:off x="6771800" y="3897200"/>
                <a:ext cx="2130000" cy="720000"/>
              </a:xfrm>
              <a:prstGeom prst="rect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pathways </a:t>
                </a:r>
                <a:r>
                  <a:rPr lang="en-GB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enriched by targets with genetics support</a:t>
                </a:r>
                <a:endParaRPr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15" name="Google Shape;715;g3ec125ed16e_0_192"/>
            <p:cNvSpPr/>
            <p:nvPr/>
          </p:nvSpPr>
          <p:spPr>
            <a:xfrm>
              <a:off x="6772673" y="2514650"/>
              <a:ext cx="69900" cy="733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6" name="Google Shape;716;g3ec125ed16e_0_192"/>
            <p:cNvSpPr/>
            <p:nvPr/>
          </p:nvSpPr>
          <p:spPr>
            <a:xfrm>
              <a:off x="6788858" y="2514650"/>
              <a:ext cx="53700" cy="3972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g3ec125ed16e_0_276" title="Screenshot 2026-02-05 at 13.10.10.png"/>
          <p:cNvPicPr preferRelativeResize="0"/>
          <p:nvPr/>
        </p:nvPicPr>
        <p:blipFill rotWithShape="1">
          <a:blip r:embed="rId3">
            <a:alphaModFix/>
          </a:blip>
          <a:srcRect t="10184" r="47263" b="82770"/>
          <a:stretch/>
        </p:blipFill>
        <p:spPr>
          <a:xfrm>
            <a:off x="311700" y="1204926"/>
            <a:ext cx="5121377" cy="300274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22" name="Google Shape;722;g3ec125ed16e_0_276" title="Screenshot 2026-02-05 at 13.10.10.png"/>
          <p:cNvPicPr preferRelativeResize="0"/>
          <p:nvPr/>
        </p:nvPicPr>
        <p:blipFill rotWithShape="1">
          <a:blip r:embed="rId3">
            <a:alphaModFix/>
          </a:blip>
          <a:srcRect l="1588" t="23814" r="22424" b="11840"/>
          <a:stretch/>
        </p:blipFill>
        <p:spPr>
          <a:xfrm>
            <a:off x="311700" y="1586777"/>
            <a:ext cx="5746198" cy="213514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723" name="Google Shape;723;g3ec125ed16e_0_276"/>
          <p:cNvGrpSpPr/>
          <p:nvPr/>
        </p:nvGrpSpPr>
        <p:grpSpPr>
          <a:xfrm>
            <a:off x="4847600" y="853316"/>
            <a:ext cx="4416825" cy="3685409"/>
            <a:chOff x="4847600" y="853316"/>
            <a:chExt cx="4416825" cy="3685409"/>
          </a:xfrm>
        </p:grpSpPr>
        <p:sp>
          <p:nvSpPr>
            <p:cNvPr id="724" name="Google Shape;724;g3ec125ed16e_0_276"/>
            <p:cNvSpPr/>
            <p:nvPr/>
          </p:nvSpPr>
          <p:spPr>
            <a:xfrm>
              <a:off x="5741525" y="1147525"/>
              <a:ext cx="3522900" cy="3391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25" name="Google Shape;725;g3ec125ed16e_0_276" title="Adobe Express - file (1).png"/>
            <p:cNvPicPr preferRelativeResize="0"/>
            <p:nvPr/>
          </p:nvPicPr>
          <p:blipFill rotWithShape="1">
            <a:blip r:embed="rId4">
              <a:alphaModFix/>
            </a:blip>
            <a:srcRect l="14807" t="16279" r="68069" b="60944"/>
            <a:stretch/>
          </p:blipFill>
          <p:spPr>
            <a:xfrm>
              <a:off x="5273452" y="853316"/>
              <a:ext cx="1027324" cy="12909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6" name="Google Shape;726;g3ec125ed16e_0_276" title="Adobe Express - file (1).png"/>
            <p:cNvPicPr preferRelativeResize="0"/>
            <p:nvPr/>
          </p:nvPicPr>
          <p:blipFill rotWithShape="1">
            <a:blip r:embed="rId4">
              <a:alphaModFix/>
            </a:blip>
            <a:srcRect l="5861" t="62542" r="68069" b="9863"/>
            <a:stretch/>
          </p:blipFill>
          <p:spPr>
            <a:xfrm>
              <a:off x="4847600" y="2765724"/>
              <a:ext cx="1564024" cy="1564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7" name="Google Shape;727;g3ec125ed16e_0_2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Alzheimer's disease-inferred pathways</a:t>
            </a:r>
            <a:endParaRPr>
              <a:highlight>
                <a:srgbClr val="FFFFFF"/>
              </a:highlight>
            </a:endParaRPr>
          </a:p>
        </p:txBody>
      </p:sp>
      <p:grpSp>
        <p:nvGrpSpPr>
          <p:cNvPr id="728" name="Google Shape;728;g3ec125ed16e_0_276"/>
          <p:cNvGrpSpPr/>
          <p:nvPr/>
        </p:nvGrpSpPr>
        <p:grpSpPr>
          <a:xfrm>
            <a:off x="4709858" y="364500"/>
            <a:ext cx="4364442" cy="4123175"/>
            <a:chOff x="4709858" y="364500"/>
            <a:chExt cx="4364442" cy="4123175"/>
          </a:xfrm>
        </p:grpSpPr>
        <p:pic>
          <p:nvPicPr>
            <p:cNvPr id="729" name="Google Shape;729;g3ec125ed16e_0_276" title="Adobe Express - file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9858" y="364500"/>
              <a:ext cx="4364442" cy="41231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0" name="Google Shape;730;g3ec125ed16e_0_276"/>
            <p:cNvGrpSpPr/>
            <p:nvPr/>
          </p:nvGrpSpPr>
          <p:grpSpPr>
            <a:xfrm>
              <a:off x="6628078" y="2036034"/>
              <a:ext cx="1601967" cy="1601967"/>
              <a:chOff x="2365625" y="-68575"/>
              <a:chExt cx="1086300" cy="1086300"/>
            </a:xfrm>
          </p:grpSpPr>
          <p:sp>
            <p:nvSpPr>
              <p:cNvPr id="731" name="Google Shape;731;g3ec125ed16e_0_276"/>
              <p:cNvSpPr/>
              <p:nvPr/>
            </p:nvSpPr>
            <p:spPr>
              <a:xfrm>
                <a:off x="2365625" y="-68575"/>
                <a:ext cx="1086300" cy="1086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34525" tIns="134525" rIns="134525" bIns="1345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6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732" name="Google Shape;732;g3ec125ed16e_0_276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426300" y="364500"/>
                <a:ext cx="964950" cy="220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33" name="Google Shape;733;g3ec125ed16e_0_276"/>
          <p:cNvSpPr/>
          <p:nvPr/>
        </p:nvSpPr>
        <p:spPr>
          <a:xfrm>
            <a:off x="7783375" y="1077300"/>
            <a:ext cx="11418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D7D79"/>
                </a:solidFill>
                <a:latin typeface="Roboto Medium"/>
                <a:ea typeface="Roboto Medium"/>
                <a:cs typeface="Roboto Medium"/>
                <a:sym typeface="Roboto Medium"/>
              </a:rPr>
              <a:t>NES &gt; 2.8</a:t>
            </a:r>
            <a:endParaRPr sz="1000">
              <a:solidFill>
                <a:srgbClr val="7D7D7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D7D79"/>
                </a:solidFill>
                <a:latin typeface="Roboto Medium"/>
                <a:ea typeface="Roboto Medium"/>
                <a:cs typeface="Roboto Medium"/>
                <a:sym typeface="Roboto Medium"/>
              </a:rPr>
              <a:t>FDR &lt; 0.05</a:t>
            </a:r>
            <a:endParaRPr sz="1000">
              <a:solidFill>
                <a:srgbClr val="7D7D7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34" name="Google Shape;734;g3ec125ed16e_0_276"/>
          <p:cNvSpPr txBox="1"/>
          <p:nvPr/>
        </p:nvSpPr>
        <p:spPr>
          <a:xfrm>
            <a:off x="7653900" y="0"/>
            <a:ext cx="1490100" cy="492600"/>
          </a:xfrm>
          <a:prstGeom prst="rect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highlight>
                  <a:srgbClr val="3489CA"/>
                </a:highlight>
                <a:latin typeface="Trebuchet MS"/>
                <a:ea typeface="Trebuchet MS"/>
                <a:cs typeface="Trebuchet MS"/>
                <a:sym typeface="Trebuchet MS"/>
              </a:rPr>
              <a:t>NeuroFlux </a:t>
            </a:r>
            <a:endParaRPr sz="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g3ec125ed16e_0_292" title="Screenshot 2026-02-05 at 13.10.10.png"/>
          <p:cNvPicPr preferRelativeResize="0"/>
          <p:nvPr/>
        </p:nvPicPr>
        <p:blipFill rotWithShape="1">
          <a:blip r:embed="rId3">
            <a:alphaModFix/>
          </a:blip>
          <a:srcRect t="10184" r="47263" b="82770"/>
          <a:stretch/>
        </p:blipFill>
        <p:spPr>
          <a:xfrm>
            <a:off x="311700" y="1204926"/>
            <a:ext cx="5121377" cy="300274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40" name="Google Shape;740;g3ec125ed16e_0_292" title="Screenshot 2026-02-05 at 13.10.10.png"/>
          <p:cNvPicPr preferRelativeResize="0"/>
          <p:nvPr/>
        </p:nvPicPr>
        <p:blipFill rotWithShape="1">
          <a:blip r:embed="rId3">
            <a:alphaModFix/>
          </a:blip>
          <a:srcRect l="1588" t="23814" r="22424" b="11840"/>
          <a:stretch/>
        </p:blipFill>
        <p:spPr>
          <a:xfrm>
            <a:off x="311700" y="1586777"/>
            <a:ext cx="5746198" cy="2135146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741" name="Google Shape;741;g3ec125ed16e_0_292"/>
          <p:cNvGrpSpPr/>
          <p:nvPr/>
        </p:nvGrpSpPr>
        <p:grpSpPr>
          <a:xfrm>
            <a:off x="4847600" y="853316"/>
            <a:ext cx="4416825" cy="3685409"/>
            <a:chOff x="4847600" y="853316"/>
            <a:chExt cx="4416825" cy="3685409"/>
          </a:xfrm>
        </p:grpSpPr>
        <p:sp>
          <p:nvSpPr>
            <p:cNvPr id="742" name="Google Shape;742;g3ec125ed16e_0_292"/>
            <p:cNvSpPr/>
            <p:nvPr/>
          </p:nvSpPr>
          <p:spPr>
            <a:xfrm>
              <a:off x="5741525" y="1147525"/>
              <a:ext cx="3522900" cy="3391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43" name="Google Shape;743;g3ec125ed16e_0_292" title="Adobe Express - file (1).png"/>
            <p:cNvPicPr preferRelativeResize="0"/>
            <p:nvPr/>
          </p:nvPicPr>
          <p:blipFill rotWithShape="1">
            <a:blip r:embed="rId4">
              <a:alphaModFix/>
            </a:blip>
            <a:srcRect l="14807" t="16279" r="68069" b="60944"/>
            <a:stretch/>
          </p:blipFill>
          <p:spPr>
            <a:xfrm>
              <a:off x="5273452" y="853316"/>
              <a:ext cx="1027324" cy="12909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4" name="Google Shape;744;g3ec125ed16e_0_292" title="Adobe Express - file (1).png"/>
            <p:cNvPicPr preferRelativeResize="0"/>
            <p:nvPr/>
          </p:nvPicPr>
          <p:blipFill rotWithShape="1">
            <a:blip r:embed="rId4">
              <a:alphaModFix/>
            </a:blip>
            <a:srcRect l="5861" t="62542" r="68069" b="9863"/>
            <a:stretch/>
          </p:blipFill>
          <p:spPr>
            <a:xfrm>
              <a:off x="4847600" y="2765724"/>
              <a:ext cx="1564024" cy="1564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5" name="Google Shape;745;g3ec125ed16e_0_2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Alzheimer's disease-inferred pathways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46" name="Google Shape;746;g3ec125ed16e_0_292"/>
          <p:cNvSpPr txBox="1">
            <a:spLocks noGrp="1"/>
          </p:cNvSpPr>
          <p:nvPr>
            <p:ph type="body" idx="1"/>
          </p:nvPr>
        </p:nvSpPr>
        <p:spPr>
          <a:xfrm>
            <a:off x="287000" y="3721925"/>
            <a:ext cx="5676600" cy="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2250" b="1"/>
              <a:t>75</a:t>
            </a:r>
            <a:r>
              <a:rPr lang="en-GB" sz="1600" b="1"/>
              <a:t> additional targets</a:t>
            </a:r>
            <a:r>
              <a:rPr lang="en-GB" sz="1600"/>
              <a:t> with genetic evidence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2250" b="1"/>
              <a:t>9/11 </a:t>
            </a:r>
            <a:r>
              <a:rPr lang="en-GB" sz="1600"/>
              <a:t>of them showed significance in secondary screens</a:t>
            </a:r>
            <a:endParaRPr sz="16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1600"/>
              <a:t>(retrospective evaluation)</a:t>
            </a:r>
            <a:endParaRPr sz="1600"/>
          </a:p>
        </p:txBody>
      </p:sp>
      <p:grpSp>
        <p:nvGrpSpPr>
          <p:cNvPr id="747" name="Google Shape;747;g3ec125ed16e_0_292"/>
          <p:cNvGrpSpPr/>
          <p:nvPr/>
        </p:nvGrpSpPr>
        <p:grpSpPr>
          <a:xfrm>
            <a:off x="4709858" y="364500"/>
            <a:ext cx="4364442" cy="4123175"/>
            <a:chOff x="4709858" y="364500"/>
            <a:chExt cx="4364442" cy="4123175"/>
          </a:xfrm>
        </p:grpSpPr>
        <p:pic>
          <p:nvPicPr>
            <p:cNvPr id="748" name="Google Shape;748;g3ec125ed16e_0_292" title="Adobe Express - file (1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09858" y="364500"/>
              <a:ext cx="4364442" cy="41231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9" name="Google Shape;749;g3ec125ed16e_0_292"/>
            <p:cNvGrpSpPr/>
            <p:nvPr/>
          </p:nvGrpSpPr>
          <p:grpSpPr>
            <a:xfrm>
              <a:off x="6628078" y="2036034"/>
              <a:ext cx="1601967" cy="1601967"/>
              <a:chOff x="2365625" y="-68575"/>
              <a:chExt cx="1086300" cy="1086300"/>
            </a:xfrm>
          </p:grpSpPr>
          <p:sp>
            <p:nvSpPr>
              <p:cNvPr id="750" name="Google Shape;750;g3ec125ed16e_0_292"/>
              <p:cNvSpPr/>
              <p:nvPr/>
            </p:nvSpPr>
            <p:spPr>
              <a:xfrm>
                <a:off x="2365625" y="-68575"/>
                <a:ext cx="1086300" cy="1086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34525" tIns="134525" rIns="134525" bIns="1345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6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751" name="Google Shape;751;g3ec125ed16e_0_292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426300" y="364500"/>
                <a:ext cx="964950" cy="220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52" name="Google Shape;752;g3ec125ed16e_0_292"/>
          <p:cNvSpPr/>
          <p:nvPr/>
        </p:nvSpPr>
        <p:spPr>
          <a:xfrm>
            <a:off x="7783375" y="1077300"/>
            <a:ext cx="11418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D7D79"/>
                </a:solidFill>
                <a:latin typeface="Roboto Medium"/>
                <a:ea typeface="Roboto Medium"/>
                <a:cs typeface="Roboto Medium"/>
                <a:sym typeface="Roboto Medium"/>
              </a:rPr>
              <a:t>NES &gt; 2.8</a:t>
            </a:r>
            <a:endParaRPr sz="1000">
              <a:solidFill>
                <a:srgbClr val="7D7D7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7D7D79"/>
                </a:solidFill>
                <a:latin typeface="Roboto Medium"/>
                <a:ea typeface="Roboto Medium"/>
                <a:cs typeface="Roboto Medium"/>
                <a:sym typeface="Roboto Medium"/>
              </a:rPr>
              <a:t>FDR &lt; 0.05</a:t>
            </a:r>
            <a:endParaRPr sz="1000">
              <a:solidFill>
                <a:srgbClr val="7D7D7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3" name="Google Shape;753;g3ec125ed16e_0_292"/>
          <p:cNvSpPr txBox="1"/>
          <p:nvPr/>
        </p:nvSpPr>
        <p:spPr>
          <a:xfrm>
            <a:off x="7653900" y="0"/>
            <a:ext cx="1490100" cy="492600"/>
          </a:xfrm>
          <a:prstGeom prst="rect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highlight>
                  <a:srgbClr val="3489CA"/>
                </a:highlight>
                <a:latin typeface="Trebuchet MS"/>
                <a:ea typeface="Trebuchet MS"/>
                <a:cs typeface="Trebuchet MS"/>
                <a:sym typeface="Trebuchet MS"/>
              </a:rPr>
              <a:t>NeuroFlux </a:t>
            </a:r>
            <a:endParaRPr sz="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ebb87fa4af_0_2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Genetically-inferred disease pathways catalogue</a:t>
            </a:r>
            <a:endParaRPr dirty="0"/>
          </a:p>
        </p:txBody>
      </p:sp>
      <p:sp>
        <p:nvSpPr>
          <p:cNvPr id="859" name="Google Shape;859;g3ebb87fa4af_0_274"/>
          <p:cNvSpPr/>
          <p:nvPr/>
        </p:nvSpPr>
        <p:spPr>
          <a:xfrm>
            <a:off x="5829300" y="1371600"/>
            <a:ext cx="2914800" cy="6720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9525" cap="flat" cmpd="sng">
            <a:solidFill>
              <a:srgbClr val="D7E2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9050" dir="54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0" name="Google Shape;860;g3ebb87fa4af_0_274"/>
          <p:cNvSpPr/>
          <p:nvPr/>
        </p:nvSpPr>
        <p:spPr>
          <a:xfrm>
            <a:off x="5966460" y="1549908"/>
            <a:ext cx="315600" cy="3156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1" name="Google Shape;861;g3ebb87fa4af_0_274"/>
          <p:cNvSpPr/>
          <p:nvPr/>
        </p:nvSpPr>
        <p:spPr>
          <a:xfrm>
            <a:off x="5966460" y="1549908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i="0" u="none" strike="noStrike" cap="non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2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2" name="Google Shape;862;g3ebb87fa4af_0_274"/>
          <p:cNvSpPr/>
          <p:nvPr/>
        </p:nvSpPr>
        <p:spPr>
          <a:xfrm>
            <a:off x="6377940" y="1440180"/>
            <a:ext cx="2242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lang="en-GB" sz="1300">
                <a:solidFill>
                  <a:srgbClr val="1B3A5C"/>
                </a:solidFill>
                <a:latin typeface="Roboto Medium"/>
                <a:ea typeface="Roboto Medium"/>
                <a:cs typeface="Roboto Medium"/>
                <a:sym typeface="Roboto Medium"/>
              </a:rPr>
              <a:t>G</a:t>
            </a:r>
            <a:r>
              <a:rPr lang="en-GB" sz="1300" i="0" u="none" strike="noStrike" cap="none">
                <a:solidFill>
                  <a:srgbClr val="1B3A5C"/>
                </a:solidFill>
                <a:latin typeface="Roboto Medium"/>
                <a:ea typeface="Roboto Medium"/>
                <a:cs typeface="Roboto Medium"/>
                <a:sym typeface="Roboto Medium"/>
              </a:rPr>
              <a:t>ene scoring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A7B88"/>
              </a:buClr>
              <a:buSzPts val="700"/>
              <a:buFont typeface="Calibri"/>
              <a:buNone/>
            </a:pPr>
            <a:r>
              <a:rPr lang="en-GB" sz="1000" i="0" u="none" strike="noStrike" cap="none">
                <a:solidFill>
                  <a:srgbClr val="6A7B88"/>
                </a:solidFill>
                <a:latin typeface="Roboto Medium"/>
                <a:ea typeface="Roboto Medium"/>
                <a:cs typeface="Roboto Medium"/>
                <a:sym typeface="Roboto Medium"/>
              </a:rPr>
              <a:t>weight every gene by the enrichment (NES) of the pathways it belongs to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3" name="Google Shape;863;g3ebb87fa4af_0_274"/>
          <p:cNvSpPr/>
          <p:nvPr/>
        </p:nvSpPr>
        <p:spPr>
          <a:xfrm>
            <a:off x="6107049" y="2047113"/>
            <a:ext cx="41100" cy="109800"/>
          </a:xfrm>
          <a:prstGeom prst="rect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4" name="Google Shape;864;g3ebb87fa4af_0_274"/>
          <p:cNvSpPr/>
          <p:nvPr/>
        </p:nvSpPr>
        <p:spPr>
          <a:xfrm>
            <a:off x="5829300" y="2160270"/>
            <a:ext cx="2914800" cy="6720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9525" cap="flat" cmpd="sng">
            <a:solidFill>
              <a:srgbClr val="D7E2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9050" dir="54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5" name="Google Shape;865;g3ebb87fa4af_0_274"/>
          <p:cNvSpPr/>
          <p:nvPr/>
        </p:nvSpPr>
        <p:spPr>
          <a:xfrm>
            <a:off x="5966460" y="2338578"/>
            <a:ext cx="315600" cy="3156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6" name="Google Shape;866;g3ebb87fa4af_0_274"/>
          <p:cNvSpPr/>
          <p:nvPr/>
        </p:nvSpPr>
        <p:spPr>
          <a:xfrm>
            <a:off x="5966460" y="2338578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i="0" u="none" strike="noStrike" cap="non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2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7" name="Google Shape;867;g3ebb87fa4af_0_274"/>
          <p:cNvSpPr/>
          <p:nvPr/>
        </p:nvSpPr>
        <p:spPr>
          <a:xfrm>
            <a:off x="6377940" y="2228850"/>
            <a:ext cx="2242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lang="en-GB" sz="1300">
                <a:solidFill>
                  <a:srgbClr val="1B3A5C"/>
                </a:solidFill>
                <a:latin typeface="Roboto Medium"/>
                <a:ea typeface="Roboto Medium"/>
                <a:cs typeface="Roboto Medium"/>
                <a:sym typeface="Roboto Medium"/>
              </a:rPr>
              <a:t>F</a:t>
            </a:r>
            <a:r>
              <a:rPr lang="en-GB" sz="1300" i="0" u="none" strike="noStrike" cap="none">
                <a:solidFill>
                  <a:srgbClr val="1B3A5C"/>
                </a:solidFill>
                <a:latin typeface="Roboto Medium"/>
                <a:ea typeface="Roboto Medium"/>
                <a:cs typeface="Roboto Medium"/>
                <a:sym typeface="Roboto Medium"/>
              </a:rPr>
              <a:t>requency adjustment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A7B88"/>
              </a:buClr>
              <a:buSzPts val="700"/>
              <a:buFont typeface="Calibri"/>
              <a:buNone/>
            </a:pPr>
            <a:r>
              <a:rPr lang="en-GB" sz="1000" i="0" u="none" strike="noStrike" cap="none">
                <a:solidFill>
                  <a:srgbClr val="6A7B88"/>
                </a:solidFill>
                <a:latin typeface="Roboto Medium"/>
                <a:ea typeface="Roboto Medium"/>
                <a:cs typeface="Roboto Medium"/>
                <a:sym typeface="Roboto Medium"/>
              </a:rPr>
              <a:t>down-weight genes that appear across many pathways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8" name="Google Shape;868;g3ebb87fa4af_0_274"/>
          <p:cNvSpPr/>
          <p:nvPr/>
        </p:nvSpPr>
        <p:spPr>
          <a:xfrm>
            <a:off x="6107049" y="2835783"/>
            <a:ext cx="41100" cy="109800"/>
          </a:xfrm>
          <a:prstGeom prst="rect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69" name="Google Shape;869;g3ebb87fa4af_0_274"/>
          <p:cNvSpPr/>
          <p:nvPr/>
        </p:nvSpPr>
        <p:spPr>
          <a:xfrm>
            <a:off x="5829300" y="2948940"/>
            <a:ext cx="2914800" cy="6720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9525" cap="flat" cmpd="sng">
            <a:solidFill>
              <a:srgbClr val="D7E2E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9050" dir="54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0" name="Google Shape;870;g3ebb87fa4af_0_274"/>
          <p:cNvSpPr/>
          <p:nvPr/>
        </p:nvSpPr>
        <p:spPr>
          <a:xfrm>
            <a:off x="5966460" y="3127248"/>
            <a:ext cx="315600" cy="3156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1" name="Google Shape;871;g3ebb87fa4af_0_274"/>
          <p:cNvSpPr/>
          <p:nvPr/>
        </p:nvSpPr>
        <p:spPr>
          <a:xfrm>
            <a:off x="5966460" y="3127248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i="0" u="none" strike="noStrike" cap="non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2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2" name="Google Shape;872;g3ebb87fa4af_0_274"/>
          <p:cNvSpPr/>
          <p:nvPr/>
        </p:nvSpPr>
        <p:spPr>
          <a:xfrm>
            <a:off x="6377940" y="3017520"/>
            <a:ext cx="2242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00"/>
              <a:buFont typeface="Calibri"/>
              <a:buNone/>
            </a:pPr>
            <a:r>
              <a:rPr lang="en-GB" sz="1300" i="0" u="none" strike="noStrike" cap="none">
                <a:solidFill>
                  <a:srgbClr val="1B3A5C"/>
                </a:solidFill>
                <a:latin typeface="Roboto Medium"/>
                <a:ea typeface="Roboto Medium"/>
                <a:cs typeface="Roboto Medium"/>
                <a:sym typeface="Roboto Medium"/>
              </a:rPr>
              <a:t>Normalis</a:t>
            </a:r>
            <a:r>
              <a:rPr lang="en-GB" sz="1300">
                <a:solidFill>
                  <a:srgbClr val="1B3A5C"/>
                </a:solidFill>
                <a:latin typeface="Roboto Medium"/>
                <a:ea typeface="Roboto Medium"/>
                <a:cs typeface="Roboto Medium"/>
                <a:sym typeface="Roboto Medium"/>
              </a:rPr>
              <a:t>ation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A7B88"/>
              </a:buClr>
              <a:buSzPts val="700"/>
              <a:buFont typeface="Calibri"/>
              <a:buNone/>
            </a:pPr>
            <a:r>
              <a:rPr lang="en-GB" sz="1000" i="0" u="none" strike="noStrike" cap="none">
                <a:solidFill>
                  <a:srgbClr val="6A7B88"/>
                </a:solidFill>
                <a:latin typeface="Roboto Medium"/>
                <a:ea typeface="Roboto Medium"/>
                <a:cs typeface="Roboto Medium"/>
                <a:sym typeface="Roboto Medium"/>
              </a:rPr>
              <a:t>scale scores to a comparable range across diseases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3" name="Google Shape;873;g3ebb87fa4af_0_274"/>
          <p:cNvSpPr/>
          <p:nvPr/>
        </p:nvSpPr>
        <p:spPr>
          <a:xfrm>
            <a:off x="6107049" y="3624453"/>
            <a:ext cx="41100" cy="109800"/>
          </a:xfrm>
          <a:prstGeom prst="rect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4" name="Google Shape;874;g3ebb87fa4af_0_274"/>
          <p:cNvSpPr/>
          <p:nvPr/>
        </p:nvSpPr>
        <p:spPr>
          <a:xfrm>
            <a:off x="5829300" y="3737610"/>
            <a:ext cx="2914800" cy="672000"/>
          </a:xfrm>
          <a:prstGeom prst="roundRect">
            <a:avLst>
              <a:gd name="adj" fmla="val 5102"/>
            </a:avLst>
          </a:prstGeom>
          <a:solidFill>
            <a:srgbClr val="1B3A5C"/>
          </a:solidFill>
          <a:ln w="9525" cap="flat" cmpd="sng">
            <a:solidFill>
              <a:srgbClr val="1B3A5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9050" dir="5400000" algn="bl" rotWithShape="0">
              <a:srgbClr val="000000">
                <a:alpha val="1412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5" name="Google Shape;875;g3ebb87fa4af_0_274"/>
          <p:cNvSpPr/>
          <p:nvPr/>
        </p:nvSpPr>
        <p:spPr>
          <a:xfrm>
            <a:off x="5966460" y="3915918"/>
            <a:ext cx="315600" cy="315600"/>
          </a:xfrm>
          <a:prstGeom prst="ellipse">
            <a:avLst/>
          </a:prstGeom>
          <a:solidFill>
            <a:srgbClr val="3489CA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6" name="Google Shape;876;g3ebb87fa4af_0_274"/>
          <p:cNvSpPr/>
          <p:nvPr/>
        </p:nvSpPr>
        <p:spPr>
          <a:xfrm>
            <a:off x="5966460" y="3915918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GB" sz="1200" i="0" u="none" strike="noStrike" cap="non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sz="12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7" name="Google Shape;877;g3ebb87fa4af_0_274"/>
          <p:cNvSpPr/>
          <p:nvPr/>
        </p:nvSpPr>
        <p:spPr>
          <a:xfrm>
            <a:off x="6377940" y="3806190"/>
            <a:ext cx="2242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GB" sz="1300" i="0" u="none" strike="noStrike" cap="non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Add as L2G features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FE0EC"/>
              </a:buClr>
              <a:buSzPts val="700"/>
              <a:buFont typeface="Calibri"/>
              <a:buNone/>
            </a:pPr>
            <a:r>
              <a:rPr lang="en-GB" sz="1000" i="0" u="none" strike="noStrike" cap="none">
                <a:solidFill>
                  <a:srgbClr val="CFE0EC"/>
                </a:solidFill>
                <a:latin typeface="Roboto Medium"/>
                <a:ea typeface="Roboto Medium"/>
                <a:cs typeface="Roboto Medium"/>
                <a:sym typeface="Roboto Medium"/>
              </a:rPr>
              <a:t>feed per-gene pathway scores into the Locus-to-Gene model</a:t>
            </a:r>
            <a:endParaRPr sz="1300" i="0" u="none" strike="noStrike" cap="non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78" name="Google Shape;878;g3ebb87fa4af_0_274"/>
          <p:cNvSpPr/>
          <p:nvPr/>
        </p:nvSpPr>
        <p:spPr>
          <a:xfrm>
            <a:off x="322648" y="1159800"/>
            <a:ext cx="5335200" cy="3519600"/>
          </a:xfrm>
          <a:prstGeom prst="roundRect">
            <a:avLst>
              <a:gd name="adj" fmla="val 1667"/>
            </a:avLst>
          </a:prstGeom>
          <a:solidFill>
            <a:srgbClr val="13314C"/>
          </a:solidFill>
          <a:ln>
            <a:noFill/>
          </a:ln>
          <a:effectLst>
            <a:outerShdw blurRad="60472" dist="18142" dir="54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g3ebb87fa4af_0_274"/>
          <p:cNvSpPr/>
          <p:nvPr/>
        </p:nvSpPr>
        <p:spPr>
          <a:xfrm>
            <a:off x="407490" y="1259515"/>
            <a:ext cx="43500" cy="3320100"/>
          </a:xfrm>
          <a:prstGeom prst="roundRect">
            <a:avLst>
              <a:gd name="adj" fmla="val 20000"/>
            </a:avLst>
          </a:prstGeom>
          <a:solidFill>
            <a:srgbClr val="D7DCD8"/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g3ebb87fa4af_0_274"/>
          <p:cNvSpPr/>
          <p:nvPr/>
        </p:nvSpPr>
        <p:spPr>
          <a:xfrm>
            <a:off x="5527786" y="1257979"/>
            <a:ext cx="43500" cy="3268800"/>
          </a:xfrm>
          <a:prstGeom prst="roundRect">
            <a:avLst>
              <a:gd name="adj" fmla="val 20000"/>
            </a:avLst>
          </a:prstGeom>
          <a:solidFill>
            <a:srgbClr val="D7DCD8"/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g3ebb87fa4af_0_274"/>
          <p:cNvSpPr/>
          <p:nvPr/>
        </p:nvSpPr>
        <p:spPr>
          <a:xfrm>
            <a:off x="390074" y="1277112"/>
            <a:ext cx="43500" cy="3284400"/>
          </a:xfrm>
          <a:prstGeom prst="roundRect">
            <a:avLst>
              <a:gd name="adj" fmla="val 20000"/>
            </a:avLst>
          </a:prstGeom>
          <a:solidFill>
            <a:srgbClr val="D7DCD8"/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g3ebb87fa4af_0_274"/>
          <p:cNvSpPr/>
          <p:nvPr/>
        </p:nvSpPr>
        <p:spPr>
          <a:xfrm>
            <a:off x="5545202" y="1275304"/>
            <a:ext cx="43500" cy="3233700"/>
          </a:xfrm>
          <a:prstGeom prst="roundRect">
            <a:avLst>
              <a:gd name="adj" fmla="val 20000"/>
            </a:avLst>
          </a:prstGeom>
          <a:solidFill>
            <a:srgbClr val="D7DCD8"/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g3ebb87fa4af_0_274"/>
          <p:cNvSpPr/>
          <p:nvPr/>
        </p:nvSpPr>
        <p:spPr>
          <a:xfrm>
            <a:off x="424906" y="1241918"/>
            <a:ext cx="2503500" cy="3355500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6050" cap="flat" cmpd="sng">
            <a:solidFill>
              <a:srgbClr val="E2E2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g3ebb87fa4af_0_274"/>
          <p:cNvSpPr/>
          <p:nvPr/>
        </p:nvSpPr>
        <p:spPr>
          <a:xfrm>
            <a:off x="3036493" y="1241918"/>
            <a:ext cx="2503500" cy="3355500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6050" cap="flat" cmpd="sng">
            <a:solidFill>
              <a:srgbClr val="E2E2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g3ebb87fa4af_0_274"/>
          <p:cNvSpPr/>
          <p:nvPr/>
        </p:nvSpPr>
        <p:spPr>
          <a:xfrm>
            <a:off x="2984183" y="1241918"/>
            <a:ext cx="10500" cy="3355500"/>
          </a:xfrm>
          <a:prstGeom prst="rect">
            <a:avLst/>
          </a:prstGeom>
          <a:solidFill>
            <a:srgbClr val="0C2438"/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g3ebb87fa4af_0_274"/>
          <p:cNvSpPr/>
          <p:nvPr/>
        </p:nvSpPr>
        <p:spPr>
          <a:xfrm>
            <a:off x="2776062" y="1253650"/>
            <a:ext cx="152400" cy="3331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g3ebb87fa4af_0_274"/>
          <p:cNvSpPr/>
          <p:nvPr/>
        </p:nvSpPr>
        <p:spPr>
          <a:xfrm>
            <a:off x="3050364" y="1253650"/>
            <a:ext cx="152400" cy="3331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spcFirstLastPara="1" wrap="square" lIns="43550" tIns="43550" rIns="43550" bIns="4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g3ebb87fa4af_0_274"/>
          <p:cNvSpPr/>
          <p:nvPr/>
        </p:nvSpPr>
        <p:spPr>
          <a:xfrm>
            <a:off x="424906" y="4397612"/>
            <a:ext cx="25035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893"/>
              </a:buClr>
              <a:buSzPts val="508"/>
              <a:buFont typeface="Cambria"/>
              <a:buNone/>
            </a:pPr>
            <a:r>
              <a:rPr lang="en-GB" sz="508" b="0" i="1" u="none" strike="noStrike" cap="none">
                <a:solidFill>
                  <a:srgbClr val="7A8893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5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ebb87fa4af_0_274"/>
          <p:cNvSpPr/>
          <p:nvPr/>
        </p:nvSpPr>
        <p:spPr>
          <a:xfrm>
            <a:off x="3050364" y="4397612"/>
            <a:ext cx="25035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893"/>
              </a:buClr>
              <a:buSzPts val="508"/>
              <a:buFont typeface="Cambria"/>
              <a:buNone/>
            </a:pPr>
            <a:r>
              <a:rPr lang="en-GB" sz="508" b="0" i="1" u="none" strike="noStrike" cap="none">
                <a:solidFill>
                  <a:srgbClr val="7A8893"/>
                </a:solidFill>
                <a:latin typeface="Cambria"/>
                <a:ea typeface="Cambria"/>
                <a:cs typeface="Cambria"/>
                <a:sym typeface="Cambria"/>
              </a:rPr>
              <a:t>ii</a:t>
            </a:r>
            <a:endParaRPr sz="5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0" name="Google Shape;890;g3ebb87fa4af_0_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5528" y="4135059"/>
            <a:ext cx="1065268" cy="27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g3ebb87fa4af_0_2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13" y="3848500"/>
            <a:ext cx="1203373" cy="274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2" name="Google Shape;892;g3ebb87fa4af_0_274"/>
          <p:cNvGrpSpPr/>
          <p:nvPr/>
        </p:nvGrpSpPr>
        <p:grpSpPr>
          <a:xfrm>
            <a:off x="4523356" y="3915936"/>
            <a:ext cx="1123390" cy="457186"/>
            <a:chOff x="1720912" y="3903124"/>
            <a:chExt cx="991168" cy="403376"/>
          </a:xfrm>
        </p:grpSpPr>
        <p:pic>
          <p:nvPicPr>
            <p:cNvPr id="893" name="Google Shape;893;g3ebb87fa4af_0_2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20912" y="3903124"/>
              <a:ext cx="797739" cy="243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g3ebb87fa4af_0_274"/>
            <p:cNvSpPr/>
            <p:nvPr/>
          </p:nvSpPr>
          <p:spPr>
            <a:xfrm>
              <a:off x="1721480" y="4142100"/>
              <a:ext cx="990600" cy="16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A3742"/>
                </a:buClr>
                <a:buSzPts val="504"/>
                <a:buFont typeface="Calibri"/>
                <a:buNone/>
              </a:pPr>
              <a:r>
                <a:rPr lang="en-GB" sz="1070">
                  <a:solidFill>
                    <a:srgbClr val="2A3742"/>
                  </a:solidFill>
                  <a:latin typeface="Calibri"/>
                  <a:ea typeface="Calibri"/>
                  <a:cs typeface="Calibri"/>
                  <a:sym typeface="Calibri"/>
                </a:rPr>
                <a:t>Hallmark</a:t>
              </a:r>
              <a:endParaRPr sz="107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5" name="Google Shape;895;g3ebb87fa4af_0_274"/>
          <p:cNvSpPr/>
          <p:nvPr/>
        </p:nvSpPr>
        <p:spPr>
          <a:xfrm>
            <a:off x="546125" y="3737600"/>
            <a:ext cx="2134800" cy="93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g3ebb87fa4af_0_274"/>
          <p:cNvSpPr/>
          <p:nvPr/>
        </p:nvSpPr>
        <p:spPr>
          <a:xfrm>
            <a:off x="3297875" y="3737600"/>
            <a:ext cx="2134800" cy="93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97" name="Google Shape;897;g3ebb87fa4af_0_274"/>
          <p:cNvGraphicFramePr/>
          <p:nvPr/>
        </p:nvGraphicFramePr>
        <p:xfrm>
          <a:off x="508650" y="1796354"/>
          <a:ext cx="2209725" cy="1874560"/>
        </p:xfrm>
        <a:graphic>
          <a:graphicData uri="http://schemas.openxmlformats.org/drawingml/2006/table">
            <a:tbl>
              <a:tblPr>
                <a:noFill/>
                <a:tableStyleId>{9B05005C-9B28-4404-9B5B-EB97E9EB27D1}</a:tableStyleId>
              </a:tblPr>
              <a:tblGrid>
                <a:gridCol w="9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athway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ource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NES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FDR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Negative Regulation of Cellular Process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 BP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3.89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B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Regulation of Cell Migration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 BP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3.62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CD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Immune System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3.58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CD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Expression and translocation of olfactory receptors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3.54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CD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Olfactory Signaling Pathway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3.50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CD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Signaling by Receptor Tyrosine Kinases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3.40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BCD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Positive Regulation of Amyloid Fibril Formation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 BP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3.26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1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</a:t>
                      </a:r>
                      <a:endParaRPr sz="600" b="1">
                        <a:solidFill>
                          <a:srgbClr val="1B3A5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98" name="Google Shape;898;g3ebb87fa4af_0_274"/>
          <p:cNvSpPr txBox="1"/>
          <p:nvPr/>
        </p:nvSpPr>
        <p:spPr>
          <a:xfrm>
            <a:off x="424900" y="1259525"/>
            <a:ext cx="23511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Alzheimer's disease</a:t>
            </a:r>
            <a:r>
              <a:rPr lang="en-GB" sz="1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7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1,700 genes (1,480 in library) · 377 hits at FDR &lt; 0.05</a:t>
            </a:r>
            <a:endParaRPr sz="10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899" name="Google Shape;899;g3ebb87fa4af_0_274"/>
          <p:cNvGraphicFramePr/>
          <p:nvPr/>
        </p:nvGraphicFramePr>
        <p:xfrm>
          <a:off x="3271361" y="1788049"/>
          <a:ext cx="2209725" cy="1904925"/>
        </p:xfrm>
        <a:graphic>
          <a:graphicData uri="http://schemas.openxmlformats.org/drawingml/2006/table">
            <a:tbl>
              <a:tblPr>
                <a:noFill/>
                <a:tableStyleId>{9B05005C-9B28-4404-9B5B-EB97E9EB27D1}</a:tableStyleId>
              </a:tblPr>
              <a:tblGrid>
                <a:gridCol w="93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athway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ource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NES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8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FDR</a:t>
                      </a:r>
                      <a:endParaRPr sz="8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Expression and translocation of olfactory receptors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5.83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50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Olfactory Signaling Pathway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5.45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5C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Metabolism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4.05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A0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Transport of small molecules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4.00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A0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Positive Regulation of DNA-templated Transcription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 BP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3.94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B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Lipid Metabolic Process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 BP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3.92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B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Metabolism of lipids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7150" marR="57150" marT="19050" marB="1905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742"/>
                        </a:buClr>
                        <a:buSzPts val="700"/>
                        <a:buFont typeface="Calibri"/>
                        <a:buNone/>
                      </a:pPr>
                      <a:r>
                        <a:rPr lang="en-GB" sz="700" u="none" strike="noStrike" cap="none">
                          <a:solidFill>
                            <a:srgbClr val="2A37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Reactome</a:t>
                      </a:r>
                      <a:endParaRPr sz="7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402A"/>
                        </a:buClr>
                        <a:buSzPts val="8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0402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3.85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B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5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600" b="1" u="none" strike="noStrike" cap="none">
                          <a:solidFill>
                            <a:srgbClr val="1B3A5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***</a:t>
                      </a:r>
                      <a:endParaRPr sz="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600" marR="68600" marT="34300" marB="34300" anchor="ctr">
                    <a:lnL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0" name="Google Shape;900;g3ebb87fa4af_0_274"/>
          <p:cNvSpPr txBox="1"/>
          <p:nvPr/>
        </p:nvSpPr>
        <p:spPr>
          <a:xfrm>
            <a:off x="3188759" y="1275488"/>
            <a:ext cx="23511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LDL cholesterol measurement</a:t>
            </a:r>
            <a:endParaRPr sz="10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3,327 genes (2,912 in library)· 654 hits at FDR &lt; 0.05</a:t>
            </a:r>
            <a:endParaRPr sz="10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901" name="Google Shape;901;g3ebb87fa4af_0_274"/>
          <p:cNvGrpSpPr/>
          <p:nvPr/>
        </p:nvGrpSpPr>
        <p:grpSpPr>
          <a:xfrm>
            <a:off x="546125" y="3826400"/>
            <a:ext cx="897600" cy="583200"/>
            <a:chOff x="546125" y="3826400"/>
            <a:chExt cx="897600" cy="583200"/>
          </a:xfrm>
        </p:grpSpPr>
        <p:sp>
          <p:nvSpPr>
            <p:cNvPr id="902" name="Google Shape;902;g3ebb87fa4af_0_274"/>
            <p:cNvSpPr/>
            <p:nvPr/>
          </p:nvSpPr>
          <p:spPr>
            <a:xfrm>
              <a:off x="546125" y="3826400"/>
              <a:ext cx="897600" cy="583200"/>
            </a:xfrm>
            <a:prstGeom prst="roundRect">
              <a:avLst>
                <a:gd name="adj" fmla="val 5102"/>
              </a:avLst>
            </a:prstGeom>
            <a:solidFill>
              <a:srgbClr val="F4F8FB"/>
            </a:solidFill>
            <a:ln w="10625" cap="flat" cmpd="sng">
              <a:solidFill>
                <a:srgbClr val="D7E2EA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4454" dist="21273" dir="5400000" algn="bl" rotWithShape="0">
                <a:srgbClr val="000000">
                  <a:alpha val="12160"/>
                </a:srgbClr>
              </a:outerShdw>
            </a:effectLst>
          </p:spPr>
          <p:txBody>
            <a:bodyPr spcFirstLastPara="1" wrap="square" lIns="76575" tIns="76575" rIns="76575" bIns="76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3" name="Google Shape;903;g3ebb87fa4af_0_274"/>
            <p:cNvSpPr/>
            <p:nvPr/>
          </p:nvSpPr>
          <p:spPr>
            <a:xfrm>
              <a:off x="638073" y="3873750"/>
              <a:ext cx="713700" cy="27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5C"/>
                </a:buClr>
                <a:buSzPts val="2178"/>
                <a:buFont typeface="Cambria"/>
                <a:buNone/>
              </a:pPr>
              <a:r>
                <a:rPr lang="en-GB" sz="20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3,766</a:t>
              </a:r>
              <a:endParaRPr sz="2978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g3ebb87fa4af_0_274"/>
            <p:cNvSpPr/>
            <p:nvPr/>
          </p:nvSpPr>
          <p:spPr>
            <a:xfrm>
              <a:off x="582875" y="4158485"/>
              <a:ext cx="8241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243746"/>
                </a:buClr>
                <a:buSzPts val="838"/>
                <a:buFont typeface="Calibri"/>
                <a:buNone/>
              </a:pPr>
              <a:r>
                <a:rPr lang="en-GB" sz="7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diseases &amp; measurements </a:t>
              </a:r>
              <a:endParaRPr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5" name="Google Shape;905;g3ebb87fa4af_0_274"/>
          <p:cNvSpPr/>
          <p:nvPr/>
        </p:nvSpPr>
        <p:spPr>
          <a:xfrm>
            <a:off x="1474525" y="3831650"/>
            <a:ext cx="1203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5000" marR="0" lvl="0" indent="-92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en-GB" sz="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&gt;25</a:t>
            </a: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genes with 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-GB" sz="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genetic evidence</a:t>
            </a:r>
            <a:endParaRPr sz="7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5000" marR="0" lvl="0" indent="-920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en-GB" sz="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blitzGSEA</a:t>
            </a: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protocol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5000" marR="0" lvl="0" indent="-920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●"/>
            </a:pP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17,206-gene </a:t>
            </a:r>
            <a:r>
              <a:rPr lang="en-GB" sz="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r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A4565"/>
      </a:dk1>
      <a:lt1>
        <a:srgbClr val="EFEFE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3489C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Microsoft Macintosh PowerPoint</Application>
  <PresentationFormat>On-screen Show (16:9)</PresentationFormat>
  <Paragraphs>208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Roboto</vt:lpstr>
      <vt:lpstr>Roboto Medium</vt:lpstr>
      <vt:lpstr>Trebuchet MS</vt:lpstr>
      <vt:lpstr>Inter SemiBold</vt:lpstr>
      <vt:lpstr>Cambria</vt:lpstr>
      <vt:lpstr>Calibri</vt:lpstr>
      <vt:lpstr>Oxygen</vt:lpstr>
      <vt:lpstr>Simple Light</vt:lpstr>
      <vt:lpstr>Connecting pathway and phenotype</vt:lpstr>
      <vt:lpstr>Target prioritisation for ?NeuroFlux  validation screens  </vt:lpstr>
      <vt:lpstr>18/20 genes were significant in secondary screens</vt:lpstr>
      <vt:lpstr>18/20 genes were significant in secondary screens  </vt:lpstr>
      <vt:lpstr>..and 13/20 showed disease-genotype concordance  </vt:lpstr>
      <vt:lpstr>Genetically-inferred disease pathways  </vt:lpstr>
      <vt:lpstr>Alzheimer's disease-inferred pathways</vt:lpstr>
      <vt:lpstr>Alzheimer's disease-inferred pathways</vt:lpstr>
      <vt:lpstr>Genetically-inferred disease pathways catalogue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Polina Rusina</cp:lastModifiedBy>
  <cp:revision>1</cp:revision>
  <dcterms:modified xsi:type="dcterms:W3CDTF">2026-09-04T12:02:58Z</dcterms:modified>
</cp:coreProperties>
</file>